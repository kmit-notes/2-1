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02"/>
  </p:notesMasterIdLst>
  <p:sldIdLst>
    <p:sldId id="256" r:id="rId2"/>
    <p:sldId id="345" r:id="rId3"/>
    <p:sldId id="311" r:id="rId4"/>
    <p:sldId id="312" r:id="rId5"/>
    <p:sldId id="411" r:id="rId6"/>
    <p:sldId id="412" r:id="rId7"/>
    <p:sldId id="313" r:id="rId8"/>
    <p:sldId id="346" r:id="rId9"/>
    <p:sldId id="348" r:id="rId10"/>
    <p:sldId id="349" r:id="rId11"/>
    <p:sldId id="347" r:id="rId12"/>
    <p:sldId id="315" r:id="rId13"/>
    <p:sldId id="314" r:id="rId14"/>
    <p:sldId id="321" r:id="rId15"/>
    <p:sldId id="322" r:id="rId16"/>
    <p:sldId id="317" r:id="rId17"/>
    <p:sldId id="319" r:id="rId18"/>
    <p:sldId id="316" r:id="rId19"/>
    <p:sldId id="318" r:id="rId20"/>
    <p:sldId id="320" r:id="rId21"/>
    <p:sldId id="323" r:id="rId22"/>
    <p:sldId id="352" r:id="rId23"/>
    <p:sldId id="353" r:id="rId24"/>
    <p:sldId id="354" r:id="rId25"/>
    <p:sldId id="355" r:id="rId26"/>
    <p:sldId id="356" r:id="rId27"/>
    <p:sldId id="357" r:id="rId28"/>
    <p:sldId id="350" r:id="rId29"/>
    <p:sldId id="325" r:id="rId30"/>
    <p:sldId id="332" r:id="rId31"/>
    <p:sldId id="326" r:id="rId32"/>
    <p:sldId id="358" r:id="rId33"/>
    <p:sldId id="359" r:id="rId34"/>
    <p:sldId id="330" r:id="rId35"/>
    <p:sldId id="327" r:id="rId36"/>
    <p:sldId id="333" r:id="rId37"/>
    <p:sldId id="328" r:id="rId38"/>
    <p:sldId id="329" r:id="rId39"/>
    <p:sldId id="334" r:id="rId40"/>
    <p:sldId id="331" r:id="rId41"/>
    <p:sldId id="351" r:id="rId42"/>
    <p:sldId id="360" r:id="rId43"/>
    <p:sldId id="361" r:id="rId44"/>
    <p:sldId id="362" r:id="rId45"/>
    <p:sldId id="363" r:id="rId46"/>
    <p:sldId id="337" r:id="rId47"/>
    <p:sldId id="338" r:id="rId48"/>
    <p:sldId id="339" r:id="rId49"/>
    <p:sldId id="340" r:id="rId50"/>
    <p:sldId id="341" r:id="rId51"/>
    <p:sldId id="342" r:id="rId52"/>
    <p:sldId id="343" r:id="rId53"/>
    <p:sldId id="344" r:id="rId54"/>
    <p:sldId id="364" r:id="rId55"/>
    <p:sldId id="365" r:id="rId56"/>
    <p:sldId id="366" r:id="rId57"/>
    <p:sldId id="378" r:id="rId58"/>
    <p:sldId id="367" r:id="rId59"/>
    <p:sldId id="377" r:id="rId60"/>
    <p:sldId id="368" r:id="rId61"/>
    <p:sldId id="379" r:id="rId62"/>
    <p:sldId id="369" r:id="rId63"/>
    <p:sldId id="370" r:id="rId64"/>
    <p:sldId id="371" r:id="rId65"/>
    <p:sldId id="372" r:id="rId66"/>
    <p:sldId id="373" r:id="rId67"/>
    <p:sldId id="374" r:id="rId68"/>
    <p:sldId id="375" r:id="rId69"/>
    <p:sldId id="376" r:id="rId70"/>
    <p:sldId id="380" r:id="rId71"/>
    <p:sldId id="381" r:id="rId72"/>
    <p:sldId id="382" r:id="rId73"/>
    <p:sldId id="383" r:id="rId74"/>
    <p:sldId id="384" r:id="rId75"/>
    <p:sldId id="385" r:id="rId76"/>
    <p:sldId id="394" r:id="rId77"/>
    <p:sldId id="395" r:id="rId78"/>
    <p:sldId id="386" r:id="rId79"/>
    <p:sldId id="387" r:id="rId80"/>
    <p:sldId id="388" r:id="rId81"/>
    <p:sldId id="389" r:id="rId82"/>
    <p:sldId id="390" r:id="rId83"/>
    <p:sldId id="391" r:id="rId84"/>
    <p:sldId id="392" r:id="rId85"/>
    <p:sldId id="393" r:id="rId86"/>
    <p:sldId id="396" r:id="rId87"/>
    <p:sldId id="397" r:id="rId88"/>
    <p:sldId id="398" r:id="rId89"/>
    <p:sldId id="401" r:id="rId90"/>
    <p:sldId id="399" r:id="rId91"/>
    <p:sldId id="400" r:id="rId92"/>
    <p:sldId id="402" r:id="rId93"/>
    <p:sldId id="403" r:id="rId94"/>
    <p:sldId id="404" r:id="rId95"/>
    <p:sldId id="405" r:id="rId96"/>
    <p:sldId id="406" r:id="rId97"/>
    <p:sldId id="407" r:id="rId98"/>
    <p:sldId id="408" r:id="rId99"/>
    <p:sldId id="409" r:id="rId100"/>
    <p:sldId id="410" r:id="rId101"/>
  </p:sldIdLst>
  <p:sldSz cx="12192000" cy="6858000"/>
  <p:notesSz cx="6735763" cy="9866313"/>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103" roundtripDataSignature="AMtx7mjXvUcc+rqABMVAkss4MEy6dDmX8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521" autoAdjust="0"/>
  </p:normalViewPr>
  <p:slideViewPr>
    <p:cSldViewPr snapToGrid="0">
      <p:cViewPr varScale="1">
        <p:scale>
          <a:sx n="73" d="100"/>
          <a:sy n="73" d="100"/>
        </p:scale>
        <p:origin x="1042" y="5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6" Type="http://schemas.openxmlformats.org/officeDocument/2006/relationships/slide" Target="slides/slide15.xml"/><Relationship Id="rId107" Type="http://schemas.openxmlformats.org/officeDocument/2006/relationships/tableStyles" Target="tableStyles.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customschemas.google.com/relationships/presentationmetadata" Target="meta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22825" y="739950"/>
            <a:ext cx="4490700" cy="36998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3575" y="4686475"/>
            <a:ext cx="5388600" cy="4439825"/>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1:notes"/>
          <p:cNvSpPr txBox="1">
            <a:spLocks noGrp="1"/>
          </p:cNvSpPr>
          <p:nvPr>
            <p:ph type="body" idx="1"/>
          </p:nvPr>
        </p:nvSpPr>
        <p:spPr>
          <a:xfrm>
            <a:off x="673575" y="4686475"/>
            <a:ext cx="5388600" cy="4439825"/>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82" name="Google Shape;82;p1: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5"/>
        <p:cNvGrpSpPr/>
        <p:nvPr/>
      </p:nvGrpSpPr>
      <p:grpSpPr>
        <a:xfrm>
          <a:off x="0" y="0"/>
          <a:ext cx="0" cy="0"/>
          <a:chOff x="0" y="0"/>
          <a:chExt cx="0" cy="0"/>
        </a:xfrm>
      </p:grpSpPr>
      <p:sp>
        <p:nvSpPr>
          <p:cNvPr id="166" name="Google Shape;166;p8:notes"/>
          <p:cNvSpPr txBox="1">
            <a:spLocks noGrp="1"/>
          </p:cNvSpPr>
          <p:nvPr>
            <p:ph type="body" idx="1"/>
          </p:nvPr>
        </p:nvSpPr>
        <p:spPr>
          <a:xfrm>
            <a:off x="673577" y="4686499"/>
            <a:ext cx="5388610" cy="4439841"/>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7" name="Google Shape;167;p8:notes"/>
          <p:cNvSpPr>
            <a:spLocks noGrp="1" noRot="1" noChangeAspect="1"/>
          </p:cNvSpPr>
          <p:nvPr>
            <p:ph type="sldImg" idx="2"/>
          </p:nvPr>
        </p:nvSpPr>
        <p:spPr>
          <a:xfrm>
            <a:off x="79375" y="739775"/>
            <a:ext cx="6577013" cy="3700463"/>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307810099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18003761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79375" y="739775"/>
            <a:ext cx="6577013" cy="3700463"/>
          </a:xfrm>
        </p:spPr>
      </p:sp>
      <p:sp>
        <p:nvSpPr>
          <p:cNvPr id="3" name="Notes Placeholder 2"/>
          <p:cNvSpPr>
            <a:spLocks noGrp="1"/>
          </p:cNvSpPr>
          <p:nvPr>
            <p:ph type="body" idx="1"/>
          </p:nvPr>
        </p:nvSpPr>
        <p:spPr/>
        <p:txBody>
          <a:bodyPr/>
          <a:lstStyle/>
          <a:p>
            <a:endParaRPr lang="en-IN" dirty="0"/>
          </a:p>
        </p:txBody>
      </p:sp>
    </p:spTree>
    <p:extLst>
      <p:ext uri="{BB962C8B-B14F-4D97-AF65-F5344CB8AC3E}">
        <p14:creationId xmlns:p14="http://schemas.microsoft.com/office/powerpoint/2010/main" val="96159864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1"/>
        <p:cNvGrpSpPr/>
        <p:nvPr/>
      </p:nvGrpSpPr>
      <p:grpSpPr>
        <a:xfrm>
          <a:off x="0" y="0"/>
          <a:ext cx="0" cy="0"/>
          <a:chOff x="0" y="0"/>
          <a:chExt cx="0" cy="0"/>
        </a:xfrm>
      </p:grpSpPr>
      <p:sp>
        <p:nvSpPr>
          <p:cNvPr id="12" name="Google Shape;12;p5"/>
          <p:cNvSpPr txBox="1">
            <a:spLocks noGrp="1"/>
          </p:cNvSpPr>
          <p:nvPr>
            <p:ph type="ctrTitle"/>
          </p:nvPr>
        </p:nvSpPr>
        <p:spPr>
          <a:xfrm>
            <a:off x="914400" y="2130427"/>
            <a:ext cx="10363200" cy="1470025"/>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 name="Google Shape;13;p5"/>
          <p:cNvSpPr txBox="1">
            <a:spLocks noGrp="1"/>
          </p:cNvSpPr>
          <p:nvPr>
            <p:ph type="subTitle" idx="1"/>
          </p:nvPr>
        </p:nvSpPr>
        <p:spPr>
          <a:xfrm>
            <a:off x="1828800" y="3886200"/>
            <a:ext cx="8534400" cy="1752600"/>
          </a:xfrm>
          <a:prstGeom prst="rect">
            <a:avLst/>
          </a:prstGeom>
          <a:noFill/>
          <a:ln>
            <a:noFill/>
          </a:ln>
        </p:spPr>
        <p:txBody>
          <a:bodyPr spcFirstLastPara="1" wrap="square" lIns="81025" tIns="40500" rIns="81025" bIns="40500" anchor="t" anchorCtr="0">
            <a:normAutofit/>
          </a:bodyPr>
          <a:lstStyle>
            <a:lvl1pPr lvl="0" algn="ctr">
              <a:lnSpc>
                <a:spcPct val="100000"/>
              </a:lnSpc>
              <a:spcBef>
                <a:spcPts val="672"/>
              </a:spcBef>
              <a:spcAft>
                <a:spcPts val="0"/>
              </a:spcAft>
              <a:buClr>
                <a:srgbClr val="888888"/>
              </a:buClr>
              <a:buSzPts val="3360"/>
              <a:buNone/>
              <a:defRPr>
                <a:solidFill>
                  <a:srgbClr val="888888"/>
                </a:solidFill>
              </a:defRPr>
            </a:lvl1pPr>
            <a:lvl2pPr lvl="1" algn="ctr">
              <a:lnSpc>
                <a:spcPct val="100000"/>
              </a:lnSpc>
              <a:spcBef>
                <a:spcPts val="600"/>
              </a:spcBef>
              <a:spcAft>
                <a:spcPts val="0"/>
              </a:spcAft>
              <a:buClr>
                <a:srgbClr val="888888"/>
              </a:buClr>
              <a:buSzPts val="3000"/>
              <a:buNone/>
              <a:defRPr>
                <a:solidFill>
                  <a:srgbClr val="888888"/>
                </a:solidFill>
              </a:defRPr>
            </a:lvl2pPr>
            <a:lvl3pPr lvl="2" algn="ctr">
              <a:lnSpc>
                <a:spcPct val="100000"/>
              </a:lnSpc>
              <a:spcBef>
                <a:spcPts val="504"/>
              </a:spcBef>
              <a:spcAft>
                <a:spcPts val="0"/>
              </a:spcAft>
              <a:buClr>
                <a:srgbClr val="888888"/>
              </a:buClr>
              <a:buSzPts val="2520"/>
              <a:buNone/>
              <a:defRPr>
                <a:solidFill>
                  <a:srgbClr val="888888"/>
                </a:solidFill>
              </a:defRPr>
            </a:lvl3pPr>
            <a:lvl4pPr lvl="3" algn="ctr">
              <a:lnSpc>
                <a:spcPct val="100000"/>
              </a:lnSpc>
              <a:spcBef>
                <a:spcPts val="432"/>
              </a:spcBef>
              <a:spcAft>
                <a:spcPts val="0"/>
              </a:spcAft>
              <a:buClr>
                <a:srgbClr val="888888"/>
              </a:buClr>
              <a:buSzPts val="2160"/>
              <a:buNone/>
              <a:defRPr>
                <a:solidFill>
                  <a:srgbClr val="888888"/>
                </a:solidFill>
              </a:defRPr>
            </a:lvl4pPr>
            <a:lvl5pPr lvl="4" algn="ctr">
              <a:lnSpc>
                <a:spcPct val="100000"/>
              </a:lnSpc>
              <a:spcBef>
                <a:spcPts val="432"/>
              </a:spcBef>
              <a:spcAft>
                <a:spcPts val="0"/>
              </a:spcAft>
              <a:buClr>
                <a:srgbClr val="888888"/>
              </a:buClr>
              <a:buSzPts val="2160"/>
              <a:buNone/>
              <a:defRPr>
                <a:solidFill>
                  <a:srgbClr val="888888"/>
                </a:solidFill>
              </a:defRPr>
            </a:lvl5pPr>
            <a:lvl6pPr lvl="5" algn="ctr">
              <a:lnSpc>
                <a:spcPct val="100000"/>
              </a:lnSpc>
              <a:spcBef>
                <a:spcPts val="432"/>
              </a:spcBef>
              <a:spcAft>
                <a:spcPts val="0"/>
              </a:spcAft>
              <a:buClr>
                <a:srgbClr val="888888"/>
              </a:buClr>
              <a:buSzPts val="2160"/>
              <a:buNone/>
              <a:defRPr>
                <a:solidFill>
                  <a:srgbClr val="888888"/>
                </a:solidFill>
              </a:defRPr>
            </a:lvl6pPr>
            <a:lvl7pPr lvl="6" algn="ctr">
              <a:lnSpc>
                <a:spcPct val="100000"/>
              </a:lnSpc>
              <a:spcBef>
                <a:spcPts val="432"/>
              </a:spcBef>
              <a:spcAft>
                <a:spcPts val="0"/>
              </a:spcAft>
              <a:buClr>
                <a:srgbClr val="888888"/>
              </a:buClr>
              <a:buSzPts val="2160"/>
              <a:buNone/>
              <a:defRPr>
                <a:solidFill>
                  <a:srgbClr val="888888"/>
                </a:solidFill>
              </a:defRPr>
            </a:lvl7pPr>
            <a:lvl8pPr lvl="7" algn="ctr">
              <a:lnSpc>
                <a:spcPct val="100000"/>
              </a:lnSpc>
              <a:spcBef>
                <a:spcPts val="432"/>
              </a:spcBef>
              <a:spcAft>
                <a:spcPts val="0"/>
              </a:spcAft>
              <a:buClr>
                <a:srgbClr val="888888"/>
              </a:buClr>
              <a:buSzPts val="2160"/>
              <a:buNone/>
              <a:defRPr>
                <a:solidFill>
                  <a:srgbClr val="888888"/>
                </a:solidFill>
              </a:defRPr>
            </a:lvl8pPr>
            <a:lvl9pPr lvl="8" algn="ctr">
              <a:lnSpc>
                <a:spcPct val="100000"/>
              </a:lnSpc>
              <a:spcBef>
                <a:spcPts val="432"/>
              </a:spcBef>
              <a:spcAft>
                <a:spcPts val="0"/>
              </a:spcAft>
              <a:buClr>
                <a:srgbClr val="888888"/>
              </a:buClr>
              <a:buSzPts val="2160"/>
              <a:buNone/>
              <a:defRPr>
                <a:solidFill>
                  <a:srgbClr val="888888"/>
                </a:solidFill>
              </a:defRPr>
            </a:lvl9pPr>
          </a:lstStyle>
          <a:p>
            <a:endParaRPr/>
          </a:p>
        </p:txBody>
      </p:sp>
      <p:sp>
        <p:nvSpPr>
          <p:cNvPr id="14" name="Google Shape;14;p5"/>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 name="Google Shape;15;p5"/>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 name="Google Shape;16;p5"/>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6"/>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 name="Google Shape;19;p6"/>
          <p:cNvSpPr txBox="1">
            <a:spLocks noGrp="1"/>
          </p:cNvSpPr>
          <p:nvPr>
            <p:ph type="body" idx="1"/>
          </p:nvPr>
        </p:nvSpPr>
        <p:spPr>
          <a:xfrm>
            <a:off x="609600" y="1600201"/>
            <a:ext cx="10972800" cy="4525963"/>
          </a:xfrm>
          <a:prstGeom prst="rect">
            <a:avLst/>
          </a:prstGeom>
          <a:noFill/>
          <a:ln>
            <a:noFill/>
          </a:ln>
        </p:spPr>
        <p:txBody>
          <a:bodyPr spcFirstLastPara="1" wrap="square" lIns="81025" tIns="40500" rIns="81025" bIns="405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0" name="Google Shape;20;p6"/>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6"/>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6"/>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7"/>
          <p:cNvSpPr txBox="1">
            <a:spLocks noGrp="1"/>
          </p:cNvSpPr>
          <p:nvPr>
            <p:ph type="title"/>
          </p:nvPr>
        </p:nvSpPr>
        <p:spPr>
          <a:xfrm>
            <a:off x="963084" y="4406902"/>
            <a:ext cx="10363200" cy="1362076"/>
          </a:xfrm>
          <a:prstGeom prst="rect">
            <a:avLst/>
          </a:prstGeom>
          <a:noFill/>
          <a:ln>
            <a:noFill/>
          </a:ln>
        </p:spPr>
        <p:txBody>
          <a:bodyPr spcFirstLastPara="1" wrap="square" lIns="81025" tIns="40500" rIns="81025" bIns="40500" anchor="t" anchorCtr="0">
            <a:normAutofit/>
          </a:bodyPr>
          <a:lstStyle>
            <a:lvl1pPr lvl="0" algn="l">
              <a:lnSpc>
                <a:spcPct val="100000"/>
              </a:lnSpc>
              <a:spcBef>
                <a:spcPts val="0"/>
              </a:spcBef>
              <a:spcAft>
                <a:spcPts val="0"/>
              </a:spcAft>
              <a:buClr>
                <a:schemeClr val="dk1"/>
              </a:buClr>
              <a:buSzPts val="4200"/>
              <a:buFont typeface="Calibri"/>
              <a:buNone/>
              <a:defRPr sz="42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
          <p:cNvSpPr txBox="1">
            <a:spLocks noGrp="1"/>
          </p:cNvSpPr>
          <p:nvPr>
            <p:ph type="body" idx="1"/>
          </p:nvPr>
        </p:nvSpPr>
        <p:spPr>
          <a:xfrm>
            <a:off x="963084" y="2906713"/>
            <a:ext cx="10363200" cy="1500187"/>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432"/>
              </a:spcBef>
              <a:spcAft>
                <a:spcPts val="0"/>
              </a:spcAft>
              <a:buClr>
                <a:srgbClr val="888888"/>
              </a:buClr>
              <a:buSzPts val="2160"/>
              <a:buNone/>
              <a:defRPr sz="2160">
                <a:solidFill>
                  <a:srgbClr val="888888"/>
                </a:solidFill>
              </a:defRPr>
            </a:lvl1pPr>
            <a:lvl2pPr marL="914400" lvl="1" indent="-228600" algn="l">
              <a:lnSpc>
                <a:spcPct val="100000"/>
              </a:lnSpc>
              <a:spcBef>
                <a:spcPts val="384"/>
              </a:spcBef>
              <a:spcAft>
                <a:spcPts val="0"/>
              </a:spcAft>
              <a:buClr>
                <a:srgbClr val="888888"/>
              </a:buClr>
              <a:buSzPts val="1920"/>
              <a:buNone/>
              <a:defRPr sz="1920">
                <a:solidFill>
                  <a:srgbClr val="888888"/>
                </a:solidFill>
              </a:defRPr>
            </a:lvl2pPr>
            <a:lvl3pPr marL="1371600" lvl="2" indent="-228600" algn="l">
              <a:lnSpc>
                <a:spcPct val="100000"/>
              </a:lnSpc>
              <a:spcBef>
                <a:spcPts val="336"/>
              </a:spcBef>
              <a:spcAft>
                <a:spcPts val="0"/>
              </a:spcAft>
              <a:buClr>
                <a:srgbClr val="888888"/>
              </a:buClr>
              <a:buSzPts val="1680"/>
              <a:buNone/>
              <a:defRPr sz="1679">
                <a:solidFill>
                  <a:srgbClr val="888888"/>
                </a:solidFill>
              </a:defRPr>
            </a:lvl3pPr>
            <a:lvl4pPr marL="1828800" lvl="3" indent="-228600" algn="l">
              <a:lnSpc>
                <a:spcPct val="100000"/>
              </a:lnSpc>
              <a:spcBef>
                <a:spcPts val="288"/>
              </a:spcBef>
              <a:spcAft>
                <a:spcPts val="0"/>
              </a:spcAft>
              <a:buClr>
                <a:srgbClr val="888888"/>
              </a:buClr>
              <a:buSzPts val="1440"/>
              <a:buNone/>
              <a:defRPr sz="1440">
                <a:solidFill>
                  <a:srgbClr val="888888"/>
                </a:solidFill>
              </a:defRPr>
            </a:lvl4pPr>
            <a:lvl5pPr marL="2286000" lvl="4" indent="-228600" algn="l">
              <a:lnSpc>
                <a:spcPct val="100000"/>
              </a:lnSpc>
              <a:spcBef>
                <a:spcPts val="288"/>
              </a:spcBef>
              <a:spcAft>
                <a:spcPts val="0"/>
              </a:spcAft>
              <a:buClr>
                <a:srgbClr val="888888"/>
              </a:buClr>
              <a:buSzPts val="1440"/>
              <a:buNone/>
              <a:defRPr sz="1440">
                <a:solidFill>
                  <a:srgbClr val="888888"/>
                </a:solidFill>
              </a:defRPr>
            </a:lvl5pPr>
            <a:lvl6pPr marL="2743200" lvl="5" indent="-228600" algn="l">
              <a:lnSpc>
                <a:spcPct val="100000"/>
              </a:lnSpc>
              <a:spcBef>
                <a:spcPts val="288"/>
              </a:spcBef>
              <a:spcAft>
                <a:spcPts val="0"/>
              </a:spcAft>
              <a:buClr>
                <a:srgbClr val="888888"/>
              </a:buClr>
              <a:buSzPts val="1440"/>
              <a:buNone/>
              <a:defRPr sz="1440">
                <a:solidFill>
                  <a:srgbClr val="888888"/>
                </a:solidFill>
              </a:defRPr>
            </a:lvl6pPr>
            <a:lvl7pPr marL="3200400" lvl="6" indent="-228600" algn="l">
              <a:lnSpc>
                <a:spcPct val="100000"/>
              </a:lnSpc>
              <a:spcBef>
                <a:spcPts val="288"/>
              </a:spcBef>
              <a:spcAft>
                <a:spcPts val="0"/>
              </a:spcAft>
              <a:buClr>
                <a:srgbClr val="888888"/>
              </a:buClr>
              <a:buSzPts val="1440"/>
              <a:buNone/>
              <a:defRPr sz="1440">
                <a:solidFill>
                  <a:srgbClr val="888888"/>
                </a:solidFill>
              </a:defRPr>
            </a:lvl7pPr>
            <a:lvl8pPr marL="3657600" lvl="7" indent="-228600" algn="l">
              <a:lnSpc>
                <a:spcPct val="100000"/>
              </a:lnSpc>
              <a:spcBef>
                <a:spcPts val="288"/>
              </a:spcBef>
              <a:spcAft>
                <a:spcPts val="0"/>
              </a:spcAft>
              <a:buClr>
                <a:srgbClr val="888888"/>
              </a:buClr>
              <a:buSzPts val="1440"/>
              <a:buNone/>
              <a:defRPr sz="1440">
                <a:solidFill>
                  <a:srgbClr val="888888"/>
                </a:solidFill>
              </a:defRPr>
            </a:lvl8pPr>
            <a:lvl9pPr marL="4114800" lvl="8" indent="-228600" algn="l">
              <a:lnSpc>
                <a:spcPct val="100000"/>
              </a:lnSpc>
              <a:spcBef>
                <a:spcPts val="288"/>
              </a:spcBef>
              <a:spcAft>
                <a:spcPts val="0"/>
              </a:spcAft>
              <a:buClr>
                <a:srgbClr val="888888"/>
              </a:buClr>
              <a:buSzPts val="1440"/>
              <a:buNone/>
              <a:defRPr sz="1440">
                <a:solidFill>
                  <a:srgbClr val="888888"/>
                </a:solidFill>
              </a:defRPr>
            </a:lvl9pPr>
          </a:lstStyle>
          <a:p>
            <a:endParaRPr/>
          </a:p>
        </p:txBody>
      </p:sp>
      <p:sp>
        <p:nvSpPr>
          <p:cNvPr id="26" name="Google Shape;26;p7"/>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7" name="Google Shape;27;p7"/>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7"/>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8"/>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8"/>
          <p:cNvSpPr txBox="1">
            <a:spLocks noGrp="1"/>
          </p:cNvSpPr>
          <p:nvPr>
            <p:ph type="body" idx="1"/>
          </p:nvPr>
        </p:nvSpPr>
        <p:spPr>
          <a:xfrm>
            <a:off x="609600" y="1600201"/>
            <a:ext cx="5384800" cy="4525963"/>
          </a:xfrm>
          <a:prstGeom prst="rect">
            <a:avLst/>
          </a:prstGeom>
          <a:noFill/>
          <a:ln>
            <a:noFill/>
          </a:ln>
        </p:spPr>
        <p:txBody>
          <a:bodyPr spcFirstLastPara="1" wrap="square" lIns="81025" tIns="40500" rIns="81025" bIns="40500" anchor="t" anchorCtr="0">
            <a:normAutofit/>
          </a:bodyPr>
          <a:lstStyle>
            <a:lvl1pPr marL="457200" lvl="0" indent="-419100" algn="l">
              <a:lnSpc>
                <a:spcPct val="100000"/>
              </a:lnSpc>
              <a:spcBef>
                <a:spcPts val="600"/>
              </a:spcBef>
              <a:spcAft>
                <a:spcPts val="0"/>
              </a:spcAft>
              <a:buClr>
                <a:schemeClr val="dk1"/>
              </a:buClr>
              <a:buSzPts val="3000"/>
              <a:buChar char="•"/>
              <a:defRPr sz="3000"/>
            </a:lvl1pPr>
            <a:lvl2pPr marL="914400" lvl="1" indent="-388619" algn="l">
              <a:lnSpc>
                <a:spcPct val="100000"/>
              </a:lnSpc>
              <a:spcBef>
                <a:spcPts val="504"/>
              </a:spcBef>
              <a:spcAft>
                <a:spcPts val="0"/>
              </a:spcAft>
              <a:buClr>
                <a:schemeClr val="dk1"/>
              </a:buClr>
              <a:buSzPts val="2520"/>
              <a:buChar char="–"/>
              <a:defRPr sz="2520"/>
            </a:lvl2pPr>
            <a:lvl3pPr marL="1371600" lvl="2" indent="-365760" algn="l">
              <a:lnSpc>
                <a:spcPct val="100000"/>
              </a:lnSpc>
              <a:spcBef>
                <a:spcPts val="432"/>
              </a:spcBef>
              <a:spcAft>
                <a:spcPts val="0"/>
              </a:spcAft>
              <a:buClr>
                <a:schemeClr val="dk1"/>
              </a:buClr>
              <a:buSzPts val="2160"/>
              <a:buChar char="•"/>
              <a:defRPr sz="2160"/>
            </a:lvl3pPr>
            <a:lvl4pPr marL="1828800" lvl="3" indent="-350519" algn="l">
              <a:lnSpc>
                <a:spcPct val="100000"/>
              </a:lnSpc>
              <a:spcBef>
                <a:spcPts val="384"/>
              </a:spcBef>
              <a:spcAft>
                <a:spcPts val="0"/>
              </a:spcAft>
              <a:buClr>
                <a:schemeClr val="dk1"/>
              </a:buClr>
              <a:buSzPts val="1920"/>
              <a:buChar char="–"/>
              <a:defRPr sz="1920"/>
            </a:lvl4pPr>
            <a:lvl5pPr marL="2286000" lvl="4" indent="-350520" algn="l">
              <a:lnSpc>
                <a:spcPct val="100000"/>
              </a:lnSpc>
              <a:spcBef>
                <a:spcPts val="384"/>
              </a:spcBef>
              <a:spcAft>
                <a:spcPts val="0"/>
              </a:spcAft>
              <a:buClr>
                <a:schemeClr val="dk1"/>
              </a:buClr>
              <a:buSzPts val="1920"/>
              <a:buChar char="»"/>
              <a:defRPr sz="1920"/>
            </a:lvl5pPr>
            <a:lvl6pPr marL="2743200" lvl="5" indent="-350520" algn="l">
              <a:lnSpc>
                <a:spcPct val="100000"/>
              </a:lnSpc>
              <a:spcBef>
                <a:spcPts val="384"/>
              </a:spcBef>
              <a:spcAft>
                <a:spcPts val="0"/>
              </a:spcAft>
              <a:buClr>
                <a:schemeClr val="dk1"/>
              </a:buClr>
              <a:buSzPts val="1920"/>
              <a:buChar char="•"/>
              <a:defRPr sz="1920"/>
            </a:lvl6pPr>
            <a:lvl7pPr marL="3200400" lvl="6" indent="-350520" algn="l">
              <a:lnSpc>
                <a:spcPct val="100000"/>
              </a:lnSpc>
              <a:spcBef>
                <a:spcPts val="384"/>
              </a:spcBef>
              <a:spcAft>
                <a:spcPts val="0"/>
              </a:spcAft>
              <a:buClr>
                <a:schemeClr val="dk1"/>
              </a:buClr>
              <a:buSzPts val="1920"/>
              <a:buChar char="•"/>
              <a:defRPr sz="1920"/>
            </a:lvl7pPr>
            <a:lvl8pPr marL="3657600" lvl="7" indent="-350520" algn="l">
              <a:lnSpc>
                <a:spcPct val="100000"/>
              </a:lnSpc>
              <a:spcBef>
                <a:spcPts val="384"/>
              </a:spcBef>
              <a:spcAft>
                <a:spcPts val="0"/>
              </a:spcAft>
              <a:buClr>
                <a:schemeClr val="dk1"/>
              </a:buClr>
              <a:buSzPts val="1920"/>
              <a:buChar char="•"/>
              <a:defRPr sz="1920"/>
            </a:lvl8pPr>
            <a:lvl9pPr marL="4114800" lvl="8" indent="-350520" algn="l">
              <a:lnSpc>
                <a:spcPct val="100000"/>
              </a:lnSpc>
              <a:spcBef>
                <a:spcPts val="384"/>
              </a:spcBef>
              <a:spcAft>
                <a:spcPts val="0"/>
              </a:spcAft>
              <a:buClr>
                <a:schemeClr val="dk1"/>
              </a:buClr>
              <a:buSzPts val="1920"/>
              <a:buChar char="•"/>
              <a:defRPr sz="1920"/>
            </a:lvl9pPr>
          </a:lstStyle>
          <a:p>
            <a:endParaRPr/>
          </a:p>
        </p:txBody>
      </p:sp>
      <p:sp>
        <p:nvSpPr>
          <p:cNvPr id="32" name="Google Shape;32;p8"/>
          <p:cNvSpPr txBox="1">
            <a:spLocks noGrp="1"/>
          </p:cNvSpPr>
          <p:nvPr>
            <p:ph type="body" idx="2"/>
          </p:nvPr>
        </p:nvSpPr>
        <p:spPr>
          <a:xfrm>
            <a:off x="6197600" y="1600201"/>
            <a:ext cx="5384800" cy="4525963"/>
          </a:xfrm>
          <a:prstGeom prst="rect">
            <a:avLst/>
          </a:prstGeom>
          <a:noFill/>
          <a:ln>
            <a:noFill/>
          </a:ln>
        </p:spPr>
        <p:txBody>
          <a:bodyPr spcFirstLastPara="1" wrap="square" lIns="81025" tIns="40500" rIns="81025" bIns="40500" anchor="t" anchorCtr="0">
            <a:normAutofit/>
          </a:bodyPr>
          <a:lstStyle>
            <a:lvl1pPr marL="457200" lvl="0" indent="-419100" algn="l">
              <a:lnSpc>
                <a:spcPct val="100000"/>
              </a:lnSpc>
              <a:spcBef>
                <a:spcPts val="600"/>
              </a:spcBef>
              <a:spcAft>
                <a:spcPts val="0"/>
              </a:spcAft>
              <a:buClr>
                <a:schemeClr val="dk1"/>
              </a:buClr>
              <a:buSzPts val="3000"/>
              <a:buChar char="•"/>
              <a:defRPr sz="3000"/>
            </a:lvl1pPr>
            <a:lvl2pPr marL="914400" lvl="1" indent="-388619" algn="l">
              <a:lnSpc>
                <a:spcPct val="100000"/>
              </a:lnSpc>
              <a:spcBef>
                <a:spcPts val="504"/>
              </a:spcBef>
              <a:spcAft>
                <a:spcPts val="0"/>
              </a:spcAft>
              <a:buClr>
                <a:schemeClr val="dk1"/>
              </a:buClr>
              <a:buSzPts val="2520"/>
              <a:buChar char="–"/>
              <a:defRPr sz="2520"/>
            </a:lvl2pPr>
            <a:lvl3pPr marL="1371600" lvl="2" indent="-365760" algn="l">
              <a:lnSpc>
                <a:spcPct val="100000"/>
              </a:lnSpc>
              <a:spcBef>
                <a:spcPts val="432"/>
              </a:spcBef>
              <a:spcAft>
                <a:spcPts val="0"/>
              </a:spcAft>
              <a:buClr>
                <a:schemeClr val="dk1"/>
              </a:buClr>
              <a:buSzPts val="2160"/>
              <a:buChar char="•"/>
              <a:defRPr sz="2160"/>
            </a:lvl3pPr>
            <a:lvl4pPr marL="1828800" lvl="3" indent="-350519" algn="l">
              <a:lnSpc>
                <a:spcPct val="100000"/>
              </a:lnSpc>
              <a:spcBef>
                <a:spcPts val="384"/>
              </a:spcBef>
              <a:spcAft>
                <a:spcPts val="0"/>
              </a:spcAft>
              <a:buClr>
                <a:schemeClr val="dk1"/>
              </a:buClr>
              <a:buSzPts val="1920"/>
              <a:buChar char="–"/>
              <a:defRPr sz="1920"/>
            </a:lvl4pPr>
            <a:lvl5pPr marL="2286000" lvl="4" indent="-350520" algn="l">
              <a:lnSpc>
                <a:spcPct val="100000"/>
              </a:lnSpc>
              <a:spcBef>
                <a:spcPts val="384"/>
              </a:spcBef>
              <a:spcAft>
                <a:spcPts val="0"/>
              </a:spcAft>
              <a:buClr>
                <a:schemeClr val="dk1"/>
              </a:buClr>
              <a:buSzPts val="1920"/>
              <a:buChar char="»"/>
              <a:defRPr sz="1920"/>
            </a:lvl5pPr>
            <a:lvl6pPr marL="2743200" lvl="5" indent="-350520" algn="l">
              <a:lnSpc>
                <a:spcPct val="100000"/>
              </a:lnSpc>
              <a:spcBef>
                <a:spcPts val="384"/>
              </a:spcBef>
              <a:spcAft>
                <a:spcPts val="0"/>
              </a:spcAft>
              <a:buClr>
                <a:schemeClr val="dk1"/>
              </a:buClr>
              <a:buSzPts val="1920"/>
              <a:buChar char="•"/>
              <a:defRPr sz="1920"/>
            </a:lvl6pPr>
            <a:lvl7pPr marL="3200400" lvl="6" indent="-350520" algn="l">
              <a:lnSpc>
                <a:spcPct val="100000"/>
              </a:lnSpc>
              <a:spcBef>
                <a:spcPts val="384"/>
              </a:spcBef>
              <a:spcAft>
                <a:spcPts val="0"/>
              </a:spcAft>
              <a:buClr>
                <a:schemeClr val="dk1"/>
              </a:buClr>
              <a:buSzPts val="1920"/>
              <a:buChar char="•"/>
              <a:defRPr sz="1920"/>
            </a:lvl7pPr>
            <a:lvl8pPr marL="3657600" lvl="7" indent="-350520" algn="l">
              <a:lnSpc>
                <a:spcPct val="100000"/>
              </a:lnSpc>
              <a:spcBef>
                <a:spcPts val="384"/>
              </a:spcBef>
              <a:spcAft>
                <a:spcPts val="0"/>
              </a:spcAft>
              <a:buClr>
                <a:schemeClr val="dk1"/>
              </a:buClr>
              <a:buSzPts val="1920"/>
              <a:buChar char="•"/>
              <a:defRPr sz="1920"/>
            </a:lvl8pPr>
            <a:lvl9pPr marL="4114800" lvl="8" indent="-350520" algn="l">
              <a:lnSpc>
                <a:spcPct val="100000"/>
              </a:lnSpc>
              <a:spcBef>
                <a:spcPts val="384"/>
              </a:spcBef>
              <a:spcAft>
                <a:spcPts val="0"/>
              </a:spcAft>
              <a:buClr>
                <a:schemeClr val="dk1"/>
              </a:buClr>
              <a:buSzPts val="1920"/>
              <a:buChar char="•"/>
              <a:defRPr sz="1920"/>
            </a:lvl9pPr>
          </a:lstStyle>
          <a:p>
            <a:endParaRPr/>
          </a:p>
        </p:txBody>
      </p:sp>
      <p:sp>
        <p:nvSpPr>
          <p:cNvPr id="33" name="Google Shape;33;p8"/>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8"/>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8"/>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9"/>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468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9"/>
          <p:cNvSpPr txBox="1">
            <a:spLocks noGrp="1"/>
          </p:cNvSpPr>
          <p:nvPr>
            <p:ph type="body" idx="1"/>
          </p:nvPr>
        </p:nvSpPr>
        <p:spPr>
          <a:xfrm>
            <a:off x="609600" y="1535114"/>
            <a:ext cx="5386917" cy="639762"/>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504"/>
              </a:spcBef>
              <a:spcAft>
                <a:spcPts val="0"/>
              </a:spcAft>
              <a:buClr>
                <a:schemeClr val="dk1"/>
              </a:buClr>
              <a:buSzPts val="2520"/>
              <a:buNone/>
              <a:defRPr sz="2520" b="1"/>
            </a:lvl1pPr>
            <a:lvl2pPr marL="914400" lvl="1" indent="-228600" algn="l">
              <a:lnSpc>
                <a:spcPct val="100000"/>
              </a:lnSpc>
              <a:spcBef>
                <a:spcPts val="432"/>
              </a:spcBef>
              <a:spcAft>
                <a:spcPts val="0"/>
              </a:spcAft>
              <a:buClr>
                <a:schemeClr val="dk1"/>
              </a:buClr>
              <a:buSzPts val="2160"/>
              <a:buNone/>
              <a:defRPr sz="2160" b="1"/>
            </a:lvl2pPr>
            <a:lvl3pPr marL="1371600" lvl="2" indent="-228600" algn="l">
              <a:lnSpc>
                <a:spcPct val="100000"/>
              </a:lnSpc>
              <a:spcBef>
                <a:spcPts val="384"/>
              </a:spcBef>
              <a:spcAft>
                <a:spcPts val="0"/>
              </a:spcAft>
              <a:buClr>
                <a:schemeClr val="dk1"/>
              </a:buClr>
              <a:buSzPts val="1920"/>
              <a:buNone/>
              <a:defRPr sz="1920" b="1"/>
            </a:lvl3pPr>
            <a:lvl4pPr marL="1828800" lvl="3" indent="-228600" algn="l">
              <a:lnSpc>
                <a:spcPct val="100000"/>
              </a:lnSpc>
              <a:spcBef>
                <a:spcPts val="336"/>
              </a:spcBef>
              <a:spcAft>
                <a:spcPts val="0"/>
              </a:spcAft>
              <a:buClr>
                <a:schemeClr val="dk1"/>
              </a:buClr>
              <a:buSzPts val="1680"/>
              <a:buNone/>
              <a:defRPr sz="1679" b="1"/>
            </a:lvl4pPr>
            <a:lvl5pPr marL="2286000" lvl="4" indent="-228600" algn="l">
              <a:lnSpc>
                <a:spcPct val="100000"/>
              </a:lnSpc>
              <a:spcBef>
                <a:spcPts val="336"/>
              </a:spcBef>
              <a:spcAft>
                <a:spcPts val="0"/>
              </a:spcAft>
              <a:buClr>
                <a:schemeClr val="dk1"/>
              </a:buClr>
              <a:buSzPts val="1680"/>
              <a:buNone/>
              <a:defRPr sz="1679" b="1"/>
            </a:lvl5pPr>
            <a:lvl6pPr marL="2743200" lvl="5" indent="-228600" algn="l">
              <a:lnSpc>
                <a:spcPct val="100000"/>
              </a:lnSpc>
              <a:spcBef>
                <a:spcPts val="336"/>
              </a:spcBef>
              <a:spcAft>
                <a:spcPts val="0"/>
              </a:spcAft>
              <a:buClr>
                <a:schemeClr val="dk1"/>
              </a:buClr>
              <a:buSzPts val="1680"/>
              <a:buNone/>
              <a:defRPr sz="1679" b="1"/>
            </a:lvl6pPr>
            <a:lvl7pPr marL="3200400" lvl="6" indent="-228600" algn="l">
              <a:lnSpc>
                <a:spcPct val="100000"/>
              </a:lnSpc>
              <a:spcBef>
                <a:spcPts val="336"/>
              </a:spcBef>
              <a:spcAft>
                <a:spcPts val="0"/>
              </a:spcAft>
              <a:buClr>
                <a:schemeClr val="dk1"/>
              </a:buClr>
              <a:buSzPts val="1680"/>
              <a:buNone/>
              <a:defRPr sz="1679" b="1"/>
            </a:lvl7pPr>
            <a:lvl8pPr marL="3657600" lvl="7" indent="-228600" algn="l">
              <a:lnSpc>
                <a:spcPct val="100000"/>
              </a:lnSpc>
              <a:spcBef>
                <a:spcPts val="336"/>
              </a:spcBef>
              <a:spcAft>
                <a:spcPts val="0"/>
              </a:spcAft>
              <a:buClr>
                <a:schemeClr val="dk1"/>
              </a:buClr>
              <a:buSzPts val="1680"/>
              <a:buNone/>
              <a:defRPr sz="1679" b="1"/>
            </a:lvl8pPr>
            <a:lvl9pPr marL="4114800" lvl="8" indent="-228600" algn="l">
              <a:lnSpc>
                <a:spcPct val="100000"/>
              </a:lnSpc>
              <a:spcBef>
                <a:spcPts val="336"/>
              </a:spcBef>
              <a:spcAft>
                <a:spcPts val="0"/>
              </a:spcAft>
              <a:buClr>
                <a:schemeClr val="dk1"/>
              </a:buClr>
              <a:buSzPts val="1680"/>
              <a:buNone/>
              <a:defRPr sz="1679" b="1"/>
            </a:lvl9pPr>
          </a:lstStyle>
          <a:p>
            <a:endParaRPr/>
          </a:p>
        </p:txBody>
      </p:sp>
      <p:sp>
        <p:nvSpPr>
          <p:cNvPr id="39" name="Google Shape;39;p9"/>
          <p:cNvSpPr txBox="1">
            <a:spLocks noGrp="1"/>
          </p:cNvSpPr>
          <p:nvPr>
            <p:ph type="body" idx="2"/>
          </p:nvPr>
        </p:nvSpPr>
        <p:spPr>
          <a:xfrm>
            <a:off x="609600" y="2174875"/>
            <a:ext cx="5386917" cy="3951288"/>
          </a:xfrm>
          <a:prstGeom prst="rect">
            <a:avLst/>
          </a:prstGeom>
          <a:noFill/>
          <a:ln>
            <a:noFill/>
          </a:ln>
        </p:spPr>
        <p:txBody>
          <a:bodyPr spcFirstLastPara="1" wrap="square" lIns="81025" tIns="40500" rIns="81025" bIns="40500" anchor="t" anchorCtr="0">
            <a:normAutofit/>
          </a:bodyPr>
          <a:lstStyle>
            <a:lvl1pPr marL="457200" lvl="0" indent="-388620" algn="l">
              <a:lnSpc>
                <a:spcPct val="100000"/>
              </a:lnSpc>
              <a:spcBef>
                <a:spcPts val="504"/>
              </a:spcBef>
              <a:spcAft>
                <a:spcPts val="0"/>
              </a:spcAft>
              <a:buClr>
                <a:schemeClr val="dk1"/>
              </a:buClr>
              <a:buSzPts val="2520"/>
              <a:buChar char="•"/>
              <a:defRPr sz="2520"/>
            </a:lvl1pPr>
            <a:lvl2pPr marL="914400" lvl="1" indent="-365760" algn="l">
              <a:lnSpc>
                <a:spcPct val="100000"/>
              </a:lnSpc>
              <a:spcBef>
                <a:spcPts val="432"/>
              </a:spcBef>
              <a:spcAft>
                <a:spcPts val="0"/>
              </a:spcAft>
              <a:buClr>
                <a:schemeClr val="dk1"/>
              </a:buClr>
              <a:buSzPts val="2160"/>
              <a:buChar char="–"/>
              <a:defRPr sz="2160"/>
            </a:lvl2pPr>
            <a:lvl3pPr marL="1371600" lvl="2" indent="-350519" algn="l">
              <a:lnSpc>
                <a:spcPct val="100000"/>
              </a:lnSpc>
              <a:spcBef>
                <a:spcPts val="384"/>
              </a:spcBef>
              <a:spcAft>
                <a:spcPts val="0"/>
              </a:spcAft>
              <a:buClr>
                <a:schemeClr val="dk1"/>
              </a:buClr>
              <a:buSzPts val="1920"/>
              <a:buChar char="•"/>
              <a:defRPr sz="1920"/>
            </a:lvl3pPr>
            <a:lvl4pPr marL="1828800" lvl="3" indent="-335280" algn="l">
              <a:lnSpc>
                <a:spcPct val="100000"/>
              </a:lnSpc>
              <a:spcBef>
                <a:spcPts val="336"/>
              </a:spcBef>
              <a:spcAft>
                <a:spcPts val="0"/>
              </a:spcAft>
              <a:buClr>
                <a:schemeClr val="dk1"/>
              </a:buClr>
              <a:buSzPts val="1680"/>
              <a:buChar char="–"/>
              <a:defRPr sz="1679"/>
            </a:lvl4pPr>
            <a:lvl5pPr marL="2286000" lvl="4" indent="-335279" algn="l">
              <a:lnSpc>
                <a:spcPct val="100000"/>
              </a:lnSpc>
              <a:spcBef>
                <a:spcPts val="336"/>
              </a:spcBef>
              <a:spcAft>
                <a:spcPts val="0"/>
              </a:spcAft>
              <a:buClr>
                <a:schemeClr val="dk1"/>
              </a:buClr>
              <a:buSzPts val="1680"/>
              <a:buChar char="»"/>
              <a:defRPr sz="1679"/>
            </a:lvl5pPr>
            <a:lvl6pPr marL="2743200" lvl="5" indent="-335279" algn="l">
              <a:lnSpc>
                <a:spcPct val="100000"/>
              </a:lnSpc>
              <a:spcBef>
                <a:spcPts val="336"/>
              </a:spcBef>
              <a:spcAft>
                <a:spcPts val="0"/>
              </a:spcAft>
              <a:buClr>
                <a:schemeClr val="dk1"/>
              </a:buClr>
              <a:buSzPts val="1680"/>
              <a:buChar char="•"/>
              <a:defRPr sz="1679"/>
            </a:lvl6pPr>
            <a:lvl7pPr marL="3200400" lvl="6" indent="-335279" algn="l">
              <a:lnSpc>
                <a:spcPct val="100000"/>
              </a:lnSpc>
              <a:spcBef>
                <a:spcPts val="336"/>
              </a:spcBef>
              <a:spcAft>
                <a:spcPts val="0"/>
              </a:spcAft>
              <a:buClr>
                <a:schemeClr val="dk1"/>
              </a:buClr>
              <a:buSzPts val="1680"/>
              <a:buChar char="•"/>
              <a:defRPr sz="1679"/>
            </a:lvl7pPr>
            <a:lvl8pPr marL="3657600" lvl="7" indent="-335279" algn="l">
              <a:lnSpc>
                <a:spcPct val="100000"/>
              </a:lnSpc>
              <a:spcBef>
                <a:spcPts val="336"/>
              </a:spcBef>
              <a:spcAft>
                <a:spcPts val="0"/>
              </a:spcAft>
              <a:buClr>
                <a:schemeClr val="dk1"/>
              </a:buClr>
              <a:buSzPts val="1680"/>
              <a:buChar char="•"/>
              <a:defRPr sz="1679"/>
            </a:lvl8pPr>
            <a:lvl9pPr marL="4114800" lvl="8" indent="-335279" algn="l">
              <a:lnSpc>
                <a:spcPct val="100000"/>
              </a:lnSpc>
              <a:spcBef>
                <a:spcPts val="336"/>
              </a:spcBef>
              <a:spcAft>
                <a:spcPts val="0"/>
              </a:spcAft>
              <a:buClr>
                <a:schemeClr val="dk1"/>
              </a:buClr>
              <a:buSzPts val="1680"/>
              <a:buChar char="•"/>
              <a:defRPr sz="1679"/>
            </a:lvl9pPr>
          </a:lstStyle>
          <a:p>
            <a:endParaRPr/>
          </a:p>
        </p:txBody>
      </p:sp>
      <p:sp>
        <p:nvSpPr>
          <p:cNvPr id="40" name="Google Shape;40;p9"/>
          <p:cNvSpPr txBox="1">
            <a:spLocks noGrp="1"/>
          </p:cNvSpPr>
          <p:nvPr>
            <p:ph type="body" idx="3"/>
          </p:nvPr>
        </p:nvSpPr>
        <p:spPr>
          <a:xfrm>
            <a:off x="6193369" y="1535114"/>
            <a:ext cx="5389033" cy="639762"/>
          </a:xfrm>
          <a:prstGeom prst="rect">
            <a:avLst/>
          </a:prstGeom>
          <a:noFill/>
          <a:ln>
            <a:noFill/>
          </a:ln>
        </p:spPr>
        <p:txBody>
          <a:bodyPr spcFirstLastPara="1" wrap="square" lIns="81025" tIns="40500" rIns="81025" bIns="40500" anchor="b" anchorCtr="0">
            <a:normAutofit/>
          </a:bodyPr>
          <a:lstStyle>
            <a:lvl1pPr marL="457200" lvl="0" indent="-228600" algn="l">
              <a:lnSpc>
                <a:spcPct val="100000"/>
              </a:lnSpc>
              <a:spcBef>
                <a:spcPts val="504"/>
              </a:spcBef>
              <a:spcAft>
                <a:spcPts val="0"/>
              </a:spcAft>
              <a:buClr>
                <a:schemeClr val="dk1"/>
              </a:buClr>
              <a:buSzPts val="2520"/>
              <a:buNone/>
              <a:defRPr sz="2520" b="1"/>
            </a:lvl1pPr>
            <a:lvl2pPr marL="914400" lvl="1" indent="-228600" algn="l">
              <a:lnSpc>
                <a:spcPct val="100000"/>
              </a:lnSpc>
              <a:spcBef>
                <a:spcPts val="432"/>
              </a:spcBef>
              <a:spcAft>
                <a:spcPts val="0"/>
              </a:spcAft>
              <a:buClr>
                <a:schemeClr val="dk1"/>
              </a:buClr>
              <a:buSzPts val="2160"/>
              <a:buNone/>
              <a:defRPr sz="2160" b="1"/>
            </a:lvl2pPr>
            <a:lvl3pPr marL="1371600" lvl="2" indent="-228600" algn="l">
              <a:lnSpc>
                <a:spcPct val="100000"/>
              </a:lnSpc>
              <a:spcBef>
                <a:spcPts val="384"/>
              </a:spcBef>
              <a:spcAft>
                <a:spcPts val="0"/>
              </a:spcAft>
              <a:buClr>
                <a:schemeClr val="dk1"/>
              </a:buClr>
              <a:buSzPts val="1920"/>
              <a:buNone/>
              <a:defRPr sz="1920" b="1"/>
            </a:lvl3pPr>
            <a:lvl4pPr marL="1828800" lvl="3" indent="-228600" algn="l">
              <a:lnSpc>
                <a:spcPct val="100000"/>
              </a:lnSpc>
              <a:spcBef>
                <a:spcPts val="336"/>
              </a:spcBef>
              <a:spcAft>
                <a:spcPts val="0"/>
              </a:spcAft>
              <a:buClr>
                <a:schemeClr val="dk1"/>
              </a:buClr>
              <a:buSzPts val="1680"/>
              <a:buNone/>
              <a:defRPr sz="1679" b="1"/>
            </a:lvl4pPr>
            <a:lvl5pPr marL="2286000" lvl="4" indent="-228600" algn="l">
              <a:lnSpc>
                <a:spcPct val="100000"/>
              </a:lnSpc>
              <a:spcBef>
                <a:spcPts val="336"/>
              </a:spcBef>
              <a:spcAft>
                <a:spcPts val="0"/>
              </a:spcAft>
              <a:buClr>
                <a:schemeClr val="dk1"/>
              </a:buClr>
              <a:buSzPts val="1680"/>
              <a:buNone/>
              <a:defRPr sz="1679" b="1"/>
            </a:lvl5pPr>
            <a:lvl6pPr marL="2743200" lvl="5" indent="-228600" algn="l">
              <a:lnSpc>
                <a:spcPct val="100000"/>
              </a:lnSpc>
              <a:spcBef>
                <a:spcPts val="336"/>
              </a:spcBef>
              <a:spcAft>
                <a:spcPts val="0"/>
              </a:spcAft>
              <a:buClr>
                <a:schemeClr val="dk1"/>
              </a:buClr>
              <a:buSzPts val="1680"/>
              <a:buNone/>
              <a:defRPr sz="1679" b="1"/>
            </a:lvl6pPr>
            <a:lvl7pPr marL="3200400" lvl="6" indent="-228600" algn="l">
              <a:lnSpc>
                <a:spcPct val="100000"/>
              </a:lnSpc>
              <a:spcBef>
                <a:spcPts val="336"/>
              </a:spcBef>
              <a:spcAft>
                <a:spcPts val="0"/>
              </a:spcAft>
              <a:buClr>
                <a:schemeClr val="dk1"/>
              </a:buClr>
              <a:buSzPts val="1680"/>
              <a:buNone/>
              <a:defRPr sz="1679" b="1"/>
            </a:lvl7pPr>
            <a:lvl8pPr marL="3657600" lvl="7" indent="-228600" algn="l">
              <a:lnSpc>
                <a:spcPct val="100000"/>
              </a:lnSpc>
              <a:spcBef>
                <a:spcPts val="336"/>
              </a:spcBef>
              <a:spcAft>
                <a:spcPts val="0"/>
              </a:spcAft>
              <a:buClr>
                <a:schemeClr val="dk1"/>
              </a:buClr>
              <a:buSzPts val="1680"/>
              <a:buNone/>
              <a:defRPr sz="1679" b="1"/>
            </a:lvl8pPr>
            <a:lvl9pPr marL="4114800" lvl="8" indent="-228600" algn="l">
              <a:lnSpc>
                <a:spcPct val="100000"/>
              </a:lnSpc>
              <a:spcBef>
                <a:spcPts val="336"/>
              </a:spcBef>
              <a:spcAft>
                <a:spcPts val="0"/>
              </a:spcAft>
              <a:buClr>
                <a:schemeClr val="dk1"/>
              </a:buClr>
              <a:buSzPts val="1680"/>
              <a:buNone/>
              <a:defRPr sz="1679" b="1"/>
            </a:lvl9pPr>
          </a:lstStyle>
          <a:p>
            <a:endParaRPr/>
          </a:p>
        </p:txBody>
      </p:sp>
      <p:sp>
        <p:nvSpPr>
          <p:cNvPr id="41" name="Google Shape;41;p9"/>
          <p:cNvSpPr txBox="1">
            <a:spLocks noGrp="1"/>
          </p:cNvSpPr>
          <p:nvPr>
            <p:ph type="body" idx="4"/>
          </p:nvPr>
        </p:nvSpPr>
        <p:spPr>
          <a:xfrm>
            <a:off x="6193369" y="2174875"/>
            <a:ext cx="5389033" cy="3951288"/>
          </a:xfrm>
          <a:prstGeom prst="rect">
            <a:avLst/>
          </a:prstGeom>
          <a:noFill/>
          <a:ln>
            <a:noFill/>
          </a:ln>
        </p:spPr>
        <p:txBody>
          <a:bodyPr spcFirstLastPara="1" wrap="square" lIns="81025" tIns="40500" rIns="81025" bIns="40500" anchor="t" anchorCtr="0">
            <a:normAutofit/>
          </a:bodyPr>
          <a:lstStyle>
            <a:lvl1pPr marL="457200" lvl="0" indent="-388620" algn="l">
              <a:lnSpc>
                <a:spcPct val="100000"/>
              </a:lnSpc>
              <a:spcBef>
                <a:spcPts val="504"/>
              </a:spcBef>
              <a:spcAft>
                <a:spcPts val="0"/>
              </a:spcAft>
              <a:buClr>
                <a:schemeClr val="dk1"/>
              </a:buClr>
              <a:buSzPts val="2520"/>
              <a:buChar char="•"/>
              <a:defRPr sz="2520"/>
            </a:lvl1pPr>
            <a:lvl2pPr marL="914400" lvl="1" indent="-365760" algn="l">
              <a:lnSpc>
                <a:spcPct val="100000"/>
              </a:lnSpc>
              <a:spcBef>
                <a:spcPts val="432"/>
              </a:spcBef>
              <a:spcAft>
                <a:spcPts val="0"/>
              </a:spcAft>
              <a:buClr>
                <a:schemeClr val="dk1"/>
              </a:buClr>
              <a:buSzPts val="2160"/>
              <a:buChar char="–"/>
              <a:defRPr sz="2160"/>
            </a:lvl2pPr>
            <a:lvl3pPr marL="1371600" lvl="2" indent="-350519" algn="l">
              <a:lnSpc>
                <a:spcPct val="100000"/>
              </a:lnSpc>
              <a:spcBef>
                <a:spcPts val="384"/>
              </a:spcBef>
              <a:spcAft>
                <a:spcPts val="0"/>
              </a:spcAft>
              <a:buClr>
                <a:schemeClr val="dk1"/>
              </a:buClr>
              <a:buSzPts val="1920"/>
              <a:buChar char="•"/>
              <a:defRPr sz="1920"/>
            </a:lvl3pPr>
            <a:lvl4pPr marL="1828800" lvl="3" indent="-335280" algn="l">
              <a:lnSpc>
                <a:spcPct val="100000"/>
              </a:lnSpc>
              <a:spcBef>
                <a:spcPts val="336"/>
              </a:spcBef>
              <a:spcAft>
                <a:spcPts val="0"/>
              </a:spcAft>
              <a:buClr>
                <a:schemeClr val="dk1"/>
              </a:buClr>
              <a:buSzPts val="1680"/>
              <a:buChar char="–"/>
              <a:defRPr sz="1679"/>
            </a:lvl4pPr>
            <a:lvl5pPr marL="2286000" lvl="4" indent="-335279" algn="l">
              <a:lnSpc>
                <a:spcPct val="100000"/>
              </a:lnSpc>
              <a:spcBef>
                <a:spcPts val="336"/>
              </a:spcBef>
              <a:spcAft>
                <a:spcPts val="0"/>
              </a:spcAft>
              <a:buClr>
                <a:schemeClr val="dk1"/>
              </a:buClr>
              <a:buSzPts val="1680"/>
              <a:buChar char="»"/>
              <a:defRPr sz="1679"/>
            </a:lvl5pPr>
            <a:lvl6pPr marL="2743200" lvl="5" indent="-335279" algn="l">
              <a:lnSpc>
                <a:spcPct val="100000"/>
              </a:lnSpc>
              <a:spcBef>
                <a:spcPts val="336"/>
              </a:spcBef>
              <a:spcAft>
                <a:spcPts val="0"/>
              </a:spcAft>
              <a:buClr>
                <a:schemeClr val="dk1"/>
              </a:buClr>
              <a:buSzPts val="1680"/>
              <a:buChar char="•"/>
              <a:defRPr sz="1679"/>
            </a:lvl6pPr>
            <a:lvl7pPr marL="3200400" lvl="6" indent="-335279" algn="l">
              <a:lnSpc>
                <a:spcPct val="100000"/>
              </a:lnSpc>
              <a:spcBef>
                <a:spcPts val="336"/>
              </a:spcBef>
              <a:spcAft>
                <a:spcPts val="0"/>
              </a:spcAft>
              <a:buClr>
                <a:schemeClr val="dk1"/>
              </a:buClr>
              <a:buSzPts val="1680"/>
              <a:buChar char="•"/>
              <a:defRPr sz="1679"/>
            </a:lvl7pPr>
            <a:lvl8pPr marL="3657600" lvl="7" indent="-335279" algn="l">
              <a:lnSpc>
                <a:spcPct val="100000"/>
              </a:lnSpc>
              <a:spcBef>
                <a:spcPts val="336"/>
              </a:spcBef>
              <a:spcAft>
                <a:spcPts val="0"/>
              </a:spcAft>
              <a:buClr>
                <a:schemeClr val="dk1"/>
              </a:buClr>
              <a:buSzPts val="1680"/>
              <a:buChar char="•"/>
              <a:defRPr sz="1679"/>
            </a:lvl8pPr>
            <a:lvl9pPr marL="4114800" lvl="8" indent="-335279" algn="l">
              <a:lnSpc>
                <a:spcPct val="100000"/>
              </a:lnSpc>
              <a:spcBef>
                <a:spcPts val="336"/>
              </a:spcBef>
              <a:spcAft>
                <a:spcPts val="0"/>
              </a:spcAft>
              <a:buClr>
                <a:schemeClr val="dk1"/>
              </a:buClr>
              <a:buSzPts val="1680"/>
              <a:buChar char="•"/>
              <a:defRPr sz="1679"/>
            </a:lvl9pPr>
          </a:lstStyle>
          <a:p>
            <a:endParaRPr/>
          </a:p>
        </p:txBody>
      </p:sp>
      <p:sp>
        <p:nvSpPr>
          <p:cNvPr id="42" name="Google Shape;42;p9"/>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9"/>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9"/>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10"/>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7" name="Google Shape;47;p10"/>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10"/>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0"/>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11"/>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2" name="Google Shape;52;p11"/>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1"/>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12"/>
          <p:cNvSpPr txBox="1">
            <a:spLocks noGrp="1"/>
          </p:cNvSpPr>
          <p:nvPr>
            <p:ph type="title"/>
          </p:nvPr>
        </p:nvSpPr>
        <p:spPr>
          <a:xfrm>
            <a:off x="609601" y="273051"/>
            <a:ext cx="4011084" cy="1162050"/>
          </a:xfrm>
          <a:prstGeom prst="rect">
            <a:avLst/>
          </a:prstGeom>
          <a:noFill/>
          <a:ln>
            <a:noFill/>
          </a:ln>
        </p:spPr>
        <p:txBody>
          <a:bodyPr spcFirstLastPara="1" wrap="square" lIns="81025" tIns="40500" rIns="81025" bIns="40500" anchor="b" anchorCtr="0">
            <a:normAutofit/>
          </a:bodyPr>
          <a:lstStyle>
            <a:lvl1pPr lvl="0" algn="l">
              <a:lnSpc>
                <a:spcPct val="100000"/>
              </a:lnSpc>
              <a:spcBef>
                <a:spcPts val="0"/>
              </a:spcBef>
              <a:spcAft>
                <a:spcPts val="0"/>
              </a:spcAft>
              <a:buClr>
                <a:schemeClr val="dk1"/>
              </a:buClr>
              <a:buSzPts val="2160"/>
              <a:buFont typeface="Calibri"/>
              <a:buNone/>
              <a:defRPr sz="216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2"/>
          <p:cNvSpPr txBox="1">
            <a:spLocks noGrp="1"/>
          </p:cNvSpPr>
          <p:nvPr>
            <p:ph type="body" idx="1"/>
          </p:nvPr>
        </p:nvSpPr>
        <p:spPr>
          <a:xfrm>
            <a:off x="4766735" y="273052"/>
            <a:ext cx="6815667" cy="5853113"/>
          </a:xfrm>
          <a:prstGeom prst="rect">
            <a:avLst/>
          </a:prstGeom>
          <a:noFill/>
          <a:ln>
            <a:noFill/>
          </a:ln>
        </p:spPr>
        <p:txBody>
          <a:bodyPr spcFirstLastPara="1" wrap="square" lIns="81025" tIns="40500" rIns="81025" bIns="40500" anchor="t" anchorCtr="0">
            <a:normAutofit/>
          </a:bodyPr>
          <a:lstStyle>
            <a:lvl1pPr marL="457200" lvl="0" indent="-441960" algn="l">
              <a:lnSpc>
                <a:spcPct val="100000"/>
              </a:lnSpc>
              <a:spcBef>
                <a:spcPts val="672"/>
              </a:spcBef>
              <a:spcAft>
                <a:spcPts val="0"/>
              </a:spcAft>
              <a:buClr>
                <a:schemeClr val="dk1"/>
              </a:buClr>
              <a:buSzPts val="3360"/>
              <a:buChar char="•"/>
              <a:defRPr sz="3359"/>
            </a:lvl1pPr>
            <a:lvl2pPr marL="914400" lvl="1" indent="-419100" algn="l">
              <a:lnSpc>
                <a:spcPct val="100000"/>
              </a:lnSpc>
              <a:spcBef>
                <a:spcPts val="600"/>
              </a:spcBef>
              <a:spcAft>
                <a:spcPts val="0"/>
              </a:spcAft>
              <a:buClr>
                <a:schemeClr val="dk1"/>
              </a:buClr>
              <a:buSzPts val="3000"/>
              <a:buChar char="–"/>
              <a:defRPr sz="3000"/>
            </a:lvl2pPr>
            <a:lvl3pPr marL="1371600" lvl="2" indent="-388619" algn="l">
              <a:lnSpc>
                <a:spcPct val="100000"/>
              </a:lnSpc>
              <a:spcBef>
                <a:spcPts val="504"/>
              </a:spcBef>
              <a:spcAft>
                <a:spcPts val="0"/>
              </a:spcAft>
              <a:buClr>
                <a:schemeClr val="dk1"/>
              </a:buClr>
              <a:buSzPts val="2520"/>
              <a:buChar char="•"/>
              <a:defRPr sz="2520"/>
            </a:lvl3pPr>
            <a:lvl4pPr marL="1828800" lvl="3" indent="-365760" algn="l">
              <a:lnSpc>
                <a:spcPct val="100000"/>
              </a:lnSpc>
              <a:spcBef>
                <a:spcPts val="432"/>
              </a:spcBef>
              <a:spcAft>
                <a:spcPts val="0"/>
              </a:spcAft>
              <a:buClr>
                <a:schemeClr val="dk1"/>
              </a:buClr>
              <a:buSzPts val="2160"/>
              <a:buChar char="–"/>
              <a:defRPr sz="2160"/>
            </a:lvl4pPr>
            <a:lvl5pPr marL="2286000" lvl="4" indent="-365760" algn="l">
              <a:lnSpc>
                <a:spcPct val="100000"/>
              </a:lnSpc>
              <a:spcBef>
                <a:spcPts val="432"/>
              </a:spcBef>
              <a:spcAft>
                <a:spcPts val="0"/>
              </a:spcAft>
              <a:buClr>
                <a:schemeClr val="dk1"/>
              </a:buClr>
              <a:buSzPts val="2160"/>
              <a:buChar char="»"/>
              <a:defRPr sz="2160"/>
            </a:lvl5pPr>
            <a:lvl6pPr marL="2743200" lvl="5" indent="-365760" algn="l">
              <a:lnSpc>
                <a:spcPct val="100000"/>
              </a:lnSpc>
              <a:spcBef>
                <a:spcPts val="432"/>
              </a:spcBef>
              <a:spcAft>
                <a:spcPts val="0"/>
              </a:spcAft>
              <a:buClr>
                <a:schemeClr val="dk1"/>
              </a:buClr>
              <a:buSzPts val="2160"/>
              <a:buChar char="•"/>
              <a:defRPr sz="2160"/>
            </a:lvl6pPr>
            <a:lvl7pPr marL="3200400" lvl="6" indent="-365760" algn="l">
              <a:lnSpc>
                <a:spcPct val="100000"/>
              </a:lnSpc>
              <a:spcBef>
                <a:spcPts val="432"/>
              </a:spcBef>
              <a:spcAft>
                <a:spcPts val="0"/>
              </a:spcAft>
              <a:buClr>
                <a:schemeClr val="dk1"/>
              </a:buClr>
              <a:buSzPts val="2160"/>
              <a:buChar char="•"/>
              <a:defRPr sz="2160"/>
            </a:lvl7pPr>
            <a:lvl8pPr marL="3657600" lvl="7" indent="-365759" algn="l">
              <a:lnSpc>
                <a:spcPct val="100000"/>
              </a:lnSpc>
              <a:spcBef>
                <a:spcPts val="432"/>
              </a:spcBef>
              <a:spcAft>
                <a:spcPts val="0"/>
              </a:spcAft>
              <a:buClr>
                <a:schemeClr val="dk1"/>
              </a:buClr>
              <a:buSzPts val="2160"/>
              <a:buChar char="•"/>
              <a:defRPr sz="2160"/>
            </a:lvl8pPr>
            <a:lvl9pPr marL="4114800" lvl="8" indent="-365759" algn="l">
              <a:lnSpc>
                <a:spcPct val="100000"/>
              </a:lnSpc>
              <a:spcBef>
                <a:spcPts val="432"/>
              </a:spcBef>
              <a:spcAft>
                <a:spcPts val="0"/>
              </a:spcAft>
              <a:buClr>
                <a:schemeClr val="dk1"/>
              </a:buClr>
              <a:buSzPts val="2160"/>
              <a:buChar char="•"/>
              <a:defRPr sz="2160"/>
            </a:lvl9pPr>
          </a:lstStyle>
          <a:p>
            <a:endParaRPr/>
          </a:p>
        </p:txBody>
      </p:sp>
      <p:sp>
        <p:nvSpPr>
          <p:cNvPr id="57" name="Google Shape;57;p12"/>
          <p:cNvSpPr txBox="1">
            <a:spLocks noGrp="1"/>
          </p:cNvSpPr>
          <p:nvPr>
            <p:ph type="body" idx="2"/>
          </p:nvPr>
        </p:nvSpPr>
        <p:spPr>
          <a:xfrm>
            <a:off x="609601" y="1435102"/>
            <a:ext cx="4011084" cy="4691063"/>
          </a:xfrm>
          <a:prstGeom prst="rect">
            <a:avLst/>
          </a:prstGeom>
          <a:noFill/>
          <a:ln>
            <a:noFill/>
          </a:ln>
        </p:spPr>
        <p:txBody>
          <a:bodyPr spcFirstLastPara="1" wrap="square" lIns="81025" tIns="40500" rIns="81025" bIns="40500" anchor="t" anchorCtr="0">
            <a:normAutofit/>
          </a:bodyPr>
          <a:lstStyle>
            <a:lvl1pPr marL="457200" lvl="0" indent="-228600" algn="l">
              <a:lnSpc>
                <a:spcPct val="100000"/>
              </a:lnSpc>
              <a:spcBef>
                <a:spcPts val="288"/>
              </a:spcBef>
              <a:spcAft>
                <a:spcPts val="0"/>
              </a:spcAft>
              <a:buClr>
                <a:schemeClr val="dk1"/>
              </a:buClr>
              <a:buSzPts val="1440"/>
              <a:buNone/>
              <a:defRPr sz="1440"/>
            </a:lvl1pPr>
            <a:lvl2pPr marL="914400" lvl="1" indent="-228600" algn="l">
              <a:lnSpc>
                <a:spcPct val="100000"/>
              </a:lnSpc>
              <a:spcBef>
                <a:spcPts val="264"/>
              </a:spcBef>
              <a:spcAft>
                <a:spcPts val="0"/>
              </a:spcAft>
              <a:buClr>
                <a:schemeClr val="dk1"/>
              </a:buClr>
              <a:buSzPts val="1320"/>
              <a:buNone/>
              <a:defRPr sz="1320"/>
            </a:lvl2pPr>
            <a:lvl3pPr marL="1371600" lvl="2" indent="-228600" algn="l">
              <a:lnSpc>
                <a:spcPct val="100000"/>
              </a:lnSpc>
              <a:spcBef>
                <a:spcPts val="216"/>
              </a:spcBef>
              <a:spcAft>
                <a:spcPts val="0"/>
              </a:spcAft>
              <a:buClr>
                <a:schemeClr val="dk1"/>
              </a:buClr>
              <a:buSzPts val="1080"/>
              <a:buNone/>
              <a:defRPr sz="1080"/>
            </a:lvl3pPr>
            <a:lvl4pPr marL="1828800" lvl="3" indent="-228600" algn="l">
              <a:lnSpc>
                <a:spcPct val="100000"/>
              </a:lnSpc>
              <a:spcBef>
                <a:spcPts val="192"/>
              </a:spcBef>
              <a:spcAft>
                <a:spcPts val="0"/>
              </a:spcAft>
              <a:buClr>
                <a:schemeClr val="dk1"/>
              </a:buClr>
              <a:buSzPts val="960"/>
              <a:buNone/>
              <a:defRPr sz="960"/>
            </a:lvl4pPr>
            <a:lvl5pPr marL="2286000" lvl="4" indent="-228600" algn="l">
              <a:lnSpc>
                <a:spcPct val="100000"/>
              </a:lnSpc>
              <a:spcBef>
                <a:spcPts val="192"/>
              </a:spcBef>
              <a:spcAft>
                <a:spcPts val="0"/>
              </a:spcAft>
              <a:buClr>
                <a:schemeClr val="dk1"/>
              </a:buClr>
              <a:buSzPts val="960"/>
              <a:buNone/>
              <a:defRPr sz="960"/>
            </a:lvl5pPr>
            <a:lvl6pPr marL="2743200" lvl="5" indent="-228600" algn="l">
              <a:lnSpc>
                <a:spcPct val="100000"/>
              </a:lnSpc>
              <a:spcBef>
                <a:spcPts val="192"/>
              </a:spcBef>
              <a:spcAft>
                <a:spcPts val="0"/>
              </a:spcAft>
              <a:buClr>
                <a:schemeClr val="dk1"/>
              </a:buClr>
              <a:buSzPts val="960"/>
              <a:buNone/>
              <a:defRPr sz="960"/>
            </a:lvl6pPr>
            <a:lvl7pPr marL="3200400" lvl="6" indent="-228600" algn="l">
              <a:lnSpc>
                <a:spcPct val="100000"/>
              </a:lnSpc>
              <a:spcBef>
                <a:spcPts val="192"/>
              </a:spcBef>
              <a:spcAft>
                <a:spcPts val="0"/>
              </a:spcAft>
              <a:buClr>
                <a:schemeClr val="dk1"/>
              </a:buClr>
              <a:buSzPts val="960"/>
              <a:buNone/>
              <a:defRPr sz="960"/>
            </a:lvl7pPr>
            <a:lvl8pPr marL="3657600" lvl="7" indent="-228600" algn="l">
              <a:lnSpc>
                <a:spcPct val="100000"/>
              </a:lnSpc>
              <a:spcBef>
                <a:spcPts val="192"/>
              </a:spcBef>
              <a:spcAft>
                <a:spcPts val="0"/>
              </a:spcAft>
              <a:buClr>
                <a:schemeClr val="dk1"/>
              </a:buClr>
              <a:buSzPts val="960"/>
              <a:buNone/>
              <a:defRPr sz="960"/>
            </a:lvl8pPr>
            <a:lvl9pPr marL="4114800" lvl="8" indent="-228600" algn="l">
              <a:lnSpc>
                <a:spcPct val="100000"/>
              </a:lnSpc>
              <a:spcBef>
                <a:spcPts val="192"/>
              </a:spcBef>
              <a:spcAft>
                <a:spcPts val="0"/>
              </a:spcAft>
              <a:buClr>
                <a:schemeClr val="dk1"/>
              </a:buClr>
              <a:buSzPts val="960"/>
              <a:buNone/>
              <a:defRPr sz="960"/>
            </a:lvl9pPr>
          </a:lstStyle>
          <a:p>
            <a:endParaRPr/>
          </a:p>
        </p:txBody>
      </p:sp>
      <p:sp>
        <p:nvSpPr>
          <p:cNvPr id="58" name="Google Shape;58;p12"/>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2"/>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12"/>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2389717" y="4800600"/>
            <a:ext cx="7315200" cy="566738"/>
          </a:xfrm>
          <a:prstGeom prst="rect">
            <a:avLst/>
          </a:prstGeom>
          <a:noFill/>
          <a:ln>
            <a:noFill/>
          </a:ln>
        </p:spPr>
        <p:txBody>
          <a:bodyPr spcFirstLastPara="1" wrap="square" lIns="81025" tIns="40500" rIns="81025" bIns="40500" anchor="b" anchorCtr="0">
            <a:normAutofit/>
          </a:bodyPr>
          <a:lstStyle>
            <a:lvl1pPr lvl="0" algn="l">
              <a:lnSpc>
                <a:spcPct val="100000"/>
              </a:lnSpc>
              <a:spcBef>
                <a:spcPts val="0"/>
              </a:spcBef>
              <a:spcAft>
                <a:spcPts val="0"/>
              </a:spcAft>
              <a:buClr>
                <a:schemeClr val="dk1"/>
              </a:buClr>
              <a:buSzPts val="2160"/>
              <a:buFont typeface="Calibri"/>
              <a:buNone/>
              <a:defRPr sz="216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3"/>
          <p:cNvSpPr>
            <a:spLocks noGrp="1"/>
          </p:cNvSpPr>
          <p:nvPr>
            <p:ph type="pic" idx="2"/>
          </p:nvPr>
        </p:nvSpPr>
        <p:spPr>
          <a:xfrm>
            <a:off x="2389717" y="612775"/>
            <a:ext cx="7315200" cy="4114800"/>
          </a:xfrm>
          <a:prstGeom prst="rect">
            <a:avLst/>
          </a:prstGeom>
          <a:noFill/>
          <a:ln>
            <a:noFill/>
          </a:ln>
        </p:spPr>
      </p:sp>
      <p:sp>
        <p:nvSpPr>
          <p:cNvPr id="64" name="Google Shape;64;p13"/>
          <p:cNvSpPr txBox="1">
            <a:spLocks noGrp="1"/>
          </p:cNvSpPr>
          <p:nvPr>
            <p:ph type="body" idx="1"/>
          </p:nvPr>
        </p:nvSpPr>
        <p:spPr>
          <a:xfrm>
            <a:off x="2389717" y="5367338"/>
            <a:ext cx="7315200" cy="804862"/>
          </a:xfrm>
          <a:prstGeom prst="rect">
            <a:avLst/>
          </a:prstGeom>
          <a:noFill/>
          <a:ln>
            <a:noFill/>
          </a:ln>
        </p:spPr>
        <p:txBody>
          <a:bodyPr spcFirstLastPara="1" wrap="square" lIns="81025" tIns="40500" rIns="81025" bIns="40500" anchor="t" anchorCtr="0">
            <a:normAutofit/>
          </a:bodyPr>
          <a:lstStyle>
            <a:lvl1pPr marL="457200" lvl="0" indent="-228600" algn="l">
              <a:lnSpc>
                <a:spcPct val="100000"/>
              </a:lnSpc>
              <a:spcBef>
                <a:spcPts val="288"/>
              </a:spcBef>
              <a:spcAft>
                <a:spcPts val="0"/>
              </a:spcAft>
              <a:buClr>
                <a:schemeClr val="dk1"/>
              </a:buClr>
              <a:buSzPts val="1440"/>
              <a:buNone/>
              <a:defRPr sz="1440"/>
            </a:lvl1pPr>
            <a:lvl2pPr marL="914400" lvl="1" indent="-228600" algn="l">
              <a:lnSpc>
                <a:spcPct val="100000"/>
              </a:lnSpc>
              <a:spcBef>
                <a:spcPts val="264"/>
              </a:spcBef>
              <a:spcAft>
                <a:spcPts val="0"/>
              </a:spcAft>
              <a:buClr>
                <a:schemeClr val="dk1"/>
              </a:buClr>
              <a:buSzPts val="1320"/>
              <a:buNone/>
              <a:defRPr sz="1320"/>
            </a:lvl2pPr>
            <a:lvl3pPr marL="1371600" lvl="2" indent="-228600" algn="l">
              <a:lnSpc>
                <a:spcPct val="100000"/>
              </a:lnSpc>
              <a:spcBef>
                <a:spcPts val="216"/>
              </a:spcBef>
              <a:spcAft>
                <a:spcPts val="0"/>
              </a:spcAft>
              <a:buClr>
                <a:schemeClr val="dk1"/>
              </a:buClr>
              <a:buSzPts val="1080"/>
              <a:buNone/>
              <a:defRPr sz="1080"/>
            </a:lvl3pPr>
            <a:lvl4pPr marL="1828800" lvl="3" indent="-228600" algn="l">
              <a:lnSpc>
                <a:spcPct val="100000"/>
              </a:lnSpc>
              <a:spcBef>
                <a:spcPts val="192"/>
              </a:spcBef>
              <a:spcAft>
                <a:spcPts val="0"/>
              </a:spcAft>
              <a:buClr>
                <a:schemeClr val="dk1"/>
              </a:buClr>
              <a:buSzPts val="960"/>
              <a:buNone/>
              <a:defRPr sz="960"/>
            </a:lvl4pPr>
            <a:lvl5pPr marL="2286000" lvl="4" indent="-228600" algn="l">
              <a:lnSpc>
                <a:spcPct val="100000"/>
              </a:lnSpc>
              <a:spcBef>
                <a:spcPts val="192"/>
              </a:spcBef>
              <a:spcAft>
                <a:spcPts val="0"/>
              </a:spcAft>
              <a:buClr>
                <a:schemeClr val="dk1"/>
              </a:buClr>
              <a:buSzPts val="960"/>
              <a:buNone/>
              <a:defRPr sz="960"/>
            </a:lvl5pPr>
            <a:lvl6pPr marL="2743200" lvl="5" indent="-228600" algn="l">
              <a:lnSpc>
                <a:spcPct val="100000"/>
              </a:lnSpc>
              <a:spcBef>
                <a:spcPts val="192"/>
              </a:spcBef>
              <a:spcAft>
                <a:spcPts val="0"/>
              </a:spcAft>
              <a:buClr>
                <a:schemeClr val="dk1"/>
              </a:buClr>
              <a:buSzPts val="960"/>
              <a:buNone/>
              <a:defRPr sz="960"/>
            </a:lvl6pPr>
            <a:lvl7pPr marL="3200400" lvl="6" indent="-228600" algn="l">
              <a:lnSpc>
                <a:spcPct val="100000"/>
              </a:lnSpc>
              <a:spcBef>
                <a:spcPts val="192"/>
              </a:spcBef>
              <a:spcAft>
                <a:spcPts val="0"/>
              </a:spcAft>
              <a:buClr>
                <a:schemeClr val="dk1"/>
              </a:buClr>
              <a:buSzPts val="960"/>
              <a:buNone/>
              <a:defRPr sz="960"/>
            </a:lvl7pPr>
            <a:lvl8pPr marL="3657600" lvl="7" indent="-228600" algn="l">
              <a:lnSpc>
                <a:spcPct val="100000"/>
              </a:lnSpc>
              <a:spcBef>
                <a:spcPts val="192"/>
              </a:spcBef>
              <a:spcAft>
                <a:spcPts val="0"/>
              </a:spcAft>
              <a:buClr>
                <a:schemeClr val="dk1"/>
              </a:buClr>
              <a:buSzPts val="960"/>
              <a:buNone/>
              <a:defRPr sz="960"/>
            </a:lvl8pPr>
            <a:lvl9pPr marL="4114800" lvl="8" indent="-228600" algn="l">
              <a:lnSpc>
                <a:spcPct val="100000"/>
              </a:lnSpc>
              <a:spcBef>
                <a:spcPts val="192"/>
              </a:spcBef>
              <a:spcAft>
                <a:spcPts val="0"/>
              </a:spcAft>
              <a:buClr>
                <a:schemeClr val="dk1"/>
              </a:buClr>
              <a:buSzPts val="960"/>
              <a:buNone/>
              <a:defRPr sz="960"/>
            </a:lvl9pPr>
          </a:lstStyle>
          <a:p>
            <a:endParaRPr/>
          </a:p>
        </p:txBody>
      </p:sp>
      <p:sp>
        <p:nvSpPr>
          <p:cNvPr id="65" name="Google Shape;65;p13"/>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3"/>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7" name="Google Shape;67;p13"/>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14"/>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14"/>
          <p:cNvSpPr txBox="1">
            <a:spLocks noGrp="1"/>
          </p:cNvSpPr>
          <p:nvPr>
            <p:ph type="body" idx="1"/>
          </p:nvPr>
        </p:nvSpPr>
        <p:spPr>
          <a:xfrm rot="5400000">
            <a:off x="3833019" y="-1623218"/>
            <a:ext cx="4525963" cy="10972800"/>
          </a:xfrm>
          <a:prstGeom prst="rect">
            <a:avLst/>
          </a:prstGeom>
          <a:noFill/>
          <a:ln>
            <a:noFill/>
          </a:ln>
        </p:spPr>
        <p:txBody>
          <a:bodyPr spcFirstLastPara="1" wrap="square" lIns="81025" tIns="40500" rIns="81025" bIns="405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1" name="Google Shape;71;p14"/>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4"/>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14"/>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15"/>
          <p:cNvSpPr txBox="1">
            <a:spLocks noGrp="1"/>
          </p:cNvSpPr>
          <p:nvPr>
            <p:ph type="title"/>
          </p:nvPr>
        </p:nvSpPr>
        <p:spPr>
          <a:xfrm rot="5400000">
            <a:off x="7285038" y="1828803"/>
            <a:ext cx="5851525" cy="2743200"/>
          </a:xfrm>
          <a:prstGeom prst="rect">
            <a:avLst/>
          </a:prstGeom>
          <a:noFill/>
          <a:ln>
            <a:noFill/>
          </a:ln>
        </p:spPr>
        <p:txBody>
          <a:bodyPr spcFirstLastPara="1" wrap="square" lIns="81025" tIns="40500" rIns="81025" bIns="405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5"/>
          <p:cNvSpPr txBox="1">
            <a:spLocks noGrp="1"/>
          </p:cNvSpPr>
          <p:nvPr>
            <p:ph type="body" idx="1"/>
          </p:nvPr>
        </p:nvSpPr>
        <p:spPr>
          <a:xfrm rot="5400000">
            <a:off x="1697038" y="-812797"/>
            <a:ext cx="5851525" cy="8026400"/>
          </a:xfrm>
          <a:prstGeom prst="rect">
            <a:avLst/>
          </a:prstGeom>
          <a:noFill/>
          <a:ln>
            <a:noFill/>
          </a:ln>
        </p:spPr>
        <p:txBody>
          <a:bodyPr spcFirstLastPara="1" wrap="square" lIns="81025" tIns="40500" rIns="81025" bIns="405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77" name="Google Shape;77;p15"/>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15"/>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15"/>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a:blip r:embed="rId13">
            <a:alphaModFix/>
          </a:blip>
          <a:stretch>
            <a:fillRect/>
          </a:stretch>
        </a:blipFill>
        <a:effectLst/>
      </p:bgPr>
    </p:bg>
    <p:spTree>
      <p:nvGrpSpPr>
        <p:cNvPr id="1" name="Shape 5"/>
        <p:cNvGrpSpPr/>
        <p:nvPr/>
      </p:nvGrpSpPr>
      <p:grpSpPr>
        <a:xfrm>
          <a:off x="0" y="0"/>
          <a:ext cx="0" cy="0"/>
          <a:chOff x="0" y="0"/>
          <a:chExt cx="0" cy="0"/>
        </a:xfrm>
      </p:grpSpPr>
      <p:sp>
        <p:nvSpPr>
          <p:cNvPr id="6" name="Google Shape;6;p4"/>
          <p:cNvSpPr txBox="1">
            <a:spLocks noGrp="1"/>
          </p:cNvSpPr>
          <p:nvPr>
            <p:ph type="title"/>
          </p:nvPr>
        </p:nvSpPr>
        <p:spPr>
          <a:xfrm>
            <a:off x="609600" y="274638"/>
            <a:ext cx="10972800" cy="1143000"/>
          </a:xfrm>
          <a:prstGeom prst="rect">
            <a:avLst/>
          </a:prstGeom>
          <a:noFill/>
          <a:ln>
            <a:noFill/>
          </a:ln>
        </p:spPr>
        <p:txBody>
          <a:bodyPr spcFirstLastPara="1" wrap="square" lIns="81025" tIns="40500" rIns="81025" bIns="40500" anchor="ctr" anchorCtr="0">
            <a:normAutofit/>
          </a:bodyPr>
          <a:lstStyle>
            <a:lvl1pPr marR="0" lvl="0" algn="ctr" rtl="0">
              <a:lnSpc>
                <a:spcPct val="100000"/>
              </a:lnSpc>
              <a:spcBef>
                <a:spcPts val="0"/>
              </a:spcBef>
              <a:spcAft>
                <a:spcPts val="0"/>
              </a:spcAft>
              <a:buClr>
                <a:schemeClr val="dk1"/>
              </a:buClr>
              <a:buSzPts val="4680"/>
              <a:buFont typeface="Calibri"/>
              <a:buNone/>
              <a:defRPr sz="468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7" name="Google Shape;7;p4"/>
          <p:cNvSpPr txBox="1">
            <a:spLocks noGrp="1"/>
          </p:cNvSpPr>
          <p:nvPr>
            <p:ph type="body" idx="1"/>
          </p:nvPr>
        </p:nvSpPr>
        <p:spPr>
          <a:xfrm>
            <a:off x="609600" y="1600201"/>
            <a:ext cx="10972800" cy="4525963"/>
          </a:xfrm>
          <a:prstGeom prst="rect">
            <a:avLst/>
          </a:prstGeom>
          <a:noFill/>
          <a:ln>
            <a:noFill/>
          </a:ln>
        </p:spPr>
        <p:txBody>
          <a:bodyPr spcFirstLastPara="1" wrap="square" lIns="81025" tIns="40500" rIns="81025" bIns="40500" anchor="t" anchorCtr="0">
            <a:normAutofit/>
          </a:bodyPr>
          <a:lstStyle>
            <a:lvl1pPr marL="457200" marR="0" lvl="0" indent="-441960" algn="l" rtl="0">
              <a:lnSpc>
                <a:spcPct val="100000"/>
              </a:lnSpc>
              <a:spcBef>
                <a:spcPts val="672"/>
              </a:spcBef>
              <a:spcAft>
                <a:spcPts val="0"/>
              </a:spcAft>
              <a:buClr>
                <a:schemeClr val="dk1"/>
              </a:buClr>
              <a:buSzPts val="3360"/>
              <a:buFont typeface="Arial"/>
              <a:buChar char="•"/>
              <a:defRPr sz="3359" b="0" i="0" u="none" strike="noStrike" cap="none">
                <a:solidFill>
                  <a:schemeClr val="dk1"/>
                </a:solidFill>
                <a:latin typeface="Calibri"/>
                <a:ea typeface="Calibri"/>
                <a:cs typeface="Calibri"/>
                <a:sym typeface="Calibri"/>
              </a:defRPr>
            </a:lvl1pPr>
            <a:lvl2pPr marL="914400" marR="0" lvl="1" indent="-419100" algn="l" rtl="0">
              <a:lnSpc>
                <a:spcPct val="100000"/>
              </a:lnSpc>
              <a:spcBef>
                <a:spcPts val="600"/>
              </a:spcBef>
              <a:spcAft>
                <a:spcPts val="0"/>
              </a:spcAft>
              <a:buClr>
                <a:schemeClr val="dk1"/>
              </a:buClr>
              <a:buSzPts val="3000"/>
              <a:buFont typeface="Arial"/>
              <a:buChar char="–"/>
              <a:defRPr sz="3000" b="0" i="0" u="none" strike="noStrike" cap="none">
                <a:solidFill>
                  <a:schemeClr val="dk1"/>
                </a:solidFill>
                <a:latin typeface="Calibri"/>
                <a:ea typeface="Calibri"/>
                <a:cs typeface="Calibri"/>
                <a:sym typeface="Calibri"/>
              </a:defRPr>
            </a:lvl2pPr>
            <a:lvl3pPr marL="1371600" marR="0" lvl="2" indent="-388619" algn="l" rtl="0">
              <a:lnSpc>
                <a:spcPct val="100000"/>
              </a:lnSpc>
              <a:spcBef>
                <a:spcPts val="504"/>
              </a:spcBef>
              <a:spcAft>
                <a:spcPts val="0"/>
              </a:spcAft>
              <a:buClr>
                <a:schemeClr val="dk1"/>
              </a:buClr>
              <a:buSzPts val="2520"/>
              <a:buFont typeface="Arial"/>
              <a:buChar char="•"/>
              <a:defRPr sz="2520" b="0" i="0" u="none" strike="noStrike" cap="none">
                <a:solidFill>
                  <a:schemeClr val="dk1"/>
                </a:solidFill>
                <a:latin typeface="Calibri"/>
                <a:ea typeface="Calibri"/>
                <a:cs typeface="Calibri"/>
                <a:sym typeface="Calibri"/>
              </a:defRPr>
            </a:lvl3pPr>
            <a:lvl4pPr marL="1828800" marR="0" lvl="3" indent="-365760"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4pPr>
            <a:lvl5pPr marL="2286000" marR="0" lvl="4" indent="-365760"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5pPr>
            <a:lvl6pPr marL="2743200" marR="0" lvl="5" indent="-365760"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6pPr>
            <a:lvl7pPr marL="3200400" marR="0" lvl="6" indent="-365760"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7pPr>
            <a:lvl8pPr marL="3657600" marR="0" lvl="7" indent="-365759"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8pPr>
            <a:lvl9pPr marL="4114800" marR="0" lvl="8" indent="-365759" algn="l" rtl="0">
              <a:lnSpc>
                <a:spcPct val="100000"/>
              </a:lnSpc>
              <a:spcBef>
                <a:spcPts val="432"/>
              </a:spcBef>
              <a:spcAft>
                <a:spcPts val="0"/>
              </a:spcAft>
              <a:buClr>
                <a:schemeClr val="dk1"/>
              </a:buClr>
              <a:buSzPts val="2160"/>
              <a:buFont typeface="Arial"/>
              <a:buChar char="•"/>
              <a:defRPr sz="2160" b="0" i="0" u="none" strike="noStrike" cap="none">
                <a:solidFill>
                  <a:schemeClr val="dk1"/>
                </a:solidFill>
                <a:latin typeface="Calibri"/>
                <a:ea typeface="Calibri"/>
                <a:cs typeface="Calibri"/>
                <a:sym typeface="Calibri"/>
              </a:defRPr>
            </a:lvl9pPr>
          </a:lstStyle>
          <a:p>
            <a:endParaRPr/>
          </a:p>
        </p:txBody>
      </p:sp>
      <p:sp>
        <p:nvSpPr>
          <p:cNvPr id="8" name="Google Shape;8;p4"/>
          <p:cNvSpPr txBox="1">
            <a:spLocks noGrp="1"/>
          </p:cNvSpPr>
          <p:nvPr>
            <p:ph type="dt" idx="10"/>
          </p:nvPr>
        </p:nvSpPr>
        <p:spPr>
          <a:xfrm>
            <a:off x="609600" y="6356353"/>
            <a:ext cx="2844800" cy="365125"/>
          </a:xfrm>
          <a:prstGeom prst="rect">
            <a:avLst/>
          </a:prstGeom>
          <a:noFill/>
          <a:ln>
            <a:noFill/>
          </a:ln>
        </p:spPr>
        <p:txBody>
          <a:bodyPr spcFirstLastPara="1" wrap="square" lIns="81025" tIns="40500" rIns="81025" bIns="40500" anchor="ctr" anchorCtr="0">
            <a:noAutofit/>
          </a:bodyPr>
          <a:lstStyle>
            <a:lvl1pPr marR="0" lvl="0" algn="l" rtl="0">
              <a:lnSpc>
                <a:spcPct val="100000"/>
              </a:lnSpc>
              <a:spcBef>
                <a:spcPts val="0"/>
              </a:spcBef>
              <a:spcAft>
                <a:spcPts val="0"/>
              </a:spcAft>
              <a:buClr>
                <a:srgbClr val="000000"/>
              </a:buClr>
              <a:buSzPts val="1400"/>
              <a:buFont typeface="Arial"/>
              <a:buNone/>
              <a:defRPr sz="132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9pPr>
          </a:lstStyle>
          <a:p>
            <a:endParaRPr/>
          </a:p>
        </p:txBody>
      </p:sp>
      <p:sp>
        <p:nvSpPr>
          <p:cNvPr id="9" name="Google Shape;9;p4"/>
          <p:cNvSpPr txBox="1">
            <a:spLocks noGrp="1"/>
          </p:cNvSpPr>
          <p:nvPr>
            <p:ph type="ftr" idx="11"/>
          </p:nvPr>
        </p:nvSpPr>
        <p:spPr>
          <a:xfrm>
            <a:off x="4165600" y="6356353"/>
            <a:ext cx="3860800" cy="365125"/>
          </a:xfrm>
          <a:prstGeom prst="rect">
            <a:avLst/>
          </a:prstGeom>
          <a:noFill/>
          <a:ln>
            <a:noFill/>
          </a:ln>
        </p:spPr>
        <p:txBody>
          <a:bodyPr spcFirstLastPara="1" wrap="square" lIns="81025" tIns="40500" rIns="81025" bIns="40500" anchor="ctr" anchorCtr="0">
            <a:noAutofit/>
          </a:bodyPr>
          <a:lstStyle>
            <a:lvl1pPr marR="0" lvl="0" algn="ctr" rtl="0">
              <a:lnSpc>
                <a:spcPct val="100000"/>
              </a:lnSpc>
              <a:spcBef>
                <a:spcPts val="0"/>
              </a:spcBef>
              <a:spcAft>
                <a:spcPts val="0"/>
              </a:spcAft>
              <a:buClr>
                <a:srgbClr val="000000"/>
              </a:buClr>
              <a:buSzPts val="1400"/>
              <a:buFont typeface="Arial"/>
              <a:buNone/>
              <a:defRPr sz="132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2051" b="0" i="0" u="none" strike="noStrike" cap="none">
                <a:solidFill>
                  <a:schemeClr val="dk1"/>
                </a:solidFill>
                <a:latin typeface="Calibri"/>
                <a:ea typeface="Calibri"/>
                <a:cs typeface="Calibri"/>
                <a:sym typeface="Calibri"/>
              </a:defRPr>
            </a:lvl9pPr>
          </a:lstStyle>
          <a:p>
            <a:endParaRPr/>
          </a:p>
        </p:txBody>
      </p:sp>
      <p:sp>
        <p:nvSpPr>
          <p:cNvPr id="10" name="Google Shape;10;p4"/>
          <p:cNvSpPr txBox="1">
            <a:spLocks noGrp="1"/>
          </p:cNvSpPr>
          <p:nvPr>
            <p:ph type="sldNum" idx="12"/>
          </p:nvPr>
        </p:nvSpPr>
        <p:spPr>
          <a:xfrm>
            <a:off x="8737600" y="6356353"/>
            <a:ext cx="2844800" cy="365125"/>
          </a:xfrm>
          <a:prstGeom prst="rect">
            <a:avLst/>
          </a:prstGeom>
          <a:noFill/>
          <a:ln>
            <a:noFill/>
          </a:ln>
        </p:spPr>
        <p:txBody>
          <a:bodyPr spcFirstLastPara="1" wrap="square" lIns="81025" tIns="40500" rIns="81025" bIns="40500" anchor="ctr" anchorCtr="0">
            <a:noAutofit/>
          </a:bodyPr>
          <a:lstStyle>
            <a:lvl1pPr marL="0" marR="0" lvl="0"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320"/>
              <a:buFont typeface="Arial"/>
              <a:buNone/>
              <a:defRPr sz="132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pPr marL="0" lvl="0" indent="0" algn="r" rtl="0">
                <a:spcBef>
                  <a:spcPts val="0"/>
                </a:spcBef>
                <a:spcAft>
                  <a:spcPts val="0"/>
                </a:spcAft>
                <a:buNone/>
              </a:pPr>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5.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52.jpe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2" Type="http://schemas.openxmlformats.org/officeDocument/2006/relationships/image" Target="../media/image59.jp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6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83"/>
        <p:cNvGrpSpPr/>
        <p:nvPr/>
      </p:nvGrpSpPr>
      <p:grpSpPr>
        <a:xfrm>
          <a:off x="0" y="0"/>
          <a:ext cx="0" cy="0"/>
          <a:chOff x="0" y="0"/>
          <a:chExt cx="0" cy="0"/>
        </a:xfrm>
      </p:grpSpPr>
      <p:sp>
        <p:nvSpPr>
          <p:cNvPr id="84" name="Google Shape;84;p1"/>
          <p:cNvSpPr txBox="1">
            <a:spLocks noGrp="1"/>
          </p:cNvSpPr>
          <p:nvPr>
            <p:ph type="ctrTitle"/>
          </p:nvPr>
        </p:nvSpPr>
        <p:spPr>
          <a:xfrm>
            <a:off x="990600" y="3276600"/>
            <a:ext cx="10363200" cy="1470025"/>
          </a:xfrm>
          <a:prstGeom prst="rect">
            <a:avLst/>
          </a:prstGeom>
          <a:noFill/>
          <a:ln>
            <a:noFill/>
          </a:ln>
        </p:spPr>
        <p:txBody>
          <a:bodyPr spcFirstLastPara="1" wrap="square" lIns="81025" tIns="40500" rIns="81025" bIns="40500" anchor="ctr" anchorCtr="0">
            <a:normAutofit fontScale="90000"/>
          </a:bodyPr>
          <a:lstStyle/>
          <a:p>
            <a:pPr marL="0" lvl="0" indent="0" algn="ctr" rtl="0">
              <a:lnSpc>
                <a:spcPct val="100000"/>
              </a:lnSpc>
              <a:spcBef>
                <a:spcPts val="0"/>
              </a:spcBef>
              <a:spcAft>
                <a:spcPts val="0"/>
              </a:spcAft>
              <a:buSzPct val="96609"/>
              <a:buNone/>
            </a:pPr>
            <a:r>
              <a:rPr lang="en-US" dirty="0"/>
              <a:t>DBMS</a:t>
            </a:r>
            <a:br>
              <a:rPr lang="en-US" dirty="0"/>
            </a:br>
            <a:r>
              <a:rPr lang="en-US" dirty="0"/>
              <a:t>UNIT-1</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8049F7-ECA6-0F12-C8A9-93A6C0A36253}"/>
              </a:ext>
            </a:extLst>
          </p:cNvPr>
          <p:cNvSpPr>
            <a:spLocks noGrp="1"/>
          </p:cNvSpPr>
          <p:nvPr>
            <p:ph type="title"/>
          </p:nvPr>
        </p:nvSpPr>
        <p:spPr/>
        <p:txBody>
          <a:bodyPr/>
          <a:lstStyle/>
          <a:p>
            <a:r>
              <a:rPr lang="en-US" dirty="0"/>
              <a:t>DBMS	</a:t>
            </a:r>
            <a:endParaRPr lang="en-IN" dirty="0"/>
          </a:p>
        </p:txBody>
      </p:sp>
      <p:sp>
        <p:nvSpPr>
          <p:cNvPr id="3" name="Text Placeholder 2">
            <a:extLst>
              <a:ext uri="{FF2B5EF4-FFF2-40B4-BE49-F238E27FC236}">
                <a16:creationId xmlns:a16="http://schemas.microsoft.com/office/drawing/2014/main" id="{E3CA1EBA-E3D5-B0D4-48C6-B9998FE6AD9C}"/>
              </a:ext>
            </a:extLst>
          </p:cNvPr>
          <p:cNvSpPr>
            <a:spLocks noGrp="1"/>
          </p:cNvSpPr>
          <p:nvPr>
            <p:ph type="body" idx="1"/>
          </p:nvPr>
        </p:nvSpPr>
        <p:spPr/>
        <p:txBody>
          <a:bodyPr>
            <a:normAutofit/>
          </a:bodyPr>
          <a:lstStyle/>
          <a:p>
            <a:pPr marL="114300" indent="0" algn="ctr">
              <a:buNone/>
            </a:pPr>
            <a:r>
              <a:rPr lang="en-US" sz="4400" b="1" dirty="0"/>
              <a:t>DATABASE MANAGEMENT SYSTEM</a:t>
            </a:r>
          </a:p>
          <a:p>
            <a:r>
              <a:rPr lang="en-US" sz="4400" b="1" dirty="0"/>
              <a:t>Books</a:t>
            </a:r>
            <a:r>
              <a:rPr lang="en-US" sz="4400" dirty="0"/>
              <a:t>:</a:t>
            </a:r>
          </a:p>
          <a:p>
            <a:r>
              <a:rPr lang="en-US" sz="4400" i="1" dirty="0"/>
              <a:t>Database System Concepts</a:t>
            </a:r>
            <a:r>
              <a:rPr lang="en-US" sz="4400" dirty="0"/>
              <a:t> –Henry </a:t>
            </a:r>
            <a:r>
              <a:rPr lang="en-US" sz="4400" dirty="0" err="1"/>
              <a:t>F.Korth</a:t>
            </a:r>
            <a:r>
              <a:rPr lang="en-US" sz="4400" dirty="0"/>
              <a:t>, Silberschatz</a:t>
            </a:r>
          </a:p>
        </p:txBody>
      </p:sp>
    </p:spTree>
    <p:extLst>
      <p:ext uri="{BB962C8B-B14F-4D97-AF65-F5344CB8AC3E}">
        <p14:creationId xmlns:p14="http://schemas.microsoft.com/office/powerpoint/2010/main" val="126482086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DBMS	</a:t>
            </a:r>
          </a:p>
        </p:txBody>
      </p:sp>
      <p:sp>
        <p:nvSpPr>
          <p:cNvPr id="3" name="Text Placeholder 2"/>
          <p:cNvSpPr>
            <a:spLocks noGrp="1"/>
          </p:cNvSpPr>
          <p:nvPr>
            <p:ph type="body" idx="1"/>
          </p:nvPr>
        </p:nvSpPr>
        <p:spPr>
          <a:xfrm>
            <a:off x="609600" y="1280161"/>
            <a:ext cx="10972800" cy="5105650"/>
          </a:xfrm>
        </p:spPr>
        <p:txBody>
          <a:bodyPr>
            <a:normAutofit/>
          </a:bodyPr>
          <a:lstStyle/>
          <a:p>
            <a:pPr>
              <a:buNone/>
            </a:pPr>
            <a:r>
              <a:rPr lang="en-US" sz="3600" b="1" dirty="0"/>
              <a:t>Data</a:t>
            </a:r>
            <a:r>
              <a:rPr lang="en-US" sz="3600" dirty="0"/>
              <a:t>-facts that can be recorded</a:t>
            </a:r>
          </a:p>
          <a:p>
            <a:pPr>
              <a:buNone/>
            </a:pPr>
            <a:r>
              <a:rPr lang="en-US" sz="3600" dirty="0"/>
              <a:t>Facts, figures, statistics etc. having no particular meaning (e.g. 1, RAVI, 19 etc). </a:t>
            </a:r>
          </a:p>
          <a:p>
            <a:pPr>
              <a:buNone/>
            </a:pPr>
            <a:endParaRPr lang="en-US" sz="3600" dirty="0"/>
          </a:p>
          <a:p>
            <a:pPr>
              <a:buNone/>
            </a:pPr>
            <a:r>
              <a:rPr lang="en-US" sz="3600" b="1" dirty="0"/>
              <a:t>Database:  </a:t>
            </a:r>
            <a:r>
              <a:rPr lang="en-US" sz="3600" dirty="0"/>
              <a:t>collection of related data that represent some real-world entities.</a:t>
            </a:r>
          </a:p>
          <a:p>
            <a:pPr>
              <a:buNone/>
            </a:pPr>
            <a:r>
              <a:rPr lang="en-US" sz="3600" dirty="0"/>
              <a:t>I</a:t>
            </a:r>
            <a:r>
              <a:rPr lang="en-US" sz="3600" b="1" dirty="0"/>
              <a:t>nformation: </a:t>
            </a:r>
            <a:r>
              <a:rPr lang="en-US" sz="3600" dirty="0"/>
              <a:t>we have extract information from data. It is meaning full or Processed data.</a:t>
            </a:r>
          </a:p>
          <a:p>
            <a:pPr>
              <a:buNone/>
            </a:pPr>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DBMS definition</a:t>
            </a:r>
          </a:p>
        </p:txBody>
      </p:sp>
      <p:sp>
        <p:nvSpPr>
          <p:cNvPr id="3" name="Text Placeholder 2"/>
          <p:cNvSpPr>
            <a:spLocks noGrp="1"/>
          </p:cNvSpPr>
          <p:nvPr>
            <p:ph type="body" idx="1"/>
          </p:nvPr>
        </p:nvSpPr>
        <p:spPr/>
        <p:txBody>
          <a:bodyPr/>
          <a:lstStyle/>
          <a:p>
            <a:pPr fontAlgn="base"/>
            <a:r>
              <a:rPr lang="en-US" b="1" dirty="0"/>
              <a:t>DBMS</a:t>
            </a:r>
            <a:r>
              <a:rPr lang="en-US" dirty="0"/>
              <a:t>-A Database Management System (DBMS) is a software system that is designed to </a:t>
            </a:r>
            <a:r>
              <a:rPr lang="en-US" b="1" dirty="0"/>
              <a:t>manage</a:t>
            </a:r>
            <a:r>
              <a:rPr lang="en-US" dirty="0"/>
              <a:t> and </a:t>
            </a:r>
            <a:r>
              <a:rPr lang="en-US" b="1" dirty="0"/>
              <a:t>organize data</a:t>
            </a:r>
            <a:r>
              <a:rPr lang="en-US" dirty="0"/>
              <a:t> in a </a:t>
            </a:r>
            <a:r>
              <a:rPr lang="en-US" b="1" dirty="0"/>
              <a:t>structured manner</a:t>
            </a:r>
            <a:r>
              <a:rPr lang="en-US" dirty="0"/>
              <a:t>. </a:t>
            </a:r>
          </a:p>
          <a:p>
            <a:pPr fontAlgn="base"/>
            <a:r>
              <a:rPr lang="en-US" dirty="0"/>
              <a:t>It allows users to create, modify, and query a database, as well as manage the security and access controls for that database.</a:t>
            </a:r>
          </a:p>
          <a:p>
            <a:pPr fontAlgn="base"/>
            <a:r>
              <a:rPr lang="en-US" dirty="0"/>
              <a:t>DBMS provides an environment to </a:t>
            </a:r>
            <a:r>
              <a:rPr lang="en-US" b="1" dirty="0"/>
              <a:t>store and retrieve </a:t>
            </a:r>
            <a:r>
              <a:rPr lang="en-US" dirty="0"/>
              <a:t>the data in convenient and efficient manner.</a:t>
            </a:r>
          </a:p>
          <a:p>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5E66C0-9182-7F6A-481F-919E4093A61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65774E-718B-9ED0-7225-B0DBDC764982}"/>
              </a:ext>
            </a:extLst>
          </p:cNvPr>
          <p:cNvSpPr>
            <a:spLocks noGrp="1"/>
          </p:cNvSpPr>
          <p:nvPr>
            <p:ph type="title"/>
          </p:nvPr>
        </p:nvSpPr>
        <p:spPr/>
        <p:txBody>
          <a:bodyPr>
            <a:normAutofit/>
          </a:bodyPr>
          <a:lstStyle/>
          <a:p>
            <a:r>
              <a:rPr lang="en-US" sz="3600" dirty="0"/>
              <a:t>A Historical Perspective or History of Data base Systems</a:t>
            </a:r>
          </a:p>
        </p:txBody>
      </p:sp>
      <p:sp>
        <p:nvSpPr>
          <p:cNvPr id="3" name="Text Placeholder 2">
            <a:extLst>
              <a:ext uri="{FF2B5EF4-FFF2-40B4-BE49-F238E27FC236}">
                <a16:creationId xmlns:a16="http://schemas.microsoft.com/office/drawing/2014/main" id="{9516D602-8606-0164-0046-92CB52194B86}"/>
              </a:ext>
            </a:extLst>
          </p:cNvPr>
          <p:cNvSpPr>
            <a:spLocks noGrp="1"/>
          </p:cNvSpPr>
          <p:nvPr>
            <p:ph type="body" idx="1"/>
          </p:nvPr>
        </p:nvSpPr>
        <p:spPr>
          <a:xfrm>
            <a:off x="609599" y="1179797"/>
            <a:ext cx="11183007" cy="4525963"/>
          </a:xfrm>
        </p:spPr>
        <p:txBody>
          <a:bodyPr>
            <a:noAutofit/>
          </a:bodyPr>
          <a:lstStyle/>
          <a:p>
            <a:pPr fontAlgn="base"/>
            <a:r>
              <a:rPr lang="en-US" sz="2000" dirty="0"/>
              <a:t>Finding information from a huge volume of papers or deleting/modifying an entry is a difficult task in pen and paper based approach. </a:t>
            </a:r>
          </a:p>
          <a:p>
            <a:pPr fontAlgn="base"/>
            <a:r>
              <a:rPr lang="en-US" sz="2000" dirty="0"/>
              <a:t>To overcome the hassles faced in manual record keeping, it is desirable to computerize storage of data.</a:t>
            </a:r>
          </a:p>
          <a:p>
            <a:pPr fontAlgn="base"/>
            <a:r>
              <a:rPr lang="en-US" sz="2000" dirty="0"/>
              <a:t>From the earliest days of computers, storing and manipulating data have been a major application focus. </a:t>
            </a:r>
          </a:p>
          <a:p>
            <a:pPr fontAlgn="base"/>
            <a:r>
              <a:rPr lang="en-US" sz="2000" dirty="0"/>
              <a:t>In the late 1960s, IBM developed the Information Management System (IMS) DBMS, used even today in many major installations. </a:t>
            </a:r>
          </a:p>
          <a:p>
            <a:pPr fontAlgn="base"/>
            <a:r>
              <a:rPr lang="en-US" sz="2000" dirty="0"/>
              <a:t>IMS formed the basis for an alternative data representation framework called the hierarchical data model.</a:t>
            </a:r>
          </a:p>
          <a:p>
            <a:pPr fontAlgn="base"/>
            <a:r>
              <a:rPr lang="en-US" sz="2000" dirty="0"/>
              <a:t>In 1970, Edgar Codd, at IBM's San Jose Research Laboratory, proposed a new data representation framework called the relational data model.</a:t>
            </a:r>
          </a:p>
          <a:p>
            <a:pPr fontAlgn="base"/>
            <a:r>
              <a:rPr lang="en-US" sz="2000" dirty="0"/>
              <a:t>In the 1980s, the relational model consolidated its position as the dominant DBMS paradigm, and database systems continued to gain widespread use. </a:t>
            </a:r>
          </a:p>
        </p:txBody>
      </p:sp>
    </p:spTree>
    <p:extLst>
      <p:ext uri="{BB962C8B-B14F-4D97-AF65-F5344CB8AC3E}">
        <p14:creationId xmlns:p14="http://schemas.microsoft.com/office/powerpoint/2010/main" val="385816040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070851-A6D3-224F-280A-A6B95196E6A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EF0289-3459-7256-A7D0-0A86F05C065C}"/>
              </a:ext>
            </a:extLst>
          </p:cNvPr>
          <p:cNvSpPr>
            <a:spLocks noGrp="1"/>
          </p:cNvSpPr>
          <p:nvPr>
            <p:ph type="title"/>
          </p:nvPr>
        </p:nvSpPr>
        <p:spPr/>
        <p:txBody>
          <a:bodyPr>
            <a:normAutofit/>
          </a:bodyPr>
          <a:lstStyle/>
          <a:p>
            <a:r>
              <a:rPr lang="en-US" sz="3600" dirty="0"/>
              <a:t>A Historical Perspective or History of Data base Systems</a:t>
            </a:r>
          </a:p>
        </p:txBody>
      </p:sp>
      <p:sp>
        <p:nvSpPr>
          <p:cNvPr id="3" name="Text Placeholder 2">
            <a:extLst>
              <a:ext uri="{FF2B5EF4-FFF2-40B4-BE49-F238E27FC236}">
                <a16:creationId xmlns:a16="http://schemas.microsoft.com/office/drawing/2014/main" id="{E859D440-3632-FD04-F9B8-A283A1AA7C4E}"/>
              </a:ext>
            </a:extLst>
          </p:cNvPr>
          <p:cNvSpPr>
            <a:spLocks noGrp="1"/>
          </p:cNvSpPr>
          <p:nvPr>
            <p:ph type="body" idx="1"/>
          </p:nvPr>
        </p:nvSpPr>
        <p:spPr>
          <a:xfrm>
            <a:off x="609599" y="1179797"/>
            <a:ext cx="11183007" cy="4525963"/>
          </a:xfrm>
        </p:spPr>
        <p:txBody>
          <a:bodyPr>
            <a:noAutofit/>
          </a:bodyPr>
          <a:lstStyle/>
          <a:p>
            <a:pPr fontAlgn="base"/>
            <a:r>
              <a:rPr lang="en-US" sz="2000" dirty="0"/>
              <a:t>SQL was standardized in the late 1980s, and the current standard, SQL: 1999, was adopted by the American National Standards Institute (ANSI) and International Organization for Standardization (ISO).</a:t>
            </a:r>
          </a:p>
          <a:p>
            <a:pPr fontAlgn="base"/>
            <a:r>
              <a:rPr lang="en-US" sz="2000" dirty="0"/>
              <a:t>Specialized systems have been developed by numerous vendors for creating data warehouses, consolidating data from several databases, and for carrying out specialized analysis.</a:t>
            </a:r>
          </a:p>
          <a:p>
            <a:pPr fontAlgn="base"/>
            <a:r>
              <a:rPr lang="en-US" sz="2000" dirty="0"/>
              <a:t>Commercially, database management systems represent one of the largest and most vigorous market segments.</a:t>
            </a:r>
          </a:p>
        </p:txBody>
      </p:sp>
    </p:spTree>
    <p:extLst>
      <p:ext uri="{BB962C8B-B14F-4D97-AF65-F5344CB8AC3E}">
        <p14:creationId xmlns:p14="http://schemas.microsoft.com/office/powerpoint/2010/main" val="32703005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457198"/>
          </a:xfrm>
        </p:spPr>
        <p:txBody>
          <a:bodyPr>
            <a:normAutofit fontScale="90000"/>
          </a:bodyPr>
          <a:lstStyle/>
          <a:p>
            <a:r>
              <a:rPr lang="en-US" dirty="0"/>
              <a:t>DBMS APPLICATIONS</a:t>
            </a:r>
          </a:p>
        </p:txBody>
      </p:sp>
      <p:sp>
        <p:nvSpPr>
          <p:cNvPr id="3" name="Text Placeholder 2"/>
          <p:cNvSpPr>
            <a:spLocks noGrp="1"/>
          </p:cNvSpPr>
          <p:nvPr>
            <p:ph type="body" idx="1"/>
          </p:nvPr>
        </p:nvSpPr>
        <p:spPr/>
        <p:txBody>
          <a:bodyPr/>
          <a:lstStyle/>
          <a:p>
            <a:endParaRPr lang="en-US" dirty="0"/>
          </a:p>
        </p:txBody>
      </p:sp>
      <p:pic>
        <p:nvPicPr>
          <p:cNvPr id="1026" name="Picture 2" descr="C:\Users\91891\Desktop\hitam\Application-of-DBMS-(4).png"/>
          <p:cNvPicPr>
            <a:picLocks noChangeAspect="1" noChangeArrowheads="1"/>
          </p:cNvPicPr>
          <p:nvPr/>
        </p:nvPicPr>
        <p:blipFill>
          <a:blip r:embed="rId2"/>
          <a:srcRect/>
          <a:stretch>
            <a:fillRect/>
          </a:stretch>
        </p:blipFill>
        <p:spPr bwMode="auto">
          <a:xfrm>
            <a:off x="534572" y="731836"/>
            <a:ext cx="11338560" cy="5840121"/>
          </a:xfrm>
          <a:prstGeom prst="rect">
            <a:avLst/>
          </a:prstGeom>
          <a:noFill/>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6265D4-77E0-1AD3-7540-D31AA6D28655}"/>
              </a:ext>
            </a:extLst>
          </p:cNvPr>
          <p:cNvSpPr>
            <a:spLocks noGrp="1"/>
          </p:cNvSpPr>
          <p:nvPr>
            <p:ph type="title"/>
          </p:nvPr>
        </p:nvSpPr>
        <p:spPr/>
        <p:txBody>
          <a:bodyPr/>
          <a:lstStyle/>
          <a:p>
            <a:r>
              <a:rPr lang="en-US" dirty="0"/>
              <a:t>What is a File System?</a:t>
            </a:r>
          </a:p>
        </p:txBody>
      </p:sp>
      <p:sp>
        <p:nvSpPr>
          <p:cNvPr id="3" name="Text Placeholder 2">
            <a:extLst>
              <a:ext uri="{FF2B5EF4-FFF2-40B4-BE49-F238E27FC236}">
                <a16:creationId xmlns:a16="http://schemas.microsoft.com/office/drawing/2014/main" id="{43BE4335-319F-E46E-6A81-758F776CCEE5}"/>
              </a:ext>
            </a:extLst>
          </p:cNvPr>
          <p:cNvSpPr>
            <a:spLocks noGrp="1"/>
          </p:cNvSpPr>
          <p:nvPr>
            <p:ph type="body" idx="1"/>
          </p:nvPr>
        </p:nvSpPr>
        <p:spPr>
          <a:xfrm>
            <a:off x="149902" y="1244185"/>
            <a:ext cx="11722308" cy="4881980"/>
          </a:xfrm>
        </p:spPr>
        <p:txBody>
          <a:bodyPr>
            <a:normAutofit lnSpcReduction="10000"/>
          </a:bodyPr>
          <a:lstStyle/>
          <a:p>
            <a:pPr marL="114300" indent="0">
              <a:buNone/>
            </a:pPr>
            <a:endParaRPr lang="en-US" dirty="0"/>
          </a:p>
          <a:p>
            <a:pPr marL="0" lvl="0" indent="0" eaLnBrk="0" fontAlgn="base" hangingPunct="0">
              <a:spcBef>
                <a:spcPct val="0"/>
              </a:spcBef>
              <a:spcAft>
                <a:spcPct val="0"/>
              </a:spcAft>
              <a:buClrTx/>
              <a:buSzTx/>
              <a:buFontTx/>
              <a:buChar char="•"/>
            </a:pPr>
            <a:r>
              <a:rPr lang="en-US" altLang="en-US" sz="3600" dirty="0">
                <a:solidFill>
                  <a:schemeClr val="tx1"/>
                </a:solidFill>
                <a:latin typeface="Arial" panose="020B0604020202020204" pitchFamily="34" charset="0"/>
              </a:rPr>
              <a:t>This is a traditional mechanism which is used to store data or information in individual unrelated files. </a:t>
            </a:r>
          </a:p>
          <a:p>
            <a:pPr marL="0" lvl="0" indent="0" eaLnBrk="0" fontAlgn="base" hangingPunct="0">
              <a:spcBef>
                <a:spcPct val="0"/>
              </a:spcBef>
              <a:spcAft>
                <a:spcPct val="0"/>
              </a:spcAft>
              <a:buClrTx/>
              <a:buSzTx/>
              <a:buFontTx/>
              <a:buChar char="•"/>
            </a:pPr>
            <a:r>
              <a:rPr lang="en-US" altLang="en-US" sz="3600" dirty="0">
                <a:solidFill>
                  <a:schemeClr val="tx1"/>
                </a:solidFill>
                <a:latin typeface="Arial" panose="020B0604020202020204" pitchFamily="34" charset="0"/>
              </a:rPr>
              <a:t>These files are also called as Flat Files. A way to store and manage data in files on a storage device used by the operating system to organize and retrieve files</a:t>
            </a:r>
          </a:p>
          <a:p>
            <a:pPr marL="0" lvl="0" indent="0" eaLnBrk="0" fontAlgn="base" hangingPunct="0">
              <a:spcBef>
                <a:spcPct val="0"/>
              </a:spcBef>
              <a:spcAft>
                <a:spcPct val="0"/>
              </a:spcAft>
              <a:buClrTx/>
              <a:buSzTx/>
              <a:buFontTx/>
              <a:buChar char="•"/>
            </a:pPr>
            <a:r>
              <a:rPr lang="en-US" altLang="en-US" sz="3600" dirty="0">
                <a:solidFill>
                  <a:schemeClr val="tx1"/>
                </a:solidFill>
                <a:latin typeface="Arial" panose="020B0604020202020204" pitchFamily="34" charset="0"/>
              </a:rPr>
              <a:t>Examples: FAT32, NTFS, ext4</a:t>
            </a:r>
          </a:p>
          <a:p>
            <a:r>
              <a:rPr lang="en-IN" dirty="0"/>
              <a:t>FAT</a:t>
            </a:r>
            <a:r>
              <a:rPr lang="en-IN" sz="2800" dirty="0"/>
              <a:t>(File Allocation Table 32) </a:t>
            </a:r>
            <a:r>
              <a:rPr lang="en-IN" b="1" dirty="0"/>
              <a:t>,</a:t>
            </a:r>
            <a:r>
              <a:rPr lang="en-IN" sz="2800" dirty="0"/>
              <a:t>NTFS-New Technology File System,      Ext4-extended File system</a:t>
            </a:r>
            <a:endParaRPr lang="en-IN" dirty="0"/>
          </a:p>
        </p:txBody>
      </p:sp>
    </p:spTree>
    <p:extLst>
      <p:ext uri="{BB962C8B-B14F-4D97-AF65-F5344CB8AC3E}">
        <p14:creationId xmlns:p14="http://schemas.microsoft.com/office/powerpoint/2010/main" val="38331055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16C7DA-23BC-C5FF-0351-D3882E5233D5}"/>
              </a:ext>
            </a:extLst>
          </p:cNvPr>
          <p:cNvSpPr>
            <a:spLocks noGrp="1"/>
          </p:cNvSpPr>
          <p:nvPr>
            <p:ph type="title"/>
          </p:nvPr>
        </p:nvSpPr>
        <p:spPr/>
        <p:txBody>
          <a:bodyPr>
            <a:normAutofit/>
          </a:bodyPr>
          <a:lstStyle/>
          <a:p>
            <a:r>
              <a:rPr lang="en-US" sz="4400" dirty="0">
                <a:solidFill>
                  <a:srgbClr val="00B050"/>
                </a:solidFill>
              </a:rPr>
              <a:t>Drawbacks of using file systems to store data</a:t>
            </a:r>
            <a:endParaRPr lang="en-IN" sz="4400" dirty="0">
              <a:solidFill>
                <a:srgbClr val="00B050"/>
              </a:solidFill>
            </a:endParaRPr>
          </a:p>
        </p:txBody>
      </p:sp>
      <p:sp>
        <p:nvSpPr>
          <p:cNvPr id="3" name="Text Placeholder 2">
            <a:extLst>
              <a:ext uri="{FF2B5EF4-FFF2-40B4-BE49-F238E27FC236}">
                <a16:creationId xmlns:a16="http://schemas.microsoft.com/office/drawing/2014/main" id="{1E6F8B89-94A4-8CCA-7FAF-D87F2DA20233}"/>
              </a:ext>
            </a:extLst>
          </p:cNvPr>
          <p:cNvSpPr>
            <a:spLocks noGrp="1"/>
          </p:cNvSpPr>
          <p:nvPr>
            <p:ph type="body" idx="1"/>
          </p:nvPr>
        </p:nvSpPr>
        <p:spPr>
          <a:xfrm>
            <a:off x="609600" y="1154243"/>
            <a:ext cx="10972800" cy="5429119"/>
          </a:xfrm>
        </p:spPr>
        <p:txBody>
          <a:bodyPr/>
          <a:lstStyle/>
          <a:p>
            <a:pPr marL="640080" lvl="1" indent="-246888">
              <a:spcBef>
                <a:spcPts val="480"/>
              </a:spcBef>
              <a:buSzPts val="2040"/>
              <a:buChar char="⚫"/>
            </a:pPr>
            <a:r>
              <a:rPr lang="en-US" dirty="0"/>
              <a:t>Data redundancy and inconsistency</a:t>
            </a:r>
          </a:p>
          <a:p>
            <a:pPr marL="914400" lvl="2" indent="-246887">
              <a:spcBef>
                <a:spcPts val="420"/>
              </a:spcBef>
              <a:buSzPts val="1470"/>
              <a:buChar char="⚫"/>
            </a:pPr>
            <a:r>
              <a:rPr lang="en-US" dirty="0"/>
              <a:t>Multiple file formats, duplication of information in different files</a:t>
            </a:r>
          </a:p>
          <a:p>
            <a:pPr marL="640080" lvl="1" indent="-246888">
              <a:spcBef>
                <a:spcPts val="480"/>
              </a:spcBef>
              <a:buSzPts val="2040"/>
              <a:buChar char="⚫"/>
            </a:pPr>
            <a:r>
              <a:rPr lang="en-US" dirty="0"/>
              <a:t>Difficulty in accessing data </a:t>
            </a:r>
          </a:p>
          <a:p>
            <a:pPr marL="914400" lvl="2" indent="-246887">
              <a:spcBef>
                <a:spcPts val="420"/>
              </a:spcBef>
              <a:buSzPts val="1470"/>
              <a:buChar char="⚫"/>
            </a:pPr>
            <a:r>
              <a:rPr lang="en-US" dirty="0"/>
              <a:t>Need to write a new program to carry out each new task</a:t>
            </a:r>
          </a:p>
          <a:p>
            <a:pPr marL="640080" lvl="1" indent="-246888">
              <a:spcBef>
                <a:spcPts val="480"/>
              </a:spcBef>
              <a:buSzPts val="2040"/>
              <a:buChar char="⚫"/>
            </a:pPr>
            <a:r>
              <a:rPr lang="en-US" dirty="0"/>
              <a:t>Data isolation — multiple files and formats</a:t>
            </a:r>
          </a:p>
          <a:p>
            <a:pPr marL="640080" lvl="1" indent="-246888">
              <a:spcBef>
                <a:spcPts val="480"/>
              </a:spcBef>
              <a:buSzPts val="2040"/>
              <a:buChar char="⚫"/>
            </a:pPr>
            <a:r>
              <a:rPr lang="en-US" dirty="0"/>
              <a:t>Integrity problems</a:t>
            </a:r>
          </a:p>
          <a:p>
            <a:pPr marL="914400" lvl="2" indent="-246887">
              <a:spcBef>
                <a:spcPts val="420"/>
              </a:spcBef>
              <a:buSzPts val="1470"/>
              <a:buChar char="⚫"/>
            </a:pPr>
            <a:r>
              <a:rPr lang="en-US" dirty="0"/>
              <a:t>Integrity constraints  (e.g., account balance &gt; 0) become “buried” in program code rather than being stated explicitly</a:t>
            </a:r>
          </a:p>
          <a:p>
            <a:pPr marL="914400" lvl="2" indent="-246887">
              <a:spcBef>
                <a:spcPts val="420"/>
              </a:spcBef>
              <a:buSzPts val="1470"/>
              <a:buChar char="⚫"/>
            </a:pPr>
            <a:r>
              <a:rPr lang="en-US" dirty="0"/>
              <a:t>Hard to add new constraints or change existing ones</a:t>
            </a:r>
          </a:p>
          <a:p>
            <a:endParaRPr lang="en-IN" dirty="0"/>
          </a:p>
        </p:txBody>
      </p:sp>
    </p:spTree>
    <p:extLst>
      <p:ext uri="{BB962C8B-B14F-4D97-AF65-F5344CB8AC3E}">
        <p14:creationId xmlns:p14="http://schemas.microsoft.com/office/powerpoint/2010/main" val="55948083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1FC04-438F-3156-91DA-39D9760B1E32}"/>
              </a:ext>
            </a:extLst>
          </p:cNvPr>
          <p:cNvSpPr>
            <a:spLocks noGrp="1"/>
          </p:cNvSpPr>
          <p:nvPr>
            <p:ph type="title"/>
          </p:nvPr>
        </p:nvSpPr>
        <p:spPr>
          <a:xfrm>
            <a:off x="609600" y="274638"/>
            <a:ext cx="10972800" cy="309978"/>
          </a:xfrm>
        </p:spPr>
        <p:txBody>
          <a:bodyPr>
            <a:normAutofit fontScale="90000"/>
          </a:bodyPr>
          <a:lstStyle/>
          <a:p>
            <a:pPr algn="l"/>
            <a:r>
              <a:rPr lang="en-US" dirty="0" err="1"/>
              <a:t>Cont</a:t>
            </a:r>
            <a:r>
              <a:rPr lang="en-US" dirty="0"/>
              <a:t>…</a:t>
            </a:r>
            <a:endParaRPr lang="en-IN" dirty="0"/>
          </a:p>
        </p:txBody>
      </p:sp>
      <p:sp>
        <p:nvSpPr>
          <p:cNvPr id="3" name="Text Placeholder 2">
            <a:extLst>
              <a:ext uri="{FF2B5EF4-FFF2-40B4-BE49-F238E27FC236}">
                <a16:creationId xmlns:a16="http://schemas.microsoft.com/office/drawing/2014/main" id="{0D8CE516-004F-FFB2-EC34-EFBC7B6849D5}"/>
              </a:ext>
            </a:extLst>
          </p:cNvPr>
          <p:cNvSpPr>
            <a:spLocks noGrp="1"/>
          </p:cNvSpPr>
          <p:nvPr>
            <p:ph type="body" idx="1"/>
          </p:nvPr>
        </p:nvSpPr>
        <p:spPr>
          <a:xfrm>
            <a:off x="609600" y="629587"/>
            <a:ext cx="10972800" cy="5998746"/>
          </a:xfrm>
        </p:spPr>
        <p:txBody>
          <a:bodyPr>
            <a:normAutofit fontScale="92500" lnSpcReduction="20000"/>
          </a:bodyPr>
          <a:lstStyle/>
          <a:p>
            <a:pPr marL="274320" lvl="0" indent="-274320">
              <a:spcBef>
                <a:spcPts val="0"/>
              </a:spcBef>
              <a:buSzPts val="1710"/>
              <a:buNone/>
            </a:pPr>
            <a:endParaRPr lang="en-US" sz="3200" dirty="0"/>
          </a:p>
          <a:p>
            <a:pPr marL="640080" lvl="1" indent="-246888">
              <a:buSzPts val="1530"/>
              <a:buChar char="⚫"/>
            </a:pPr>
            <a:r>
              <a:rPr lang="en-US" sz="3900" dirty="0"/>
              <a:t>Atomicity of updates</a:t>
            </a:r>
            <a:endParaRPr lang="en-US" sz="5200" dirty="0"/>
          </a:p>
          <a:p>
            <a:pPr marL="914400" lvl="2" indent="-246887">
              <a:buSzPts val="1260"/>
              <a:buChar char="⚫"/>
            </a:pPr>
            <a:r>
              <a:rPr lang="en-US" sz="3200" dirty="0"/>
              <a:t>Failures may leave database in an inconsistent state with partial updates carried out</a:t>
            </a:r>
            <a:endParaRPr lang="en-US" sz="4000" dirty="0"/>
          </a:p>
          <a:p>
            <a:pPr marL="914400" lvl="2" indent="-246887">
              <a:buSzPts val="1260"/>
              <a:buChar char="⚫"/>
            </a:pPr>
            <a:r>
              <a:rPr lang="en-US" sz="3200" dirty="0"/>
              <a:t>Example: Transfer of funds from one account to another should either complete or not happen at all</a:t>
            </a:r>
            <a:endParaRPr lang="en-US" sz="4000" dirty="0"/>
          </a:p>
          <a:p>
            <a:pPr marL="640080" lvl="1" indent="-246888">
              <a:buSzPts val="1530"/>
              <a:buChar char="⚫"/>
            </a:pPr>
            <a:r>
              <a:rPr lang="en-US" sz="3900" dirty="0"/>
              <a:t>Concurrent access by multiple users</a:t>
            </a:r>
            <a:endParaRPr lang="en-US" sz="5200" dirty="0"/>
          </a:p>
          <a:p>
            <a:pPr marL="914400" lvl="2" indent="-246887">
              <a:buSzPts val="1260"/>
              <a:buChar char="⚫"/>
            </a:pPr>
            <a:r>
              <a:rPr lang="en-US" sz="3200" dirty="0"/>
              <a:t>Concurrent access needed for performance</a:t>
            </a:r>
            <a:endParaRPr lang="en-US" sz="4000" dirty="0"/>
          </a:p>
          <a:p>
            <a:pPr marL="914400" lvl="2" indent="-246887">
              <a:buSzPts val="1260"/>
              <a:buChar char="⚫"/>
            </a:pPr>
            <a:r>
              <a:rPr lang="en-US" sz="3200" dirty="0"/>
              <a:t>Uncontrolled concurrent accesses can lead to inconsistencies</a:t>
            </a:r>
            <a:endParaRPr lang="en-US" sz="4000" dirty="0"/>
          </a:p>
          <a:p>
            <a:pPr marL="1188720" lvl="3" indent="-210311">
              <a:buSzPts val="1170"/>
              <a:buChar char="⚫"/>
            </a:pPr>
            <a:r>
              <a:rPr lang="en-US" sz="3200" dirty="0"/>
              <a:t>Example: Two people reading a balance (say 100) and updating it by withdrawing money (say 50 each) at the same time</a:t>
            </a:r>
            <a:endParaRPr lang="en-US" sz="3600" dirty="0"/>
          </a:p>
          <a:p>
            <a:pPr marL="640080" lvl="1" indent="-246888">
              <a:buSzPts val="1530"/>
              <a:buChar char="⚫"/>
            </a:pPr>
            <a:r>
              <a:rPr lang="en-US" sz="3500" dirty="0"/>
              <a:t>Security problems</a:t>
            </a:r>
            <a:endParaRPr lang="en-US" sz="4800" dirty="0"/>
          </a:p>
          <a:p>
            <a:pPr marL="914400" lvl="2" indent="-246887">
              <a:buSzPts val="1260"/>
              <a:buChar char="⚫"/>
            </a:pPr>
            <a:r>
              <a:rPr lang="en-US" sz="3200" dirty="0"/>
              <a:t>Hard to provide user access to some, but not all, data</a:t>
            </a:r>
            <a:endParaRPr lang="en-US" sz="4000" dirty="0"/>
          </a:p>
          <a:p>
            <a:endParaRPr lang="en-IN" sz="4000" dirty="0"/>
          </a:p>
        </p:txBody>
      </p:sp>
    </p:spTree>
    <p:extLst>
      <p:ext uri="{BB962C8B-B14F-4D97-AF65-F5344CB8AC3E}">
        <p14:creationId xmlns:p14="http://schemas.microsoft.com/office/powerpoint/2010/main" val="35229587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18A607-4378-95D3-2748-99BDDB834657}"/>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04567C67-F5A4-B64A-E7EA-B4A7B0D5E752}"/>
              </a:ext>
            </a:extLst>
          </p:cNvPr>
          <p:cNvSpPr>
            <a:spLocks noGrp="1"/>
          </p:cNvSpPr>
          <p:nvPr>
            <p:ph type="body" idx="1"/>
          </p:nvPr>
        </p:nvSpPr>
        <p:spPr/>
        <p:txBody>
          <a:bodyPr/>
          <a:lstStyle/>
          <a:p>
            <a:endParaRPr lang="en-IN" dirty="0"/>
          </a:p>
        </p:txBody>
      </p:sp>
      <p:graphicFrame>
        <p:nvGraphicFramePr>
          <p:cNvPr id="4" name="Table 3">
            <a:extLst>
              <a:ext uri="{FF2B5EF4-FFF2-40B4-BE49-F238E27FC236}">
                <a16:creationId xmlns:a16="http://schemas.microsoft.com/office/drawing/2014/main" id="{5010681C-BB79-DF60-9DC8-8553E6E3E336}"/>
              </a:ext>
            </a:extLst>
          </p:cNvPr>
          <p:cNvGraphicFramePr>
            <a:graphicFrameLocks noGrp="1"/>
          </p:cNvGraphicFramePr>
          <p:nvPr>
            <p:extLst>
              <p:ext uri="{D42A27DB-BD31-4B8C-83A1-F6EECF244321}">
                <p14:modId xmlns:p14="http://schemas.microsoft.com/office/powerpoint/2010/main" val="3685160572"/>
              </p:ext>
            </p:extLst>
          </p:nvPr>
        </p:nvGraphicFramePr>
        <p:xfrm>
          <a:off x="134910" y="104931"/>
          <a:ext cx="11902191" cy="6914771"/>
        </p:xfrm>
        <a:graphic>
          <a:graphicData uri="http://schemas.openxmlformats.org/drawingml/2006/table">
            <a:tbl>
              <a:tblPr firstRow="1" bandRow="1">
                <a:tableStyleId>{5C22544A-7EE6-4342-B048-85BDC9FD1C3A}</a:tableStyleId>
              </a:tblPr>
              <a:tblGrid>
                <a:gridCol w="3967397">
                  <a:extLst>
                    <a:ext uri="{9D8B030D-6E8A-4147-A177-3AD203B41FA5}">
                      <a16:colId xmlns:a16="http://schemas.microsoft.com/office/drawing/2014/main" val="821370500"/>
                    </a:ext>
                  </a:extLst>
                </a:gridCol>
                <a:gridCol w="3967397">
                  <a:extLst>
                    <a:ext uri="{9D8B030D-6E8A-4147-A177-3AD203B41FA5}">
                      <a16:colId xmlns:a16="http://schemas.microsoft.com/office/drawing/2014/main" val="1941455715"/>
                    </a:ext>
                  </a:extLst>
                </a:gridCol>
                <a:gridCol w="3967397">
                  <a:extLst>
                    <a:ext uri="{9D8B030D-6E8A-4147-A177-3AD203B41FA5}">
                      <a16:colId xmlns:a16="http://schemas.microsoft.com/office/drawing/2014/main" val="2972592644"/>
                    </a:ext>
                  </a:extLst>
                </a:gridCol>
              </a:tblGrid>
              <a:tr h="844133">
                <a:tc>
                  <a:txBody>
                    <a:bodyPr/>
                    <a:lstStyle/>
                    <a:p>
                      <a:pPr algn="ctr">
                        <a:buNone/>
                      </a:pPr>
                      <a:r>
                        <a:rPr lang="en-IN" sz="3600"/>
                        <a:t>Feature</a:t>
                      </a:r>
                    </a:p>
                  </a:txBody>
                  <a:tcPr anchor="ctr"/>
                </a:tc>
                <a:tc>
                  <a:txBody>
                    <a:bodyPr/>
                    <a:lstStyle/>
                    <a:p>
                      <a:pPr algn="ctr">
                        <a:buNone/>
                      </a:pPr>
                      <a:r>
                        <a:rPr lang="en-US" sz="3200" dirty="0"/>
                        <a:t>F</a:t>
                      </a:r>
                      <a:r>
                        <a:rPr lang="en-IN" sz="3200" dirty="0" err="1"/>
                        <a:t>ile</a:t>
                      </a:r>
                      <a:r>
                        <a:rPr lang="en-IN" sz="3200" dirty="0"/>
                        <a:t> System</a:t>
                      </a:r>
                      <a:endParaRPr lang="en-IN" dirty="0"/>
                    </a:p>
                  </a:txBody>
                  <a:tcPr anchor="ctr"/>
                </a:tc>
                <a:tc>
                  <a:txBody>
                    <a:bodyPr/>
                    <a:lstStyle/>
                    <a:p>
                      <a:pPr algn="ctr">
                        <a:buNone/>
                      </a:pPr>
                      <a:r>
                        <a:rPr lang="en-US" sz="3600" dirty="0"/>
                        <a:t>DBMS</a:t>
                      </a:r>
                      <a:endParaRPr lang="en-IN" sz="3600" dirty="0"/>
                    </a:p>
                  </a:txBody>
                  <a:tcPr anchor="ctr"/>
                </a:tc>
                <a:extLst>
                  <a:ext uri="{0D108BD9-81ED-4DB2-BD59-A6C34878D82A}">
                    <a16:rowId xmlns:a16="http://schemas.microsoft.com/office/drawing/2014/main" val="3536934747"/>
                  </a:ext>
                </a:extLst>
              </a:tr>
              <a:tr h="844133">
                <a:tc>
                  <a:txBody>
                    <a:bodyPr/>
                    <a:lstStyle/>
                    <a:p>
                      <a:pPr algn="ctr"/>
                      <a:endParaRPr lang="en-IN" sz="2000" b="1" dirty="0"/>
                    </a:p>
                    <a:p>
                      <a:pPr algn="ctr"/>
                      <a:r>
                        <a:rPr lang="en-IN" sz="2000" b="1" dirty="0"/>
                        <a:t>Data Storage</a:t>
                      </a:r>
                    </a:p>
                  </a:txBody>
                  <a:tcPr/>
                </a:tc>
                <a:tc>
                  <a:txBody>
                    <a:bodyPr/>
                    <a:lstStyle/>
                    <a:p>
                      <a:pPr algn="ctr"/>
                      <a:endParaRPr lang="en-IN" sz="2000" b="0" dirty="0"/>
                    </a:p>
                    <a:p>
                      <a:pPr algn="ctr"/>
                      <a:r>
                        <a:rPr lang="en-IN" sz="2000" b="0" dirty="0"/>
                        <a:t>Flat file</a:t>
                      </a:r>
                    </a:p>
                  </a:txBody>
                  <a:tcPr/>
                </a:tc>
                <a:tc>
                  <a:txBody>
                    <a:bodyPr/>
                    <a:lstStyle/>
                    <a:p>
                      <a:pPr algn="ctr"/>
                      <a:endParaRPr lang="en-IN" sz="2000" b="0" dirty="0"/>
                    </a:p>
                    <a:p>
                      <a:pPr algn="ctr"/>
                      <a:r>
                        <a:rPr lang="en-IN" sz="2000" b="0" dirty="0"/>
                        <a:t>Tables (rows &amp; columns)</a:t>
                      </a:r>
                    </a:p>
                  </a:txBody>
                  <a:tcPr/>
                </a:tc>
                <a:extLst>
                  <a:ext uri="{0D108BD9-81ED-4DB2-BD59-A6C34878D82A}">
                    <a16:rowId xmlns:a16="http://schemas.microsoft.com/office/drawing/2014/main" val="787093003"/>
                  </a:ext>
                </a:extLst>
              </a:tr>
              <a:tr h="844133">
                <a:tc>
                  <a:txBody>
                    <a:bodyPr/>
                    <a:lstStyle/>
                    <a:p>
                      <a:pPr algn="ctr"/>
                      <a:endParaRPr lang="en-IN" sz="2000" b="1" dirty="0"/>
                    </a:p>
                    <a:p>
                      <a:pPr algn="ctr"/>
                      <a:r>
                        <a:rPr lang="en-IN" sz="2000" b="1" dirty="0"/>
                        <a:t>Access Method</a:t>
                      </a:r>
                    </a:p>
                  </a:txBody>
                  <a:tcPr/>
                </a:tc>
                <a:tc>
                  <a:txBody>
                    <a:bodyPr/>
                    <a:lstStyle/>
                    <a:p>
                      <a:pPr algn="ctr"/>
                      <a:r>
                        <a:rPr lang="en-IN" sz="2000" b="0" dirty="0"/>
                        <a:t>Manual or custom code</a:t>
                      </a:r>
                    </a:p>
                  </a:txBody>
                  <a:tcPr/>
                </a:tc>
                <a:tc>
                  <a:txBody>
                    <a:bodyPr/>
                    <a:lstStyle/>
                    <a:p>
                      <a:pPr algn="ctr"/>
                      <a:endParaRPr lang="en-IN" sz="2000" b="0" dirty="0"/>
                    </a:p>
                    <a:p>
                      <a:pPr algn="ctr"/>
                      <a:r>
                        <a:rPr lang="en-IN" sz="2000" b="0" dirty="0"/>
                        <a:t>SQL &amp; APIs</a:t>
                      </a:r>
                    </a:p>
                  </a:txBody>
                  <a:tcPr/>
                </a:tc>
                <a:extLst>
                  <a:ext uri="{0D108BD9-81ED-4DB2-BD59-A6C34878D82A}">
                    <a16:rowId xmlns:a16="http://schemas.microsoft.com/office/drawing/2014/main" val="3140690309"/>
                  </a:ext>
                </a:extLst>
              </a:tr>
              <a:tr h="844133">
                <a:tc>
                  <a:txBody>
                    <a:bodyPr/>
                    <a:lstStyle/>
                    <a:p>
                      <a:pPr algn="ctr"/>
                      <a:endParaRPr lang="en-IN" sz="2000" b="1" dirty="0"/>
                    </a:p>
                    <a:p>
                      <a:pPr algn="ctr"/>
                      <a:r>
                        <a:rPr lang="en-IN" sz="2000" b="1" dirty="0"/>
                        <a:t>Security</a:t>
                      </a:r>
                    </a:p>
                  </a:txBody>
                  <a:tcPr/>
                </a:tc>
                <a:tc>
                  <a:txBody>
                    <a:bodyPr/>
                    <a:lstStyle/>
                    <a:p>
                      <a:pPr algn="ctr">
                        <a:buNone/>
                      </a:pPr>
                      <a:r>
                        <a:rPr lang="en-IN" sz="2000" b="0" dirty="0"/>
                        <a:t>OS-level</a:t>
                      </a:r>
                    </a:p>
                  </a:txBody>
                  <a:tcPr anchor="ctr"/>
                </a:tc>
                <a:tc>
                  <a:txBody>
                    <a:bodyPr/>
                    <a:lstStyle/>
                    <a:p>
                      <a:pPr algn="ctr"/>
                      <a:endParaRPr lang="en-IN" sz="2000" b="0" dirty="0"/>
                    </a:p>
                    <a:p>
                      <a:pPr algn="ctr"/>
                      <a:r>
                        <a:rPr lang="en-IN" sz="2000" b="0" dirty="0"/>
                        <a:t>User roles, permissions</a:t>
                      </a:r>
                    </a:p>
                  </a:txBody>
                  <a:tcPr/>
                </a:tc>
                <a:extLst>
                  <a:ext uri="{0D108BD9-81ED-4DB2-BD59-A6C34878D82A}">
                    <a16:rowId xmlns:a16="http://schemas.microsoft.com/office/drawing/2014/main" val="932836480"/>
                  </a:ext>
                </a:extLst>
              </a:tr>
              <a:tr h="844133">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lang="en-IN" sz="2000" b="1" dirty="0"/>
                    </a:p>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IN" sz="2000" b="1" dirty="0"/>
                        <a:t>Redundancy</a:t>
                      </a:r>
                    </a:p>
                    <a:p>
                      <a:pPr algn="ctr"/>
                      <a:endParaRPr lang="en-IN" sz="2000" b="1" dirty="0"/>
                    </a:p>
                  </a:txBody>
                  <a:tcPr/>
                </a:tc>
                <a:tc>
                  <a:txBody>
                    <a:bodyPr/>
                    <a:lstStyle/>
                    <a:p>
                      <a:pPr algn="ctr">
                        <a:buNone/>
                      </a:pPr>
                      <a:r>
                        <a:rPr lang="en-US" sz="2000" b="0" dirty="0"/>
                        <a:t>High</a:t>
                      </a:r>
                      <a:endParaRPr lang="en-IN" sz="2000" b="0" dirty="0"/>
                    </a:p>
                  </a:txBody>
                  <a:tcPr anchor="ctr"/>
                </a:tc>
                <a:tc>
                  <a:txBody>
                    <a:bodyPr/>
                    <a:lstStyle/>
                    <a:p>
                      <a:pPr algn="ctr">
                        <a:buNone/>
                      </a:pPr>
                      <a:r>
                        <a:rPr lang="en-IN" sz="2000" b="0" dirty="0"/>
                        <a:t>Low (via normalization)</a:t>
                      </a:r>
                    </a:p>
                  </a:txBody>
                  <a:tcPr anchor="ctr"/>
                </a:tc>
                <a:extLst>
                  <a:ext uri="{0D108BD9-81ED-4DB2-BD59-A6C34878D82A}">
                    <a16:rowId xmlns:a16="http://schemas.microsoft.com/office/drawing/2014/main" val="3129511865"/>
                  </a:ext>
                </a:extLst>
              </a:tr>
              <a:tr h="844133">
                <a:tc>
                  <a:txBody>
                    <a:bodyPr/>
                    <a:lstStyle/>
                    <a:p>
                      <a:pPr algn="ctr"/>
                      <a:endParaRPr lang="en-IN" sz="2000" b="1" dirty="0"/>
                    </a:p>
                    <a:p>
                      <a:pPr algn="ctr"/>
                      <a:r>
                        <a:rPr lang="en-IN" sz="2000" b="1" dirty="0"/>
                        <a:t>Data Integrity</a:t>
                      </a:r>
                    </a:p>
                  </a:txBody>
                  <a:tcPr/>
                </a:tc>
                <a:tc>
                  <a:txBody>
                    <a:bodyPr/>
                    <a:lstStyle/>
                    <a:p>
                      <a:pPr algn="ctr"/>
                      <a:endParaRPr lang="en-IN" sz="2000" b="0" dirty="0"/>
                    </a:p>
                    <a:p>
                      <a:pPr algn="ctr"/>
                      <a:r>
                        <a:rPr lang="en-IN" sz="2000" b="0" dirty="0"/>
                        <a:t>Manual enforcement</a:t>
                      </a:r>
                    </a:p>
                  </a:txBody>
                  <a:tcPr/>
                </a:tc>
                <a:tc>
                  <a:txBody>
                    <a:bodyPr/>
                    <a:lstStyle/>
                    <a:p>
                      <a:pPr algn="ctr"/>
                      <a:endParaRPr lang="en-IN" sz="2000" b="0" dirty="0"/>
                    </a:p>
                    <a:p>
                      <a:pPr algn="ctr"/>
                      <a:r>
                        <a:rPr lang="en-IN" sz="2000" b="0" dirty="0"/>
                        <a:t>Constraints, rules</a:t>
                      </a:r>
                    </a:p>
                  </a:txBody>
                  <a:tcPr/>
                </a:tc>
                <a:extLst>
                  <a:ext uri="{0D108BD9-81ED-4DB2-BD59-A6C34878D82A}">
                    <a16:rowId xmlns:a16="http://schemas.microsoft.com/office/drawing/2014/main" val="2272728129"/>
                  </a:ext>
                </a:extLst>
              </a:tr>
              <a:tr h="844133">
                <a:tc>
                  <a:txBody>
                    <a:bodyPr/>
                    <a:lstStyle/>
                    <a:p>
                      <a:pPr algn="ctr"/>
                      <a:endParaRPr lang="en-IN" sz="2000" b="1" dirty="0"/>
                    </a:p>
                    <a:p>
                      <a:pPr algn="ctr"/>
                      <a:r>
                        <a:rPr lang="en-IN" sz="2000" b="1" dirty="0"/>
                        <a:t>Query Support</a:t>
                      </a:r>
                    </a:p>
                  </a:txBody>
                  <a:tcPr/>
                </a:tc>
                <a:tc>
                  <a:txBody>
                    <a:bodyPr/>
                    <a:lstStyle/>
                    <a:p>
                      <a:pPr algn="ctr">
                        <a:buNone/>
                      </a:pPr>
                      <a:r>
                        <a:rPr lang="en-IN" sz="2000" b="0" dirty="0"/>
                        <a:t>Not built-in</a:t>
                      </a:r>
                    </a:p>
                  </a:txBody>
                  <a:tcPr anchor="ctr"/>
                </a:tc>
                <a:tc>
                  <a:txBody>
                    <a:bodyPr/>
                    <a:lstStyle/>
                    <a:p>
                      <a:pPr algn="ctr">
                        <a:buNone/>
                      </a:pPr>
                      <a:r>
                        <a:rPr lang="en-IN" sz="2000" b="0" dirty="0"/>
                        <a:t>Advanced SQL querying</a:t>
                      </a:r>
                    </a:p>
                  </a:txBody>
                  <a:tcPr anchor="ctr"/>
                </a:tc>
                <a:extLst>
                  <a:ext uri="{0D108BD9-81ED-4DB2-BD59-A6C34878D82A}">
                    <a16:rowId xmlns:a16="http://schemas.microsoft.com/office/drawing/2014/main" val="2498145932"/>
                  </a:ext>
                </a:extLst>
              </a:tr>
              <a:tr h="844133">
                <a:tc>
                  <a:txBody>
                    <a:bodyPr/>
                    <a:lstStyle/>
                    <a:p>
                      <a:pPr algn="ctr"/>
                      <a:endParaRPr lang="en-IN" sz="2000" b="1" dirty="0"/>
                    </a:p>
                    <a:p>
                      <a:pPr algn="ctr"/>
                      <a:r>
                        <a:rPr lang="en-IN" sz="2000" b="1" dirty="0"/>
                        <a:t>Backup &amp; Recovery</a:t>
                      </a:r>
                    </a:p>
                  </a:txBody>
                  <a:tcPr/>
                </a:tc>
                <a:tc>
                  <a:txBody>
                    <a:bodyPr/>
                    <a:lstStyle/>
                    <a:p>
                      <a:pPr algn="ctr">
                        <a:buNone/>
                      </a:pPr>
                      <a:r>
                        <a:rPr lang="en-IN" sz="2000" b="0" dirty="0"/>
                        <a:t>Manual</a:t>
                      </a:r>
                    </a:p>
                  </a:txBody>
                  <a:tcPr anchor="ctr"/>
                </a:tc>
                <a:tc>
                  <a:txBody>
                    <a:bodyPr/>
                    <a:lstStyle/>
                    <a:p>
                      <a:pPr algn="ctr"/>
                      <a:endParaRPr lang="en-IN" sz="2000" b="0" dirty="0"/>
                    </a:p>
                    <a:p>
                      <a:pPr algn="ctr"/>
                      <a:r>
                        <a:rPr lang="en-IN" sz="2000" b="0" dirty="0"/>
                        <a:t>Built-in features</a:t>
                      </a:r>
                    </a:p>
                  </a:txBody>
                  <a:tcPr/>
                </a:tc>
                <a:extLst>
                  <a:ext uri="{0D108BD9-81ED-4DB2-BD59-A6C34878D82A}">
                    <a16:rowId xmlns:a16="http://schemas.microsoft.com/office/drawing/2014/main" val="152544597"/>
                  </a:ext>
                </a:extLst>
              </a:tr>
            </a:tbl>
          </a:graphicData>
        </a:graphic>
      </p:graphicFrame>
    </p:spTree>
    <p:extLst>
      <p:ext uri="{BB962C8B-B14F-4D97-AF65-F5344CB8AC3E}">
        <p14:creationId xmlns:p14="http://schemas.microsoft.com/office/powerpoint/2010/main" val="40337293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68"/>
        <p:cNvGrpSpPr/>
        <p:nvPr/>
      </p:nvGrpSpPr>
      <p:grpSpPr>
        <a:xfrm>
          <a:off x="0" y="0"/>
          <a:ext cx="0" cy="0"/>
          <a:chOff x="0" y="0"/>
          <a:chExt cx="0" cy="0"/>
        </a:xfrm>
      </p:grpSpPr>
      <p:graphicFrame>
        <p:nvGraphicFramePr>
          <p:cNvPr id="169" name="Google Shape;169;p23"/>
          <p:cNvGraphicFramePr/>
          <p:nvPr/>
        </p:nvGraphicFramePr>
        <p:xfrm>
          <a:off x="304800" y="381000"/>
          <a:ext cx="11379200" cy="6530555"/>
        </p:xfrm>
        <a:graphic>
          <a:graphicData uri="http://schemas.openxmlformats.org/drawingml/2006/table">
            <a:tbl>
              <a:tblPr firstRow="1" firstCol="1" bandRow="1">
                <a:noFill/>
              </a:tblPr>
              <a:tblGrid>
                <a:gridCol w="4978400">
                  <a:extLst>
                    <a:ext uri="{9D8B030D-6E8A-4147-A177-3AD203B41FA5}">
                      <a16:colId xmlns:a16="http://schemas.microsoft.com/office/drawing/2014/main" val="20000"/>
                    </a:ext>
                  </a:extLst>
                </a:gridCol>
                <a:gridCol w="6400800">
                  <a:extLst>
                    <a:ext uri="{9D8B030D-6E8A-4147-A177-3AD203B41FA5}">
                      <a16:colId xmlns:a16="http://schemas.microsoft.com/office/drawing/2014/main" val="20001"/>
                    </a:ext>
                  </a:extLst>
                </a:gridCol>
              </a:tblGrid>
              <a:tr h="316975">
                <a:tc>
                  <a:txBody>
                    <a:bodyPr/>
                    <a:lstStyle/>
                    <a:p>
                      <a:pPr marL="0" marR="0" lvl="0" indent="0" algn="ctr" rtl="0">
                        <a:lnSpc>
                          <a:spcPct val="100000"/>
                        </a:lnSpc>
                        <a:spcBef>
                          <a:spcPts val="0"/>
                        </a:spcBef>
                        <a:spcAft>
                          <a:spcPts val="0"/>
                        </a:spcAft>
                        <a:buNone/>
                      </a:pPr>
                      <a:r>
                        <a:rPr lang="en-US" sz="1400" b="1" u="none" strike="noStrike" cap="none" dirty="0"/>
                        <a:t>File System</a:t>
                      </a:r>
                      <a:endParaRPr sz="1400" b="1" u="none" strike="noStrike" cap="none" dirty="0">
                        <a:latin typeface="Calibri"/>
                        <a:ea typeface="Calibri"/>
                        <a:cs typeface="Calibri"/>
                        <a:sym typeface="Calibri"/>
                      </a:endParaRPr>
                    </a:p>
                  </a:txBody>
                  <a:tcPr marL="57700" marR="57700" marT="63250" marB="63250" anchor="ctr"/>
                </a:tc>
                <a:tc>
                  <a:txBody>
                    <a:bodyPr/>
                    <a:lstStyle/>
                    <a:p>
                      <a:pPr marL="0" marR="0" lvl="0" indent="0" algn="ctr" rtl="0">
                        <a:lnSpc>
                          <a:spcPct val="100000"/>
                        </a:lnSpc>
                        <a:spcBef>
                          <a:spcPts val="0"/>
                        </a:spcBef>
                        <a:spcAft>
                          <a:spcPts val="0"/>
                        </a:spcAft>
                        <a:buNone/>
                      </a:pPr>
                      <a:r>
                        <a:rPr lang="en-US" sz="1400" b="1" u="none" strike="noStrike" cap="none" dirty="0"/>
                        <a:t>    Database Management System (DBMS)</a:t>
                      </a:r>
                      <a:endParaRPr sz="1400" b="1" u="none" strike="noStrike" cap="none" dirty="0">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00"/>
                  </a:ext>
                </a:extLst>
              </a:tr>
              <a:tr h="691750">
                <a:tc>
                  <a:txBody>
                    <a:bodyPr/>
                    <a:lstStyle/>
                    <a:p>
                      <a:pPr marL="0" marR="0" lvl="0" indent="0" algn="l" rtl="0">
                        <a:lnSpc>
                          <a:spcPct val="100000"/>
                        </a:lnSpc>
                        <a:spcBef>
                          <a:spcPts val="0"/>
                        </a:spcBef>
                        <a:spcAft>
                          <a:spcPts val="0"/>
                        </a:spcAft>
                        <a:buNone/>
                      </a:pPr>
                      <a:r>
                        <a:rPr lang="en-US" sz="1400" u="none" strike="noStrike" cap="none"/>
                        <a:t>1. It is a software system that manages and controls the data files in a computer system.</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dirty="0"/>
                        <a:t>1. It is a software system used for creating and managing the databases. DBMS provides a systematic way to access, update, and delete data.</a:t>
                      </a:r>
                      <a:endParaRPr sz="1400" u="none" strike="noStrike" cap="none" dirty="0">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01"/>
                  </a:ext>
                </a:extLst>
              </a:tr>
              <a:tr h="504375">
                <a:tc>
                  <a:txBody>
                    <a:bodyPr/>
                    <a:lstStyle/>
                    <a:p>
                      <a:pPr marL="0" marR="0" lvl="0" indent="0" algn="l" rtl="0">
                        <a:lnSpc>
                          <a:spcPct val="100000"/>
                        </a:lnSpc>
                        <a:spcBef>
                          <a:spcPts val="0"/>
                        </a:spcBef>
                        <a:spcAft>
                          <a:spcPts val="0"/>
                        </a:spcAft>
                        <a:buNone/>
                      </a:pPr>
                      <a:r>
                        <a:rPr lang="en-US" sz="1400" u="none" strike="noStrike" cap="none"/>
                        <a:t>2. File system does not support multi-user access.</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a:t>2. Database Management System supports multi-user access.</a:t>
                      </a:r>
                      <a:endParaRPr sz="1400" u="none" strike="noStrike" cap="none">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02"/>
                  </a:ext>
                </a:extLst>
              </a:tr>
              <a:tr h="441050">
                <a:tc>
                  <a:txBody>
                    <a:bodyPr/>
                    <a:lstStyle/>
                    <a:p>
                      <a:pPr marL="0" marR="0" lvl="0" indent="0" algn="l" rtl="0">
                        <a:lnSpc>
                          <a:spcPct val="100000"/>
                        </a:lnSpc>
                        <a:spcBef>
                          <a:spcPts val="0"/>
                        </a:spcBef>
                        <a:spcAft>
                          <a:spcPts val="0"/>
                        </a:spcAft>
                        <a:buNone/>
                      </a:pPr>
                      <a:r>
                        <a:rPr lang="en-US" sz="1400" u="none" strike="noStrike" cap="none"/>
                        <a:t>3.  Data consistency is less in the file system.</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a:t>3. Data consistency is more due to the use of normalization.</a:t>
                      </a:r>
                      <a:endParaRPr sz="1400" u="none" strike="noStrike" cap="none">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03"/>
                  </a:ext>
                </a:extLst>
              </a:tr>
              <a:tr h="316975">
                <a:tc>
                  <a:txBody>
                    <a:bodyPr/>
                    <a:lstStyle/>
                    <a:p>
                      <a:pPr marL="0" marR="0" lvl="0" indent="0" algn="l" rtl="0">
                        <a:lnSpc>
                          <a:spcPct val="100000"/>
                        </a:lnSpc>
                        <a:spcBef>
                          <a:spcPts val="0"/>
                        </a:spcBef>
                        <a:spcAft>
                          <a:spcPts val="0"/>
                        </a:spcAft>
                        <a:buNone/>
                      </a:pPr>
                      <a:r>
                        <a:rPr lang="en-US" sz="1400" u="none" strike="noStrike" cap="none"/>
                        <a:t>4. File system is not secured.</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a:t>4. Database Management System is highly secured.</a:t>
                      </a:r>
                      <a:endParaRPr sz="1400" u="none" strike="noStrike" cap="none">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04"/>
                  </a:ext>
                </a:extLst>
              </a:tr>
              <a:tr h="504375">
                <a:tc>
                  <a:txBody>
                    <a:bodyPr/>
                    <a:lstStyle/>
                    <a:p>
                      <a:pPr marL="0" marR="0" lvl="0" indent="0" algn="l" rtl="0">
                        <a:lnSpc>
                          <a:spcPct val="100000"/>
                        </a:lnSpc>
                        <a:spcBef>
                          <a:spcPts val="0"/>
                        </a:spcBef>
                        <a:spcAft>
                          <a:spcPts val="0"/>
                        </a:spcAft>
                        <a:buNone/>
                      </a:pPr>
                      <a:r>
                        <a:rPr lang="en-US" sz="1400" u="none" strike="noStrike" cap="none"/>
                        <a:t>5. File system is used for storing the unstructured data.</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a:t>5. Database management system is used for storing the structured data.</a:t>
                      </a:r>
                      <a:endParaRPr sz="1400" u="none" strike="noStrike" cap="none">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05"/>
                  </a:ext>
                </a:extLst>
              </a:tr>
              <a:tr h="468525">
                <a:tc>
                  <a:txBody>
                    <a:bodyPr/>
                    <a:lstStyle/>
                    <a:p>
                      <a:pPr marL="0" marR="0" lvl="0" indent="0" algn="l" rtl="0">
                        <a:lnSpc>
                          <a:spcPct val="100000"/>
                        </a:lnSpc>
                        <a:spcBef>
                          <a:spcPts val="0"/>
                        </a:spcBef>
                        <a:spcAft>
                          <a:spcPts val="0"/>
                        </a:spcAft>
                        <a:buNone/>
                      </a:pPr>
                      <a:r>
                        <a:rPr lang="en-US" sz="1400" u="none" strike="noStrike" cap="none"/>
                        <a:t>6. In the file system, data redundancy is high.</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dirty="0"/>
                        <a:t>6. In DBMS, Data redundancy is low.</a:t>
                      </a:r>
                      <a:endParaRPr sz="1400" u="none" strike="noStrike" cap="none" dirty="0">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06"/>
                  </a:ext>
                </a:extLst>
              </a:tr>
              <a:tr h="504375">
                <a:tc>
                  <a:txBody>
                    <a:bodyPr/>
                    <a:lstStyle/>
                    <a:p>
                      <a:pPr marL="0" marR="0" lvl="0" indent="0" algn="l" rtl="0">
                        <a:lnSpc>
                          <a:spcPct val="100000"/>
                        </a:lnSpc>
                        <a:spcBef>
                          <a:spcPts val="0"/>
                        </a:spcBef>
                        <a:spcAft>
                          <a:spcPts val="0"/>
                        </a:spcAft>
                        <a:buNone/>
                      </a:pPr>
                      <a:r>
                        <a:rPr lang="en-US" sz="1400" u="none" strike="noStrike" cap="none"/>
                        <a:t>7. No data backup and recovery process is present in a file system.</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a:t>7. There is a backup recovery for data in DBMS.</a:t>
                      </a:r>
                      <a:endParaRPr sz="1400" u="none" strike="noStrike" cap="none">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07"/>
                  </a:ext>
                </a:extLst>
              </a:tr>
              <a:tr h="468525">
                <a:tc>
                  <a:txBody>
                    <a:bodyPr/>
                    <a:lstStyle/>
                    <a:p>
                      <a:pPr marL="0" marR="0" lvl="0" indent="0" algn="l" rtl="0">
                        <a:lnSpc>
                          <a:spcPct val="100000"/>
                        </a:lnSpc>
                        <a:spcBef>
                          <a:spcPts val="0"/>
                        </a:spcBef>
                        <a:spcAft>
                          <a:spcPts val="0"/>
                        </a:spcAft>
                        <a:buNone/>
                      </a:pPr>
                      <a:r>
                        <a:rPr lang="en-US" sz="1400" u="none" strike="noStrike" cap="none"/>
                        <a:t>8. Cost of a file system is less than the DBMS.</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a:t>9. Cost of database management system is more than the file system.</a:t>
                      </a:r>
                      <a:endParaRPr sz="1400" u="none" strike="noStrike" cap="none">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08"/>
                  </a:ext>
                </a:extLst>
              </a:tr>
              <a:tr h="504375">
                <a:tc>
                  <a:txBody>
                    <a:bodyPr/>
                    <a:lstStyle/>
                    <a:p>
                      <a:pPr marL="0" marR="0" lvl="0" indent="0" algn="l" rtl="0">
                        <a:lnSpc>
                          <a:spcPct val="100000"/>
                        </a:lnSpc>
                        <a:spcBef>
                          <a:spcPts val="0"/>
                        </a:spcBef>
                        <a:spcAft>
                          <a:spcPts val="0"/>
                        </a:spcAft>
                        <a:buNone/>
                      </a:pPr>
                      <a:r>
                        <a:rPr lang="en-US" sz="1400" u="none" strike="noStrike" cap="none"/>
                        <a:t>9. If one application fails, it does not affect other application in a system.</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a:t>10. If the database fails, it affects all application which depends on it.</a:t>
                      </a:r>
                      <a:endParaRPr sz="1400" u="none" strike="noStrike" cap="none">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09"/>
                  </a:ext>
                </a:extLst>
              </a:tr>
              <a:tr h="608200">
                <a:tc>
                  <a:txBody>
                    <a:bodyPr/>
                    <a:lstStyle/>
                    <a:p>
                      <a:pPr marL="0" marR="0" lvl="0" indent="0" algn="l" rtl="0">
                        <a:lnSpc>
                          <a:spcPct val="100000"/>
                        </a:lnSpc>
                        <a:spcBef>
                          <a:spcPts val="0"/>
                        </a:spcBef>
                        <a:spcAft>
                          <a:spcPts val="0"/>
                        </a:spcAft>
                        <a:buNone/>
                      </a:pPr>
                      <a:r>
                        <a:rPr lang="en-US" sz="1400" u="none" strike="noStrike" cap="none"/>
                        <a:t>10. In the file system, data cannot be shared because it is distributed in different files.</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a:t>11. In DBMS, data can be shared as it is stored at one place in a database.</a:t>
                      </a:r>
                      <a:endParaRPr sz="1400" u="none" strike="noStrike" cap="none">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10"/>
                  </a:ext>
                </a:extLst>
              </a:tr>
              <a:tr h="504375">
                <a:tc>
                  <a:txBody>
                    <a:bodyPr/>
                    <a:lstStyle/>
                    <a:p>
                      <a:pPr marL="0" marR="0" lvl="0" indent="0" algn="l" rtl="0">
                        <a:lnSpc>
                          <a:spcPct val="100000"/>
                        </a:lnSpc>
                        <a:spcBef>
                          <a:spcPts val="0"/>
                        </a:spcBef>
                        <a:spcAft>
                          <a:spcPts val="0"/>
                        </a:spcAft>
                        <a:buNone/>
                      </a:pPr>
                      <a:r>
                        <a:rPr lang="en-US" sz="1400" u="none" strike="noStrike" cap="none"/>
                        <a:t>11. These system does not provide concurrency facility.</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a:t>12. This system provides concurrency facility.</a:t>
                      </a:r>
                      <a:endParaRPr sz="1400" u="none" strike="noStrike" cap="none">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11"/>
                  </a:ext>
                </a:extLst>
              </a:tr>
              <a:tr h="504375">
                <a:tc>
                  <a:txBody>
                    <a:bodyPr/>
                    <a:lstStyle/>
                    <a:p>
                      <a:pPr marL="0" marR="0" lvl="0" indent="0" algn="l" rtl="0">
                        <a:lnSpc>
                          <a:spcPct val="100000"/>
                        </a:lnSpc>
                        <a:spcBef>
                          <a:spcPts val="0"/>
                        </a:spcBef>
                        <a:spcAft>
                          <a:spcPts val="0"/>
                        </a:spcAft>
                        <a:buNone/>
                      </a:pPr>
                      <a:r>
                        <a:rPr lang="en-US" sz="1400" u="none" strike="noStrike" cap="none"/>
                        <a:t>12. Example: NTFS (New technology file system), EXT (Extended file system), etc.</a:t>
                      </a:r>
                      <a:endParaRPr sz="1400" u="none" strike="noStrike" cap="none">
                        <a:latin typeface="Calibri"/>
                        <a:ea typeface="Calibri"/>
                        <a:cs typeface="Calibri"/>
                        <a:sym typeface="Calibri"/>
                      </a:endParaRPr>
                    </a:p>
                  </a:txBody>
                  <a:tcPr marL="57700" marR="57700" marT="63250" marB="63250" anchor="ctr"/>
                </a:tc>
                <a:tc>
                  <a:txBody>
                    <a:bodyPr/>
                    <a:lstStyle/>
                    <a:p>
                      <a:pPr marL="0" marR="0" lvl="0" indent="0" algn="l" rtl="0">
                        <a:lnSpc>
                          <a:spcPct val="100000"/>
                        </a:lnSpc>
                        <a:spcBef>
                          <a:spcPts val="0"/>
                        </a:spcBef>
                        <a:spcAft>
                          <a:spcPts val="0"/>
                        </a:spcAft>
                        <a:buNone/>
                      </a:pPr>
                      <a:r>
                        <a:rPr lang="en-US" sz="1400" u="none" strike="noStrike" cap="none" dirty="0"/>
                        <a:t>13. Example: Oracle, </a:t>
                      </a:r>
                      <a:r>
                        <a:rPr lang="en-US" sz="1400" u="none" strike="noStrike" cap="none" dirty="0" err="1"/>
                        <a:t>MySQL</a:t>
                      </a:r>
                      <a:r>
                        <a:rPr lang="en-US" sz="1400" u="none" strike="noStrike" cap="none" dirty="0"/>
                        <a:t>, MS SQL Server, DB2, Microsoft Access, etc.</a:t>
                      </a:r>
                      <a:endParaRPr sz="1400" u="none" strike="noStrike" cap="none" dirty="0">
                        <a:latin typeface="Calibri"/>
                        <a:ea typeface="Calibri"/>
                        <a:cs typeface="Calibri"/>
                        <a:sym typeface="Calibri"/>
                      </a:endParaRPr>
                    </a:p>
                  </a:txBody>
                  <a:tcPr marL="57700" marR="57700" marT="63250" marB="63250" anchor="ctr"/>
                </a:tc>
                <a:extLst>
                  <a:ext uri="{0D108BD9-81ED-4DB2-BD59-A6C34878D82A}">
                    <a16:rowId xmlns:a16="http://schemas.microsoft.com/office/drawing/2014/main" val="10012"/>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164893"/>
            <a:ext cx="10972800" cy="899410"/>
          </a:xfrm>
        </p:spPr>
        <p:txBody>
          <a:bodyPr>
            <a:normAutofit/>
          </a:bodyPr>
          <a:lstStyle/>
          <a:p>
            <a:r>
              <a:rPr lang="en-US" b="1" dirty="0">
                <a:solidFill>
                  <a:srgbClr val="C00000"/>
                </a:solidFill>
              </a:rPr>
              <a:t>Data Models</a:t>
            </a:r>
          </a:p>
        </p:txBody>
      </p:sp>
      <p:sp>
        <p:nvSpPr>
          <p:cNvPr id="3" name="Text Placeholder 2"/>
          <p:cNvSpPr>
            <a:spLocks noGrp="1"/>
          </p:cNvSpPr>
          <p:nvPr>
            <p:ph type="body" idx="1"/>
          </p:nvPr>
        </p:nvSpPr>
        <p:spPr>
          <a:xfrm>
            <a:off x="315313" y="1252025"/>
            <a:ext cx="11582400" cy="4874139"/>
          </a:xfrm>
        </p:spPr>
        <p:txBody>
          <a:bodyPr>
            <a:normAutofit fontScale="70000" lnSpcReduction="20000"/>
          </a:bodyPr>
          <a:lstStyle/>
          <a:p>
            <a:r>
              <a:rPr lang="en-US" dirty="0"/>
              <a:t>A data model in Database Management Systems (DBMS) is a conceptual framework that describes how data is structured, organized, and manipulated within a database. </a:t>
            </a:r>
          </a:p>
          <a:p>
            <a:r>
              <a:rPr lang="en-US" dirty="0"/>
              <a:t>It defines the rules and conventions for representing and working with data, serving as a blueprint for database design.</a:t>
            </a:r>
          </a:p>
          <a:p>
            <a:r>
              <a:rPr lang="en-US" dirty="0"/>
              <a:t>Data Models are mainly useful in order to design Data Base </a:t>
            </a:r>
          </a:p>
          <a:p>
            <a:r>
              <a:rPr lang="en-US" dirty="0"/>
              <a:t>Data Model is the modeling of the data description, data semantics, and consistency constraints of the data. </a:t>
            </a:r>
          </a:p>
          <a:p>
            <a:pPr marL="274320" lvl="0" indent="-274320">
              <a:spcBef>
                <a:spcPts val="400"/>
              </a:spcBef>
              <a:buSzPts val="1900"/>
              <a:buChar char="⚫"/>
            </a:pPr>
            <a:r>
              <a:rPr lang="en-US" sz="3200" dirty="0"/>
              <a:t>Relational model</a:t>
            </a:r>
            <a:endParaRPr lang="en-US" sz="4400" dirty="0"/>
          </a:p>
          <a:p>
            <a:pPr marL="274320" lvl="0" indent="-274320">
              <a:spcBef>
                <a:spcPts val="400"/>
              </a:spcBef>
              <a:buSzPts val="1900"/>
              <a:buChar char="⚫"/>
            </a:pPr>
            <a:r>
              <a:rPr lang="en-US" sz="3200" dirty="0"/>
              <a:t>Entity-Relationship data model (mainly for database design) </a:t>
            </a:r>
            <a:endParaRPr lang="en-US" sz="4400" dirty="0"/>
          </a:p>
          <a:p>
            <a:pPr marL="274320" lvl="0" indent="-274320">
              <a:spcBef>
                <a:spcPts val="400"/>
              </a:spcBef>
              <a:buSzPts val="1900"/>
              <a:buChar char="⚫"/>
            </a:pPr>
            <a:r>
              <a:rPr lang="en-US" sz="3200" dirty="0"/>
              <a:t>Object-Oriented data models (Object-oriented and Object-relational)</a:t>
            </a:r>
            <a:endParaRPr lang="en-US" sz="4400" dirty="0"/>
          </a:p>
          <a:p>
            <a:pPr marL="274320" lvl="0" indent="-274320">
              <a:spcBef>
                <a:spcPts val="400"/>
              </a:spcBef>
              <a:buSzPts val="1900"/>
              <a:buChar char="⚫"/>
            </a:pPr>
            <a:r>
              <a:rPr lang="en-US" sz="3600" dirty="0"/>
              <a:t>Other older models:</a:t>
            </a:r>
            <a:endParaRPr lang="en-US" sz="4800" dirty="0"/>
          </a:p>
          <a:p>
            <a:pPr marL="640080" lvl="1" indent="-246888">
              <a:spcBef>
                <a:spcPts val="400"/>
              </a:spcBef>
              <a:buSzPts val="1700"/>
              <a:buChar char="⚫"/>
            </a:pPr>
            <a:r>
              <a:rPr lang="en-US" sz="3200" dirty="0"/>
              <a:t>Network model  </a:t>
            </a:r>
            <a:endParaRPr lang="en-US" sz="4000" dirty="0"/>
          </a:p>
          <a:p>
            <a:pPr marL="640080" lvl="1" indent="-246888">
              <a:spcBef>
                <a:spcPts val="400"/>
              </a:spcBef>
              <a:buSzPts val="1700"/>
              <a:buChar char="⚫"/>
            </a:pPr>
            <a:r>
              <a:rPr lang="en-US" sz="3200" dirty="0"/>
              <a:t>Hierarchical model</a:t>
            </a:r>
            <a:endParaRPr lang="en-US" sz="4000" dirty="0"/>
          </a:p>
          <a:p>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81965"/>
          </a:xfrm>
        </p:spPr>
        <p:txBody>
          <a:bodyPr>
            <a:normAutofit fontScale="90000"/>
          </a:bodyPr>
          <a:lstStyle/>
          <a:p>
            <a:pPr lvl="0"/>
            <a:r>
              <a:rPr lang="en-US" sz="4800" b="1" dirty="0">
                <a:solidFill>
                  <a:srgbClr val="333333"/>
                </a:solidFill>
                <a:latin typeface="Times New Roman"/>
                <a:ea typeface="Times New Roman"/>
                <a:cs typeface="Times New Roman"/>
                <a:sym typeface="Times New Roman"/>
              </a:rPr>
              <a:t>Hierarchical Model</a:t>
            </a:r>
            <a:br>
              <a:rPr lang="en-US" dirty="0"/>
            </a:br>
            <a:endParaRPr lang="en-US" dirty="0"/>
          </a:p>
        </p:txBody>
      </p:sp>
      <p:sp>
        <p:nvSpPr>
          <p:cNvPr id="3" name="Text Placeholder 2"/>
          <p:cNvSpPr>
            <a:spLocks noGrp="1"/>
          </p:cNvSpPr>
          <p:nvPr>
            <p:ph type="body" idx="1"/>
          </p:nvPr>
        </p:nvSpPr>
        <p:spPr>
          <a:xfrm>
            <a:off x="609600" y="644577"/>
            <a:ext cx="10972800" cy="5481587"/>
          </a:xfrm>
        </p:spPr>
        <p:txBody>
          <a:bodyPr/>
          <a:lstStyle/>
          <a:p>
            <a:pPr marL="342900" lvl="0">
              <a:lnSpc>
                <a:spcPct val="150000"/>
              </a:lnSpc>
              <a:spcBef>
                <a:spcPts val="300"/>
              </a:spcBef>
              <a:buClr>
                <a:srgbClr val="333333"/>
              </a:buClr>
              <a:buFont typeface="Wingdings" pitchFamily="2" charset="2"/>
              <a:buChar char="Ø"/>
            </a:pPr>
            <a:r>
              <a:rPr lang="en-US" sz="2800" dirty="0">
                <a:solidFill>
                  <a:srgbClr val="333333"/>
                </a:solidFill>
                <a:latin typeface="Times New Roman"/>
                <a:ea typeface="Times New Roman"/>
                <a:cs typeface="Times New Roman"/>
                <a:sym typeface="Times New Roman"/>
              </a:rPr>
              <a:t>Hierarchical Model was the first DBMS model. </a:t>
            </a:r>
            <a:endParaRPr lang="en-US" sz="2800" dirty="0">
              <a:latin typeface="Times New Roman"/>
              <a:ea typeface="Times New Roman"/>
              <a:cs typeface="Times New Roman"/>
              <a:sym typeface="Times New Roman"/>
            </a:endParaRPr>
          </a:p>
          <a:p>
            <a:pPr marL="342900" lvl="0">
              <a:lnSpc>
                <a:spcPct val="150000"/>
              </a:lnSpc>
              <a:spcBef>
                <a:spcPts val="0"/>
              </a:spcBef>
              <a:buClr>
                <a:srgbClr val="333333"/>
              </a:buClr>
              <a:buFont typeface="Wingdings" pitchFamily="2" charset="2"/>
              <a:buChar char="Ø"/>
            </a:pPr>
            <a:r>
              <a:rPr lang="en-US" sz="2800" dirty="0">
                <a:solidFill>
                  <a:srgbClr val="333333"/>
                </a:solidFill>
                <a:latin typeface="Times New Roman"/>
                <a:ea typeface="Times New Roman"/>
                <a:cs typeface="Times New Roman"/>
                <a:sym typeface="Times New Roman"/>
              </a:rPr>
              <a:t>This model organizes the data in the hierarchical tree structure. </a:t>
            </a:r>
            <a:endParaRPr lang="en-US" sz="2800" dirty="0">
              <a:latin typeface="Times New Roman"/>
              <a:ea typeface="Times New Roman"/>
              <a:cs typeface="Times New Roman"/>
              <a:sym typeface="Times New Roman"/>
            </a:endParaRPr>
          </a:p>
          <a:p>
            <a:pPr marL="342900" lvl="0">
              <a:lnSpc>
                <a:spcPct val="150000"/>
              </a:lnSpc>
              <a:spcBef>
                <a:spcPts val="0"/>
              </a:spcBef>
              <a:buClr>
                <a:srgbClr val="333333"/>
              </a:buClr>
              <a:buFont typeface="Wingdings" pitchFamily="2" charset="2"/>
              <a:buChar char="Ø"/>
            </a:pPr>
            <a:r>
              <a:rPr lang="en-US" sz="2800" dirty="0">
                <a:solidFill>
                  <a:srgbClr val="333333"/>
                </a:solidFill>
                <a:latin typeface="Times New Roman"/>
                <a:ea typeface="Times New Roman"/>
                <a:cs typeface="Times New Roman"/>
                <a:sym typeface="Times New Roman"/>
              </a:rPr>
              <a:t>The hierarchy starts from the root which has root data and then it expands in the form of a tree adding child node to the parent node. </a:t>
            </a:r>
            <a:endParaRPr lang="en-US" sz="2800" dirty="0">
              <a:latin typeface="Times New Roman"/>
              <a:ea typeface="Times New Roman"/>
              <a:cs typeface="Times New Roman"/>
              <a:sym typeface="Times New Roman"/>
            </a:endParaRPr>
          </a:p>
          <a:p>
            <a:pPr marL="342900" lvl="0">
              <a:lnSpc>
                <a:spcPct val="150000"/>
              </a:lnSpc>
              <a:spcBef>
                <a:spcPts val="0"/>
              </a:spcBef>
              <a:buClr>
                <a:srgbClr val="333333"/>
              </a:buClr>
              <a:buFont typeface="Wingdings" pitchFamily="2" charset="2"/>
              <a:buChar char="Ø"/>
            </a:pPr>
            <a:r>
              <a:rPr lang="en-US" sz="2800" dirty="0">
                <a:solidFill>
                  <a:srgbClr val="333333"/>
                </a:solidFill>
                <a:latin typeface="Times New Roman"/>
                <a:ea typeface="Times New Roman"/>
                <a:cs typeface="Times New Roman"/>
                <a:sym typeface="Times New Roman"/>
              </a:rPr>
              <a:t>This model easily represents some of the real-world relationships like food recipes, sitemap of a website etc.</a:t>
            </a:r>
            <a:r>
              <a:rPr lang="en-US" sz="4000" dirty="0">
                <a:solidFill>
                  <a:srgbClr val="333333"/>
                </a:solidFill>
                <a:latin typeface="Times New Roman"/>
                <a:ea typeface="Times New Roman"/>
                <a:cs typeface="Times New Roman"/>
                <a:sym typeface="Times New Roman"/>
              </a:rPr>
              <a:t> </a:t>
            </a:r>
            <a:endParaRPr lang="en-US" sz="4000" dirty="0">
              <a:latin typeface="Times New Roman"/>
              <a:ea typeface="Times New Roman"/>
              <a:cs typeface="Times New Roman"/>
              <a:sym typeface="Times New Roman"/>
            </a:endParaRPr>
          </a:p>
          <a:p>
            <a:endParaRPr lang="en-US" dirty="0"/>
          </a:p>
        </p:txBody>
      </p:sp>
      <p:pic>
        <p:nvPicPr>
          <p:cNvPr id="4" name="Google Shape;215;p29" descr="https://s3.ap-south-1.amazonaws.com/afteracademy-server-uploads/what-is-data-model-in-dbms-and-what-are-its-types-hierarchical-model-48add64778fd4b8f.jpg"/>
          <p:cNvPicPr preferRelativeResize="0"/>
          <p:nvPr/>
        </p:nvPicPr>
        <p:blipFill rotWithShape="1">
          <a:blip r:embed="rId2">
            <a:alphaModFix/>
          </a:blip>
          <a:srcRect/>
          <a:stretch/>
        </p:blipFill>
        <p:spPr>
          <a:xfrm>
            <a:off x="4612744" y="4691921"/>
            <a:ext cx="5640529" cy="22860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53830"/>
          </a:xfrm>
        </p:spPr>
        <p:txBody>
          <a:bodyPr>
            <a:normAutofit fontScale="90000"/>
          </a:bodyPr>
          <a:lstStyle/>
          <a:p>
            <a:pPr lvl="0"/>
            <a:r>
              <a:rPr lang="en-US" sz="4800" b="1" dirty="0">
                <a:solidFill>
                  <a:srgbClr val="333333"/>
                </a:solidFill>
                <a:latin typeface="Times New Roman"/>
                <a:ea typeface="Times New Roman"/>
                <a:cs typeface="Times New Roman"/>
                <a:sym typeface="Times New Roman"/>
              </a:rPr>
              <a:t>Network Model</a:t>
            </a:r>
            <a:br>
              <a:rPr lang="en-US" dirty="0"/>
            </a:br>
            <a:endParaRPr lang="en-US" dirty="0"/>
          </a:p>
        </p:txBody>
      </p:sp>
      <p:sp>
        <p:nvSpPr>
          <p:cNvPr id="3" name="Text Placeholder 2"/>
          <p:cNvSpPr>
            <a:spLocks noGrp="1"/>
          </p:cNvSpPr>
          <p:nvPr>
            <p:ph type="body" idx="1"/>
          </p:nvPr>
        </p:nvSpPr>
        <p:spPr>
          <a:xfrm>
            <a:off x="609600" y="689317"/>
            <a:ext cx="11472472" cy="6168683"/>
          </a:xfrm>
        </p:spPr>
        <p:txBody>
          <a:bodyPr>
            <a:normAutofit/>
          </a:bodyPr>
          <a:lstStyle/>
          <a:p>
            <a:pPr marL="342900" lvl="0">
              <a:spcBef>
                <a:spcPts val="300"/>
              </a:spcBef>
              <a:buClr>
                <a:srgbClr val="333333"/>
              </a:buClr>
              <a:buFont typeface="Wingdings" pitchFamily="2" charset="2"/>
              <a:buChar char="Ø"/>
            </a:pPr>
            <a:r>
              <a:rPr lang="en-US" sz="3000" dirty="0">
                <a:solidFill>
                  <a:srgbClr val="333333"/>
                </a:solidFill>
                <a:latin typeface="Times New Roman"/>
                <a:ea typeface="Times New Roman"/>
                <a:cs typeface="Times New Roman"/>
                <a:sym typeface="Times New Roman"/>
              </a:rPr>
              <a:t>This model is an extension of the hierarchical model. </a:t>
            </a:r>
            <a:endParaRPr lang="en-US" sz="3000" dirty="0">
              <a:latin typeface="Times New Roman"/>
              <a:ea typeface="Times New Roman"/>
              <a:cs typeface="Times New Roman"/>
              <a:sym typeface="Times New Roman"/>
            </a:endParaRPr>
          </a:p>
          <a:p>
            <a:pPr marL="342900" lvl="0">
              <a:spcBef>
                <a:spcPts val="0"/>
              </a:spcBef>
              <a:buClr>
                <a:srgbClr val="333333"/>
              </a:buClr>
              <a:buFont typeface="Wingdings" pitchFamily="2" charset="2"/>
              <a:buChar char="Ø"/>
            </a:pPr>
            <a:r>
              <a:rPr lang="en-US" sz="3000" dirty="0">
                <a:solidFill>
                  <a:srgbClr val="333333"/>
                </a:solidFill>
                <a:latin typeface="Times New Roman"/>
                <a:ea typeface="Times New Roman"/>
                <a:cs typeface="Times New Roman"/>
                <a:sym typeface="Times New Roman"/>
              </a:rPr>
              <a:t>It was the most popular model before the relational model. </a:t>
            </a:r>
            <a:endParaRPr lang="en-US" sz="3000" dirty="0">
              <a:latin typeface="Times New Roman"/>
              <a:ea typeface="Times New Roman"/>
              <a:cs typeface="Times New Roman"/>
              <a:sym typeface="Times New Roman"/>
            </a:endParaRPr>
          </a:p>
          <a:p>
            <a:pPr marL="342900" lvl="0">
              <a:spcBef>
                <a:spcPts val="0"/>
              </a:spcBef>
              <a:buClr>
                <a:srgbClr val="333333"/>
              </a:buClr>
              <a:buFont typeface="Wingdings" pitchFamily="2" charset="2"/>
              <a:buChar char="Ø"/>
            </a:pPr>
            <a:r>
              <a:rPr lang="en-US" sz="3000" dirty="0">
                <a:solidFill>
                  <a:srgbClr val="333333"/>
                </a:solidFill>
                <a:latin typeface="Times New Roman"/>
                <a:ea typeface="Times New Roman"/>
                <a:cs typeface="Times New Roman"/>
                <a:sym typeface="Times New Roman"/>
              </a:rPr>
              <a:t>This model is the same as the hierarchical model; </a:t>
            </a:r>
          </a:p>
          <a:p>
            <a:pPr marL="342900" lvl="0">
              <a:spcBef>
                <a:spcPts val="0"/>
              </a:spcBef>
              <a:buClr>
                <a:srgbClr val="333333"/>
              </a:buClr>
              <a:buFont typeface="Wingdings" pitchFamily="2" charset="2"/>
              <a:buChar char="Ø"/>
            </a:pPr>
            <a:r>
              <a:rPr lang="en-US" sz="3000" dirty="0">
                <a:solidFill>
                  <a:srgbClr val="333333"/>
                </a:solidFill>
                <a:latin typeface="Times New Roman"/>
                <a:ea typeface="Times New Roman"/>
                <a:cs typeface="Times New Roman"/>
                <a:sym typeface="Times New Roman"/>
              </a:rPr>
              <a:t>The only difference is that a record can have more than one parent. </a:t>
            </a:r>
            <a:endParaRPr lang="en-US" sz="3000" dirty="0">
              <a:latin typeface="Times New Roman"/>
              <a:ea typeface="Times New Roman"/>
              <a:cs typeface="Times New Roman"/>
              <a:sym typeface="Times New Roman"/>
            </a:endParaRPr>
          </a:p>
          <a:p>
            <a:pPr marL="342900" lvl="0">
              <a:spcBef>
                <a:spcPts val="0"/>
              </a:spcBef>
              <a:buClr>
                <a:srgbClr val="333333"/>
              </a:buClr>
              <a:buFont typeface="Wingdings" pitchFamily="2" charset="2"/>
              <a:buChar char="Ø"/>
            </a:pPr>
            <a:r>
              <a:rPr lang="en-US" sz="3000" dirty="0">
                <a:solidFill>
                  <a:srgbClr val="333333"/>
                </a:solidFill>
                <a:latin typeface="Times New Roman"/>
                <a:ea typeface="Times New Roman"/>
                <a:cs typeface="Times New Roman"/>
                <a:sym typeface="Times New Roman"/>
              </a:rPr>
              <a:t>It replaces the hierarchical tree with a graph.</a:t>
            </a:r>
            <a:endParaRPr lang="en-US" sz="3000" dirty="0">
              <a:latin typeface="Times New Roman"/>
              <a:ea typeface="Times New Roman"/>
              <a:cs typeface="Times New Roman"/>
              <a:sym typeface="Times New Roman"/>
            </a:endParaRPr>
          </a:p>
          <a:p>
            <a:pPr marL="342900" lvl="0">
              <a:spcBef>
                <a:spcPts val="0"/>
              </a:spcBef>
              <a:buClr>
                <a:srgbClr val="333333"/>
              </a:buClr>
              <a:buFont typeface="Noto Sans Symbols"/>
              <a:buChar char="∙"/>
            </a:pPr>
            <a:r>
              <a:rPr lang="en-US" sz="3000" b="1" i="1" dirty="0">
                <a:solidFill>
                  <a:srgbClr val="333333"/>
                </a:solidFill>
                <a:latin typeface="Times New Roman"/>
                <a:ea typeface="Times New Roman"/>
                <a:cs typeface="Times New Roman"/>
                <a:sym typeface="Times New Roman"/>
              </a:rPr>
              <a:t>Example:</a:t>
            </a:r>
            <a:r>
              <a:rPr lang="en-US" sz="3000" dirty="0">
                <a:solidFill>
                  <a:srgbClr val="333333"/>
                </a:solidFill>
                <a:latin typeface="Times New Roman"/>
                <a:ea typeface="Times New Roman"/>
                <a:cs typeface="Times New Roman"/>
                <a:sym typeface="Times New Roman"/>
              </a:rPr>
              <a:t> In the example below, we can see that node student has two parents i.e. CSE Department and Library. This was earlier not possible in the hierarchical model.</a:t>
            </a:r>
            <a:endParaRPr lang="en-US" sz="3000" dirty="0">
              <a:latin typeface="Times New Roman"/>
              <a:ea typeface="Times New Roman"/>
              <a:cs typeface="Times New Roman"/>
              <a:sym typeface="Times New Roman"/>
            </a:endParaRPr>
          </a:p>
          <a:p>
            <a:endParaRPr lang="en-US" dirty="0"/>
          </a:p>
        </p:txBody>
      </p:sp>
      <p:pic>
        <p:nvPicPr>
          <p:cNvPr id="4" name="Google Shape;221;p30" descr="https://s3.ap-south-1.amazonaws.com/afteracademy-server-uploads/what-is-data-model-in-dbms-and-what-are-its-types-network-model-d0ffd2f004868638.jpg"/>
          <p:cNvPicPr preferRelativeResize="0"/>
          <p:nvPr/>
        </p:nvPicPr>
        <p:blipFill rotWithShape="1">
          <a:blip r:embed="rId2">
            <a:alphaModFix/>
          </a:blip>
          <a:srcRect/>
          <a:stretch/>
        </p:blipFill>
        <p:spPr>
          <a:xfrm>
            <a:off x="3634154" y="4495800"/>
            <a:ext cx="5105400" cy="23622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29703"/>
          </a:xfrm>
        </p:spPr>
        <p:txBody>
          <a:bodyPr>
            <a:normAutofit fontScale="90000"/>
          </a:bodyPr>
          <a:lstStyle/>
          <a:p>
            <a:r>
              <a:rPr lang="en-US" b="1" dirty="0"/>
              <a:t>Entity-Relationship Data Model</a:t>
            </a:r>
            <a:endParaRPr lang="en-US" dirty="0"/>
          </a:p>
        </p:txBody>
      </p:sp>
      <p:sp>
        <p:nvSpPr>
          <p:cNvPr id="3" name="Text Placeholder 2"/>
          <p:cNvSpPr>
            <a:spLocks noGrp="1"/>
          </p:cNvSpPr>
          <p:nvPr>
            <p:ph type="body" idx="1"/>
          </p:nvPr>
        </p:nvSpPr>
        <p:spPr>
          <a:xfrm>
            <a:off x="609600" y="1004341"/>
            <a:ext cx="11582400" cy="5121823"/>
          </a:xfrm>
        </p:spPr>
        <p:txBody>
          <a:bodyPr>
            <a:normAutofit/>
          </a:bodyPr>
          <a:lstStyle/>
          <a:p>
            <a:r>
              <a:rPr lang="en-US" b="1" dirty="0"/>
              <a:t> Entity-Relationship Data Model:</a:t>
            </a:r>
            <a:r>
              <a:rPr lang="en-US" dirty="0"/>
              <a:t> An ER model is the logical representation of data as </a:t>
            </a:r>
            <a:r>
              <a:rPr lang="en-US" dirty="0">
                <a:solidFill>
                  <a:srgbClr val="00B0F0"/>
                </a:solidFill>
              </a:rPr>
              <a:t>objects and relationships among them.</a:t>
            </a:r>
            <a:r>
              <a:rPr lang="en-US" dirty="0"/>
              <a:t> These objects are known as entities, and relationship is an association among these entities. </a:t>
            </a:r>
          </a:p>
          <a:p>
            <a:r>
              <a:rPr lang="en-US" b="1" dirty="0"/>
              <a:t>For example</a:t>
            </a:r>
            <a:r>
              <a:rPr lang="en-US" dirty="0"/>
              <a:t>, </a:t>
            </a:r>
            <a:r>
              <a:rPr lang="en-US" dirty="0" err="1"/>
              <a:t>student_name</a:t>
            </a:r>
            <a:r>
              <a:rPr lang="en-US" dirty="0"/>
              <a:t>,  </a:t>
            </a:r>
            <a:r>
              <a:rPr lang="en-US" dirty="0" err="1"/>
              <a:t>student_id</a:t>
            </a:r>
            <a:r>
              <a:rPr lang="en-US" dirty="0"/>
              <a:t> describes the 'student' entity. </a:t>
            </a:r>
          </a:p>
          <a:p>
            <a:r>
              <a:rPr lang="en-US" dirty="0"/>
              <a:t>A set of the same type of entities is known as an </a:t>
            </a:r>
            <a:r>
              <a:rPr lang="en-US" b="1" dirty="0"/>
              <a:t>'Entity set', </a:t>
            </a:r>
            <a:r>
              <a:rPr lang="en-US" dirty="0"/>
              <a:t>and the set of the same type of relationships is known as </a:t>
            </a:r>
            <a:r>
              <a:rPr lang="en-US" b="1" dirty="0"/>
              <a:t>'relationship set'.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541288"/>
          </a:xfrm>
        </p:spPr>
        <p:txBody>
          <a:bodyPr>
            <a:normAutofit fontScale="90000"/>
          </a:bodyPr>
          <a:lstStyle/>
          <a:p>
            <a:r>
              <a:rPr lang="en-US" dirty="0"/>
              <a:t>Cont..</a:t>
            </a:r>
          </a:p>
        </p:txBody>
      </p:sp>
      <p:sp>
        <p:nvSpPr>
          <p:cNvPr id="3" name="Text Placeholder 2"/>
          <p:cNvSpPr>
            <a:spLocks noGrp="1"/>
          </p:cNvSpPr>
          <p:nvPr>
            <p:ph type="body" idx="1"/>
          </p:nvPr>
        </p:nvSpPr>
        <p:spPr>
          <a:xfrm>
            <a:off x="609600" y="914401"/>
            <a:ext cx="10972800" cy="5211764"/>
          </a:xfrm>
        </p:spPr>
        <p:txBody>
          <a:bodyPr/>
          <a:lstStyle/>
          <a:p>
            <a:pPr marL="274320" lvl="0" indent="-274320">
              <a:spcBef>
                <a:spcPts val="0"/>
              </a:spcBef>
              <a:buSzPts val="2280"/>
              <a:buFont typeface="Wingdings" pitchFamily="2" charset="2"/>
              <a:buChar char="v"/>
            </a:pPr>
            <a:r>
              <a:rPr lang="en-US" sz="2800" dirty="0"/>
              <a:t>Models an enterprise as a collection of </a:t>
            </a:r>
            <a:r>
              <a:rPr lang="en-US" sz="2800" i="1" dirty="0"/>
              <a:t>entities </a:t>
            </a:r>
            <a:r>
              <a:rPr lang="en-US" sz="2800" dirty="0"/>
              <a:t>and </a:t>
            </a:r>
            <a:r>
              <a:rPr lang="en-US" sz="2800" i="1" dirty="0"/>
              <a:t>relationships</a:t>
            </a:r>
            <a:endParaRPr lang="en-US" sz="3600" dirty="0"/>
          </a:p>
          <a:p>
            <a:pPr marL="640080" lvl="1" indent="-246888">
              <a:spcBef>
                <a:spcPts val="400"/>
              </a:spcBef>
              <a:buSzPts val="1700"/>
              <a:buFont typeface="Wingdings" pitchFamily="2" charset="2"/>
              <a:buChar char="v"/>
            </a:pPr>
            <a:r>
              <a:rPr lang="en-US" sz="2400" b="1" dirty="0"/>
              <a:t>Entity: </a:t>
            </a:r>
            <a:r>
              <a:rPr lang="en-US" sz="2400" dirty="0"/>
              <a:t>a “thing” or “object” in the enterprise that is distinguishable from other objects</a:t>
            </a:r>
            <a:endParaRPr lang="en-US" sz="3200" dirty="0"/>
          </a:p>
          <a:p>
            <a:pPr marL="914400" lvl="2" indent="-246887">
              <a:spcBef>
                <a:spcPts val="400"/>
              </a:spcBef>
              <a:buSzPts val="1400"/>
              <a:buFont typeface="Wingdings" pitchFamily="2" charset="2"/>
              <a:buChar char="v"/>
            </a:pPr>
            <a:r>
              <a:rPr lang="en-US" sz="2400" dirty="0"/>
              <a:t>Described by a set of </a:t>
            </a:r>
            <a:r>
              <a:rPr lang="en-US" sz="2400" i="1" dirty="0"/>
              <a:t>attributes</a:t>
            </a:r>
            <a:endParaRPr lang="en-US" sz="2400" dirty="0"/>
          </a:p>
          <a:p>
            <a:pPr marL="640080" lvl="1" indent="-246888">
              <a:spcBef>
                <a:spcPts val="400"/>
              </a:spcBef>
              <a:buSzPts val="1700"/>
              <a:buFont typeface="Wingdings" pitchFamily="2" charset="2"/>
              <a:buChar char="v"/>
            </a:pPr>
            <a:r>
              <a:rPr lang="en-US" sz="2400" b="1" dirty="0"/>
              <a:t>Relationship: </a:t>
            </a:r>
            <a:r>
              <a:rPr lang="en-US" sz="2400" dirty="0"/>
              <a:t>an association among several entities</a:t>
            </a:r>
            <a:endParaRPr lang="en-US" sz="3200" dirty="0"/>
          </a:p>
          <a:p>
            <a:pPr marL="274320" lvl="0" indent="-274320">
              <a:spcBef>
                <a:spcPts val="480"/>
              </a:spcBef>
              <a:buSzPts val="2280"/>
              <a:buFont typeface="Wingdings" pitchFamily="2" charset="2"/>
              <a:buChar char="v"/>
            </a:pPr>
            <a:r>
              <a:rPr lang="en-US" sz="2800" dirty="0"/>
              <a:t>Represented diagrammatically by an </a:t>
            </a:r>
            <a:r>
              <a:rPr lang="en-US" sz="2800" i="1" dirty="0"/>
              <a:t>entity-relationship diagram:</a:t>
            </a:r>
            <a:endParaRPr lang="en-US" sz="2800" dirty="0"/>
          </a:p>
          <a:p>
            <a:endParaRPr lang="en-US" dirty="0"/>
          </a:p>
        </p:txBody>
      </p:sp>
      <p:pic>
        <p:nvPicPr>
          <p:cNvPr id="4" name="Google Shape;203;p27"/>
          <p:cNvPicPr preferRelativeResize="0"/>
          <p:nvPr/>
        </p:nvPicPr>
        <p:blipFill rotWithShape="1">
          <a:blip r:embed="rId2">
            <a:alphaModFix/>
          </a:blip>
          <a:srcRect/>
          <a:stretch/>
        </p:blipFill>
        <p:spPr>
          <a:xfrm>
            <a:off x="1394619" y="3962400"/>
            <a:ext cx="7421562" cy="240842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Relational Data Model</a:t>
            </a:r>
            <a:endParaRPr lang="en-US" dirty="0"/>
          </a:p>
        </p:txBody>
      </p:sp>
      <p:sp>
        <p:nvSpPr>
          <p:cNvPr id="3" name="Text Placeholder 2"/>
          <p:cNvSpPr>
            <a:spLocks noGrp="1"/>
          </p:cNvSpPr>
          <p:nvPr>
            <p:ph type="body" idx="1"/>
          </p:nvPr>
        </p:nvSpPr>
        <p:spPr>
          <a:xfrm>
            <a:off x="384517" y="1209822"/>
            <a:ext cx="10972800" cy="4944478"/>
          </a:xfrm>
        </p:spPr>
        <p:txBody>
          <a:bodyPr/>
          <a:lstStyle/>
          <a:p>
            <a:r>
              <a:rPr lang="en-US" b="1" dirty="0"/>
              <a:t> Relational Data Model:</a:t>
            </a:r>
            <a:r>
              <a:rPr lang="en-US" dirty="0"/>
              <a:t> This type of model designs the data in the form of</a:t>
            </a:r>
            <a:r>
              <a:rPr lang="en-US" b="1" dirty="0"/>
              <a:t> rows </a:t>
            </a:r>
            <a:r>
              <a:rPr lang="en-US" dirty="0"/>
              <a:t>and</a:t>
            </a:r>
            <a:r>
              <a:rPr lang="en-US" b="1" dirty="0"/>
              <a:t> columns </a:t>
            </a:r>
            <a:r>
              <a:rPr lang="en-US" dirty="0"/>
              <a:t>within a table. Thus, a relational model uses tables for representing data and in-between relationships. </a:t>
            </a:r>
            <a:r>
              <a:rPr lang="en-US" dirty="0">
                <a:highlight>
                  <a:srgbClr val="FFFF00"/>
                </a:highlight>
              </a:rPr>
              <a:t>Tables are also called relations.</a:t>
            </a:r>
          </a:p>
        </p:txBody>
      </p:sp>
      <p:pic>
        <p:nvPicPr>
          <p:cNvPr id="4" name="Google Shape;187;p25" descr="1"/>
          <p:cNvPicPr preferRelativeResize="0"/>
          <p:nvPr/>
        </p:nvPicPr>
        <p:blipFill rotWithShape="1">
          <a:blip r:embed="rId2">
            <a:alphaModFix/>
          </a:blip>
          <a:srcRect b="43330"/>
          <a:stretch/>
        </p:blipFill>
        <p:spPr>
          <a:xfrm>
            <a:off x="3028189" y="3495504"/>
            <a:ext cx="5526087" cy="3087858"/>
          </a:xfrm>
          <a:prstGeom prst="rect">
            <a:avLst/>
          </a:prstGeom>
          <a:noFill/>
          <a:ln>
            <a:noFill/>
          </a:ln>
        </p:spPr>
      </p:pic>
      <p:sp>
        <p:nvSpPr>
          <p:cNvPr id="6" name="Rectangle 5"/>
          <p:cNvSpPr/>
          <p:nvPr/>
        </p:nvSpPr>
        <p:spPr>
          <a:xfrm>
            <a:off x="9840249" y="3472060"/>
            <a:ext cx="811441" cy="307777"/>
          </a:xfrm>
          <a:prstGeom prst="rect">
            <a:avLst/>
          </a:prstGeom>
        </p:spPr>
        <p:txBody>
          <a:bodyPr wrap="none">
            <a:spAutoFit/>
          </a:bodyPr>
          <a:lstStyle/>
          <a:p>
            <a:r>
              <a:rPr lang="en-US" dirty="0">
                <a:solidFill>
                  <a:schemeClr val="dk1"/>
                </a:solidFill>
                <a:latin typeface="Constantia"/>
                <a:ea typeface="Constantia"/>
                <a:cs typeface="Constantia"/>
                <a:sym typeface="Constantia"/>
              </a:rPr>
              <a:t>Column</a:t>
            </a:r>
            <a:endParaRPr lang="en-US" dirty="0"/>
          </a:p>
        </p:txBody>
      </p:sp>
      <p:cxnSp>
        <p:nvCxnSpPr>
          <p:cNvPr id="8" name="Straight Arrow Connector 7"/>
          <p:cNvCxnSpPr>
            <a:cxnSpLocks/>
            <a:endCxn id="6" idx="1"/>
          </p:cNvCxnSpPr>
          <p:nvPr/>
        </p:nvCxnSpPr>
        <p:spPr>
          <a:xfrm flipV="1">
            <a:off x="8454683" y="3625949"/>
            <a:ext cx="1385566" cy="1444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 name="Rectangle 8"/>
          <p:cNvSpPr/>
          <p:nvPr/>
        </p:nvSpPr>
        <p:spPr>
          <a:xfrm>
            <a:off x="9516691" y="5160183"/>
            <a:ext cx="716863" cy="307777"/>
          </a:xfrm>
          <a:prstGeom prst="rect">
            <a:avLst/>
          </a:prstGeom>
        </p:spPr>
        <p:txBody>
          <a:bodyPr wrap="none">
            <a:spAutoFit/>
          </a:bodyPr>
          <a:lstStyle/>
          <a:p>
            <a:r>
              <a:rPr lang="en-US" dirty="0">
                <a:solidFill>
                  <a:schemeClr val="dk1"/>
                </a:solidFill>
                <a:latin typeface="Constantia"/>
                <a:sym typeface="Constantia"/>
              </a:rPr>
              <a:t>ROWS</a:t>
            </a:r>
            <a:endParaRPr lang="en-US" dirty="0"/>
          </a:p>
        </p:txBody>
      </p:sp>
      <p:cxnSp>
        <p:nvCxnSpPr>
          <p:cNvPr id="11" name="Straight Arrow Connector 10"/>
          <p:cNvCxnSpPr>
            <a:stCxn id="4" idx="3"/>
          </p:cNvCxnSpPr>
          <p:nvPr/>
        </p:nvCxnSpPr>
        <p:spPr>
          <a:xfrm flipV="1">
            <a:off x="8554276" y="5028882"/>
            <a:ext cx="962415" cy="10551"/>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52304"/>
          </a:xfrm>
        </p:spPr>
        <p:txBody>
          <a:bodyPr>
            <a:normAutofit fontScale="90000"/>
          </a:bodyPr>
          <a:lstStyle/>
          <a:p>
            <a:r>
              <a:rPr lang="en-US" b="1" dirty="0"/>
              <a:t> Object-based Data Model</a:t>
            </a:r>
            <a:endParaRPr lang="en-US" dirty="0"/>
          </a:p>
        </p:txBody>
      </p:sp>
      <p:sp>
        <p:nvSpPr>
          <p:cNvPr id="3" name="Text Placeholder 2"/>
          <p:cNvSpPr>
            <a:spLocks noGrp="1"/>
          </p:cNvSpPr>
          <p:nvPr>
            <p:ph type="body" idx="1"/>
          </p:nvPr>
        </p:nvSpPr>
        <p:spPr>
          <a:xfrm>
            <a:off x="609600" y="801858"/>
            <a:ext cx="10972800" cy="5613009"/>
          </a:xfrm>
        </p:spPr>
        <p:txBody>
          <a:bodyPr>
            <a:normAutofit fontScale="92500" lnSpcReduction="20000"/>
          </a:bodyPr>
          <a:lstStyle/>
          <a:p>
            <a:pPr marL="342900" lvl="0">
              <a:spcBef>
                <a:spcPts val="300"/>
              </a:spcBef>
              <a:buClr>
                <a:srgbClr val="333333"/>
              </a:buClr>
              <a:buNone/>
            </a:pPr>
            <a:r>
              <a:rPr lang="en-US" b="1" dirty="0"/>
              <a:t>	</a:t>
            </a:r>
          </a:p>
          <a:p>
            <a:pPr marL="342900" lvl="0">
              <a:lnSpc>
                <a:spcPct val="150000"/>
              </a:lnSpc>
              <a:spcBef>
                <a:spcPts val="300"/>
              </a:spcBef>
              <a:buClr>
                <a:srgbClr val="333333"/>
              </a:buClr>
              <a:buFont typeface="Wingdings" pitchFamily="2" charset="2"/>
              <a:buChar char="Ø"/>
            </a:pPr>
            <a:r>
              <a:rPr lang="en-US" sz="3200" dirty="0">
                <a:solidFill>
                  <a:srgbClr val="333333"/>
                </a:solidFill>
                <a:latin typeface="Times New Roman" pitchFamily="18" charset="0"/>
                <a:ea typeface="Times New Roman"/>
                <a:cs typeface="Times New Roman" pitchFamily="18" charset="0"/>
                <a:sym typeface="Times New Roman"/>
              </a:rPr>
              <a:t>The real-world problems are more closely represented through the object-oriented data model.</a:t>
            </a:r>
            <a:endParaRPr lang="en-US" sz="3200" dirty="0">
              <a:latin typeface="Times New Roman" pitchFamily="18" charset="0"/>
              <a:cs typeface="Times New Roman" pitchFamily="18" charset="0"/>
            </a:endParaRPr>
          </a:p>
          <a:p>
            <a:pPr marL="342900" lvl="0">
              <a:lnSpc>
                <a:spcPct val="150000"/>
              </a:lnSpc>
              <a:spcBef>
                <a:spcPts val="0"/>
              </a:spcBef>
              <a:buClr>
                <a:srgbClr val="333333"/>
              </a:buClr>
              <a:buFont typeface="Wingdings" pitchFamily="2" charset="2"/>
              <a:buChar char="Ø"/>
            </a:pPr>
            <a:r>
              <a:rPr lang="en-US" sz="3200" dirty="0">
                <a:solidFill>
                  <a:srgbClr val="333333"/>
                </a:solidFill>
                <a:latin typeface="Times New Roman" pitchFamily="18" charset="0"/>
                <a:ea typeface="Times New Roman"/>
                <a:cs typeface="Times New Roman" pitchFamily="18" charset="0"/>
                <a:sym typeface="Times New Roman"/>
              </a:rPr>
              <a:t>In this model, both the data and relationship are present in a single structure known as an object. </a:t>
            </a:r>
            <a:endParaRPr lang="en-US" sz="3200" dirty="0">
              <a:latin typeface="Times New Roman" pitchFamily="18" charset="0"/>
              <a:ea typeface="Times New Roman"/>
              <a:cs typeface="Times New Roman" pitchFamily="18" charset="0"/>
              <a:sym typeface="Times New Roman"/>
            </a:endParaRPr>
          </a:p>
          <a:p>
            <a:pPr marL="342900" lvl="0">
              <a:lnSpc>
                <a:spcPct val="150000"/>
              </a:lnSpc>
              <a:spcBef>
                <a:spcPts val="0"/>
              </a:spcBef>
              <a:buClr>
                <a:srgbClr val="333333"/>
              </a:buClr>
              <a:buFont typeface="Wingdings" pitchFamily="2" charset="2"/>
              <a:buChar char="Ø"/>
            </a:pPr>
            <a:r>
              <a:rPr lang="en-US" sz="3200" dirty="0">
                <a:solidFill>
                  <a:srgbClr val="333333"/>
                </a:solidFill>
                <a:latin typeface="Times New Roman" pitchFamily="18" charset="0"/>
                <a:ea typeface="Times New Roman"/>
                <a:cs typeface="Times New Roman" pitchFamily="18" charset="0"/>
                <a:sym typeface="Times New Roman"/>
              </a:rPr>
              <a:t>We can store audio, video, images, etc in the database which was not possible in the relational model.</a:t>
            </a:r>
            <a:endParaRPr lang="en-US" sz="3200" dirty="0">
              <a:latin typeface="Times New Roman" pitchFamily="18" charset="0"/>
              <a:ea typeface="Times New Roman"/>
              <a:cs typeface="Times New Roman" pitchFamily="18" charset="0"/>
              <a:sym typeface="Times New Roman"/>
            </a:endParaRPr>
          </a:p>
          <a:p>
            <a:pPr marL="342900" lvl="0">
              <a:lnSpc>
                <a:spcPct val="150000"/>
              </a:lnSpc>
              <a:spcBef>
                <a:spcPts val="0"/>
              </a:spcBef>
              <a:buClr>
                <a:srgbClr val="333333"/>
              </a:buClr>
              <a:buFont typeface="Wingdings" pitchFamily="2" charset="2"/>
              <a:buChar char="Ø"/>
            </a:pPr>
            <a:r>
              <a:rPr lang="en-US" sz="3200" dirty="0">
                <a:solidFill>
                  <a:srgbClr val="333333"/>
                </a:solidFill>
                <a:latin typeface="Times New Roman" pitchFamily="18" charset="0"/>
                <a:ea typeface="Times New Roman"/>
                <a:cs typeface="Times New Roman" pitchFamily="18" charset="0"/>
                <a:sym typeface="Times New Roman"/>
              </a:rPr>
              <a:t>In this model, two are more objects are connected through links. We use this link to relate one object to other objects. </a:t>
            </a:r>
            <a:endParaRPr lang="en-US" sz="3200" dirty="0">
              <a:latin typeface="Times New Roman" pitchFamily="18" charset="0"/>
              <a:ea typeface="Times New Roman"/>
              <a:cs typeface="Times New Roman" pitchFamily="18" charset="0"/>
              <a:sym typeface="Times New Roman"/>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745588"/>
            <a:ext cx="10972800" cy="5380577"/>
          </a:xfrm>
        </p:spPr>
        <p:txBody>
          <a:bodyPr/>
          <a:lstStyle/>
          <a:p>
            <a:pPr lvl="0"/>
            <a:r>
              <a:rPr lang="en-US" sz="3200" dirty="0">
                <a:solidFill>
                  <a:srgbClr val="333333"/>
                </a:solidFill>
                <a:latin typeface="Times New Roman" pitchFamily="18" charset="0"/>
                <a:ea typeface="Times New Roman"/>
                <a:cs typeface="Times New Roman" pitchFamily="18" charset="0"/>
                <a:sym typeface="Times New Roman"/>
              </a:rPr>
              <a:t>This can be understood by the example given below.</a:t>
            </a:r>
            <a:endParaRPr lang="en-US" sz="3200" dirty="0">
              <a:latin typeface="Times New Roman" pitchFamily="18" charset="0"/>
              <a:ea typeface="Times New Roman"/>
              <a:cs typeface="Times New Roman" pitchFamily="18" charset="0"/>
              <a:sym typeface="Times New Roman"/>
            </a:endParaRPr>
          </a:p>
          <a:p>
            <a:endParaRPr lang="en-US" dirty="0"/>
          </a:p>
        </p:txBody>
      </p:sp>
      <p:pic>
        <p:nvPicPr>
          <p:cNvPr id="4" name="Google Shape;209;p28" descr="https://s3.ap-south-1.amazonaws.com/afteracademy-server-uploads/what-is-data-model-in-dbms-and-what-are-its-types-object-oriented-model-f443d52f53c2b9ef.jpg"/>
          <p:cNvPicPr preferRelativeResize="0"/>
          <p:nvPr/>
        </p:nvPicPr>
        <p:blipFill rotWithShape="1">
          <a:blip r:embed="rId2">
            <a:alphaModFix/>
          </a:blip>
          <a:srcRect/>
          <a:stretch/>
        </p:blipFill>
        <p:spPr>
          <a:xfrm>
            <a:off x="2059744" y="2056635"/>
            <a:ext cx="8294077" cy="3640779"/>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38236"/>
          </a:xfrm>
        </p:spPr>
        <p:txBody>
          <a:bodyPr>
            <a:normAutofit fontScale="90000"/>
          </a:bodyPr>
          <a:lstStyle/>
          <a:p>
            <a:r>
              <a:rPr lang="en-US" dirty="0">
                <a:latin typeface="Stencil" panose="040409050D0802020404" pitchFamily="82" charset="0"/>
              </a:rPr>
              <a:t>Database Design</a:t>
            </a:r>
          </a:p>
        </p:txBody>
      </p:sp>
      <p:sp>
        <p:nvSpPr>
          <p:cNvPr id="3" name="Text Placeholder 2"/>
          <p:cNvSpPr>
            <a:spLocks noGrp="1"/>
          </p:cNvSpPr>
          <p:nvPr>
            <p:ph type="body" idx="1"/>
          </p:nvPr>
        </p:nvSpPr>
        <p:spPr>
          <a:xfrm>
            <a:off x="609600" y="1111348"/>
            <a:ext cx="10972800" cy="5556737"/>
          </a:xfrm>
        </p:spPr>
        <p:txBody>
          <a:bodyPr>
            <a:normAutofit fontScale="77500" lnSpcReduction="20000"/>
          </a:bodyPr>
          <a:lstStyle/>
          <a:p>
            <a:pPr marL="274320" lvl="0" indent="-274320">
              <a:spcBef>
                <a:spcPts val="0"/>
              </a:spcBef>
              <a:buSzPts val="1900"/>
              <a:buNone/>
            </a:pPr>
            <a:r>
              <a:rPr lang="en-US" sz="3600" dirty="0"/>
              <a:t>The process of designing the general structure of the database:</a:t>
            </a:r>
            <a:endParaRPr lang="en-US" dirty="0"/>
          </a:p>
          <a:p>
            <a:pPr marL="274320" lvl="0" indent="-274320">
              <a:spcBef>
                <a:spcPts val="400"/>
              </a:spcBef>
              <a:buSzPts val="1900"/>
              <a:buNone/>
            </a:pPr>
            <a:endParaRPr lang="en-US" sz="3600" dirty="0"/>
          </a:p>
          <a:p>
            <a:pPr marL="274320" lvl="0" indent="-274320">
              <a:spcBef>
                <a:spcPts val="400"/>
              </a:spcBef>
              <a:buSzPts val="1900"/>
              <a:buFont typeface="Noto Sans Symbols"/>
              <a:buChar char="▪"/>
            </a:pPr>
            <a:r>
              <a:rPr lang="en-US" sz="3600" dirty="0"/>
              <a:t>Requirement Analysis</a:t>
            </a:r>
            <a:endParaRPr lang="en-US" dirty="0"/>
          </a:p>
          <a:p>
            <a:pPr marL="0" lvl="0" indent="0">
              <a:spcBef>
                <a:spcPts val="400"/>
              </a:spcBef>
              <a:buSzPts val="1900"/>
              <a:buNone/>
            </a:pPr>
            <a:endParaRPr lang="en-US" sz="3600" dirty="0"/>
          </a:p>
          <a:p>
            <a:pPr marL="274320" lvl="0" indent="-274320">
              <a:spcBef>
                <a:spcPts val="400"/>
              </a:spcBef>
              <a:buSzPts val="1900"/>
              <a:buFont typeface="Noto Sans Symbols"/>
              <a:buChar char="▪"/>
            </a:pPr>
            <a:r>
              <a:rPr lang="en-US" sz="3600" dirty="0"/>
              <a:t>Conceptual database design</a:t>
            </a:r>
            <a:endParaRPr lang="en-US" dirty="0"/>
          </a:p>
          <a:p>
            <a:pPr marL="0" lvl="0" indent="0">
              <a:spcBef>
                <a:spcPts val="400"/>
              </a:spcBef>
              <a:buSzPts val="1900"/>
              <a:buNone/>
            </a:pPr>
            <a:endParaRPr lang="en-US" sz="3600" dirty="0"/>
          </a:p>
          <a:p>
            <a:pPr marL="274320" lvl="0" indent="-274320">
              <a:spcBef>
                <a:spcPts val="400"/>
              </a:spcBef>
              <a:buSzPts val="1900"/>
              <a:buFont typeface="Noto Sans Symbols"/>
              <a:buChar char="▪"/>
            </a:pPr>
            <a:r>
              <a:rPr lang="en-US" sz="3600" dirty="0"/>
              <a:t>Logical database design</a:t>
            </a:r>
            <a:endParaRPr lang="en-US" dirty="0"/>
          </a:p>
          <a:p>
            <a:pPr marL="0" lvl="0" indent="0">
              <a:spcBef>
                <a:spcPts val="400"/>
              </a:spcBef>
              <a:buSzPts val="1900"/>
              <a:buNone/>
            </a:pPr>
            <a:endParaRPr lang="en-US" sz="3600" dirty="0"/>
          </a:p>
          <a:p>
            <a:pPr marL="274320" lvl="0" indent="-274320">
              <a:spcBef>
                <a:spcPts val="400"/>
              </a:spcBef>
              <a:buSzPts val="1900"/>
              <a:buFont typeface="Noto Sans Symbols"/>
              <a:buChar char="▪"/>
            </a:pPr>
            <a:r>
              <a:rPr lang="en-US" sz="3600" dirty="0"/>
              <a:t>Schema refinement</a:t>
            </a:r>
            <a:endParaRPr lang="en-US" dirty="0"/>
          </a:p>
          <a:p>
            <a:pPr marL="0" lvl="0" indent="0">
              <a:spcBef>
                <a:spcPts val="400"/>
              </a:spcBef>
              <a:buSzPts val="1900"/>
              <a:buNone/>
            </a:pPr>
            <a:endParaRPr lang="en-US" sz="3600" dirty="0"/>
          </a:p>
          <a:p>
            <a:pPr marL="274320" lvl="0" indent="-274320">
              <a:spcBef>
                <a:spcPts val="400"/>
              </a:spcBef>
              <a:buSzPts val="1900"/>
              <a:buFont typeface="Noto Sans Symbols"/>
              <a:buChar char="▪"/>
            </a:pPr>
            <a:r>
              <a:rPr lang="en-US" sz="3600" dirty="0"/>
              <a:t>Physical database design</a:t>
            </a:r>
            <a:endParaRPr lang="en-US" dirty="0"/>
          </a:p>
          <a:p>
            <a:pPr marL="0" lvl="0" indent="0">
              <a:spcBef>
                <a:spcPts val="400"/>
              </a:spcBef>
              <a:buSzPts val="1900"/>
              <a:buNone/>
            </a:pPr>
            <a:endParaRPr lang="en-US" sz="3600" dirty="0"/>
          </a:p>
          <a:p>
            <a:pPr marL="274320" lvl="0" indent="-274320">
              <a:spcBef>
                <a:spcPts val="400"/>
              </a:spcBef>
              <a:buSzPts val="1900"/>
              <a:buFont typeface="Noto Sans Symbols"/>
              <a:buChar char="▪"/>
            </a:pPr>
            <a:r>
              <a:rPr lang="en-US" sz="3600" dirty="0"/>
              <a:t>Security design</a:t>
            </a:r>
            <a:endParaRPr lang="en-US" dirty="0"/>
          </a:p>
          <a:p>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7D953B-801C-9065-E6E7-C12D959FC126}"/>
              </a:ext>
            </a:extLst>
          </p:cNvPr>
          <p:cNvSpPr>
            <a:spLocks noGrp="1"/>
          </p:cNvSpPr>
          <p:nvPr>
            <p:ph type="title"/>
          </p:nvPr>
        </p:nvSpPr>
        <p:spPr>
          <a:xfrm>
            <a:off x="609600" y="275771"/>
            <a:ext cx="10972800" cy="711200"/>
          </a:xfrm>
        </p:spPr>
        <p:txBody>
          <a:bodyPr>
            <a:normAutofit fontScale="90000"/>
          </a:bodyPr>
          <a:lstStyle/>
          <a:p>
            <a:br>
              <a:rPr lang="en-US" sz="4800" dirty="0"/>
            </a:br>
            <a:r>
              <a:rPr lang="en-US" sz="4800" dirty="0"/>
              <a:t>Requirement Analysis</a:t>
            </a:r>
            <a:br>
              <a:rPr lang="en-US" dirty="0"/>
            </a:br>
            <a:endParaRPr lang="en-IN" dirty="0"/>
          </a:p>
        </p:txBody>
      </p:sp>
      <p:sp>
        <p:nvSpPr>
          <p:cNvPr id="3" name="Text Placeholder 2">
            <a:extLst>
              <a:ext uri="{FF2B5EF4-FFF2-40B4-BE49-F238E27FC236}">
                <a16:creationId xmlns:a16="http://schemas.microsoft.com/office/drawing/2014/main" id="{F9A8431D-E7DE-934A-69B5-42D9DB5720AD}"/>
              </a:ext>
            </a:extLst>
          </p:cNvPr>
          <p:cNvSpPr>
            <a:spLocks noGrp="1"/>
          </p:cNvSpPr>
          <p:nvPr>
            <p:ph type="body" idx="1"/>
          </p:nvPr>
        </p:nvSpPr>
        <p:spPr>
          <a:xfrm>
            <a:off x="609600" y="986971"/>
            <a:ext cx="10972800" cy="5389565"/>
          </a:xfrm>
        </p:spPr>
        <p:txBody>
          <a:bodyPr/>
          <a:lstStyle/>
          <a:p>
            <a:pPr indent="-457200" eaLnBrk="0" fontAlgn="base" hangingPunct="0">
              <a:spcBef>
                <a:spcPct val="0"/>
              </a:spcBef>
              <a:spcAft>
                <a:spcPct val="0"/>
              </a:spcAft>
              <a:buClrTx/>
              <a:buSzTx/>
              <a:buFont typeface="Wingdings" panose="05000000000000000000" pitchFamily="2" charset="2"/>
              <a:buChar char="v"/>
            </a:pPr>
            <a:endParaRPr lang="en-US" sz="3200" dirty="0">
              <a:latin typeface="Times New Roman" panose="02020603050405020304" pitchFamily="18" charset="0"/>
              <a:cs typeface="Times New Roman" panose="02020603050405020304" pitchFamily="18" charset="0"/>
            </a:endParaRPr>
          </a:p>
          <a:p>
            <a:pPr indent="-457200" eaLnBrk="0" fontAlgn="base" hangingPunct="0">
              <a:spcBef>
                <a:spcPct val="0"/>
              </a:spcBef>
              <a:spcAft>
                <a:spcPct val="0"/>
              </a:spcAft>
              <a:buClrTx/>
              <a:buSzTx/>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What kind of data to store</a:t>
            </a:r>
          </a:p>
          <a:p>
            <a:pPr indent="-457200" eaLnBrk="0" fontAlgn="base" hangingPunct="0">
              <a:spcBef>
                <a:spcPct val="0"/>
              </a:spcBef>
              <a:spcAft>
                <a:spcPct val="0"/>
              </a:spcAft>
              <a:buClrTx/>
              <a:buSzTx/>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What are the most performed Operations on the data stored in database</a:t>
            </a:r>
          </a:p>
          <a:p>
            <a:pPr indent="-457200" eaLnBrk="0" fontAlgn="base" hangingPunct="0">
              <a:spcBef>
                <a:spcPct val="0"/>
              </a:spcBef>
              <a:spcAft>
                <a:spcPct val="0"/>
              </a:spcAft>
              <a:buClrTx/>
              <a:buSzTx/>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What functionalities to support</a:t>
            </a:r>
          </a:p>
          <a:p>
            <a:pPr lvl="0" indent="-457200" eaLnBrk="0" fontAlgn="base" hangingPunct="0">
              <a:spcBef>
                <a:spcPct val="0"/>
              </a:spcBef>
              <a:spcAft>
                <a:spcPct val="0"/>
              </a:spcAft>
              <a:buClrTx/>
              <a:buSzTx/>
              <a:buFont typeface="Wingdings" panose="05000000000000000000" pitchFamily="2" charset="2"/>
              <a:buChar char="v"/>
            </a:pPr>
            <a:r>
              <a:rPr lang="en-US" altLang="en-US" sz="3200" dirty="0">
                <a:solidFill>
                  <a:schemeClr val="tx1"/>
                </a:solidFill>
                <a:latin typeface="Times New Roman" panose="02020603050405020304" pitchFamily="18" charset="0"/>
                <a:cs typeface="Times New Roman" panose="02020603050405020304" pitchFamily="18" charset="0"/>
              </a:rPr>
              <a:t>Gather business rules and user requirements.</a:t>
            </a:r>
          </a:p>
          <a:p>
            <a:pPr lvl="0" indent="-457200" eaLnBrk="0" fontAlgn="base" hangingPunct="0">
              <a:spcBef>
                <a:spcPct val="0"/>
              </a:spcBef>
              <a:spcAft>
                <a:spcPct val="0"/>
              </a:spcAft>
              <a:buClrTx/>
              <a:buSzTx/>
              <a:buFont typeface="Wingdings" panose="05000000000000000000" pitchFamily="2" charset="2"/>
              <a:buChar char="v"/>
            </a:pPr>
            <a:r>
              <a:rPr lang="en-US" altLang="en-US" sz="3200" dirty="0">
                <a:solidFill>
                  <a:schemeClr val="tx1"/>
                </a:solidFill>
                <a:latin typeface="Times New Roman" panose="02020603050405020304" pitchFamily="18" charset="0"/>
                <a:cs typeface="Times New Roman" panose="02020603050405020304" pitchFamily="18" charset="0"/>
              </a:rPr>
              <a:t>Identify what data needs to be stored, processed, and retrieved.</a:t>
            </a:r>
          </a:p>
          <a:p>
            <a:pPr lvl="0" indent="-457200" eaLnBrk="0" fontAlgn="base" hangingPunct="0">
              <a:spcBef>
                <a:spcPct val="0"/>
              </a:spcBef>
              <a:spcAft>
                <a:spcPct val="0"/>
              </a:spcAft>
              <a:buClrTx/>
              <a:buSzTx/>
              <a:buFont typeface="Wingdings" panose="05000000000000000000" pitchFamily="2" charset="2"/>
              <a:buChar char="v"/>
            </a:pPr>
            <a:r>
              <a:rPr lang="en-US" altLang="en-US" sz="3200" dirty="0">
                <a:solidFill>
                  <a:schemeClr val="tx1"/>
                </a:solidFill>
                <a:latin typeface="Times New Roman" panose="02020603050405020304" pitchFamily="18" charset="0"/>
                <a:cs typeface="Times New Roman" panose="02020603050405020304" pitchFamily="18" charset="0"/>
              </a:rPr>
              <a:t>Interview stakeholders and study existing systems (if any).</a:t>
            </a:r>
          </a:p>
          <a:p>
            <a:pPr lvl="0" indent="-457200" eaLnBrk="0" fontAlgn="base" hangingPunct="0">
              <a:spcBef>
                <a:spcPct val="0"/>
              </a:spcBef>
              <a:spcAft>
                <a:spcPct val="0"/>
              </a:spcAft>
              <a:buClrTx/>
              <a:buSzTx/>
              <a:buFont typeface="Wingdings" panose="05000000000000000000" pitchFamily="2" charset="2"/>
              <a:buChar char="v"/>
            </a:pPr>
            <a:endParaRPr lang="en-US" altLang="en-US" sz="32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None/>
            </a:pPr>
            <a:r>
              <a:rPr lang="en-US" altLang="en-US" sz="3200" b="1" dirty="0">
                <a:solidFill>
                  <a:schemeClr val="tx1"/>
                </a:solidFill>
                <a:latin typeface="Times New Roman" panose="02020603050405020304" pitchFamily="18" charset="0"/>
                <a:cs typeface="Times New Roman" panose="02020603050405020304" pitchFamily="18" charset="0"/>
              </a:rPr>
              <a:t>Purpose</a:t>
            </a:r>
            <a:r>
              <a:rPr lang="en-US" altLang="en-US" sz="3200" dirty="0">
                <a:solidFill>
                  <a:schemeClr val="tx1"/>
                </a:solidFill>
                <a:latin typeface="Times New Roman" panose="02020603050405020304" pitchFamily="18" charset="0"/>
                <a:cs typeface="Times New Roman" panose="02020603050405020304" pitchFamily="18" charset="0"/>
              </a:rPr>
              <a:t>-</a:t>
            </a:r>
            <a:r>
              <a:rPr lang="en-US" sz="3200" dirty="0"/>
              <a:t>Understand the data needs of users and the system.</a:t>
            </a:r>
            <a:endParaRPr lang="en-US" altLang="en-US" sz="3200" dirty="0">
              <a:solidFill>
                <a:schemeClr val="tx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US"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49761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E7EBA2-52B6-5BB3-F651-25B90ED4DE1A}"/>
              </a:ext>
            </a:extLst>
          </p:cNvPr>
          <p:cNvSpPr>
            <a:spLocks noGrp="1"/>
          </p:cNvSpPr>
          <p:nvPr>
            <p:ph type="title"/>
          </p:nvPr>
        </p:nvSpPr>
        <p:spPr>
          <a:xfrm>
            <a:off x="406401" y="354464"/>
            <a:ext cx="10972800" cy="754743"/>
          </a:xfrm>
        </p:spPr>
        <p:txBody>
          <a:bodyPr>
            <a:normAutofit fontScale="90000"/>
          </a:bodyPr>
          <a:lstStyle/>
          <a:p>
            <a:br>
              <a:rPr lang="en-US" sz="4800" dirty="0"/>
            </a:br>
            <a:r>
              <a:rPr lang="en-US" sz="4800" dirty="0"/>
              <a:t>Conceptual database design</a:t>
            </a:r>
            <a:br>
              <a:rPr lang="en-US" dirty="0"/>
            </a:br>
            <a:endParaRPr lang="en-IN" dirty="0"/>
          </a:p>
        </p:txBody>
      </p:sp>
      <p:sp>
        <p:nvSpPr>
          <p:cNvPr id="3" name="Text Placeholder 2">
            <a:extLst>
              <a:ext uri="{FF2B5EF4-FFF2-40B4-BE49-F238E27FC236}">
                <a16:creationId xmlns:a16="http://schemas.microsoft.com/office/drawing/2014/main" id="{C3D9BC5E-1E61-13B1-7DF4-8183BCC9D0FF}"/>
              </a:ext>
            </a:extLst>
          </p:cNvPr>
          <p:cNvSpPr>
            <a:spLocks noGrp="1"/>
          </p:cNvSpPr>
          <p:nvPr>
            <p:ph type="body" idx="1"/>
          </p:nvPr>
        </p:nvSpPr>
        <p:spPr>
          <a:xfrm>
            <a:off x="609600" y="1109207"/>
            <a:ext cx="10972800" cy="5016957"/>
          </a:xfrm>
        </p:spPr>
        <p:txBody>
          <a:bodyPr/>
          <a:lstStyle/>
          <a:p>
            <a:r>
              <a:rPr lang="en-US" sz="3200" dirty="0">
                <a:latin typeface="Times New Roman" panose="02020603050405020304" pitchFamily="18" charset="0"/>
                <a:cs typeface="Times New Roman" panose="02020603050405020304" pitchFamily="18" charset="0"/>
              </a:rPr>
              <a:t>Requirement Specifications are converted in to E-R Model or any other similarly High-Level Data Model.</a:t>
            </a:r>
          </a:p>
          <a:p>
            <a:r>
              <a:rPr lang="en-US" sz="3200" dirty="0">
                <a:latin typeface="Times New Roman" panose="02020603050405020304" pitchFamily="18" charset="0"/>
                <a:cs typeface="Times New Roman" panose="02020603050405020304" pitchFamily="18" charset="0"/>
              </a:rPr>
              <a:t>Developer Identify the Entities Relationship between them </a:t>
            </a:r>
          </a:p>
          <a:p>
            <a:r>
              <a:rPr lang="en-US" sz="3200" dirty="0">
                <a:latin typeface="Times New Roman" panose="02020603050405020304" pitchFamily="18" charset="0"/>
                <a:cs typeface="Times New Roman" panose="02020603050405020304" pitchFamily="18" charset="0"/>
              </a:rPr>
              <a:t>Create an Entity-Relationship Diagram (ERD) or UML class diagram.</a:t>
            </a:r>
          </a:p>
          <a:p>
            <a:pPr marL="114300" indent="0">
              <a:buNone/>
            </a:pPr>
            <a:endParaRPr lang="en-US" sz="3200" dirty="0">
              <a:latin typeface="Times New Roman" panose="02020603050405020304" pitchFamily="18" charset="0"/>
              <a:cs typeface="Times New Roman" panose="02020603050405020304" pitchFamily="18" charset="0"/>
            </a:endParaRPr>
          </a:p>
          <a:p>
            <a:r>
              <a:rPr lang="en-US" sz="3200" b="1" dirty="0">
                <a:latin typeface="Times New Roman" panose="02020603050405020304" pitchFamily="18" charset="0"/>
                <a:cs typeface="Times New Roman" panose="02020603050405020304" pitchFamily="18" charset="0"/>
              </a:rPr>
              <a:t>Purpose-</a:t>
            </a:r>
            <a:r>
              <a:rPr lang="en-US" sz="3200" dirty="0"/>
              <a:t>Create a high-level data model without considering the database system.</a:t>
            </a:r>
          </a:p>
          <a:p>
            <a:r>
              <a:rPr lang="en-US" sz="3200" b="1" dirty="0"/>
              <a:t>Deliverable</a:t>
            </a:r>
            <a:r>
              <a:rPr lang="en-US" sz="3200" dirty="0"/>
              <a:t>: Conceptual schema (e.g., ERD)</a:t>
            </a:r>
            <a:endParaRPr lang="en-US" sz="320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34924001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791FF-C02B-940C-B51D-D1FA73E2EEB4}"/>
              </a:ext>
            </a:extLst>
          </p:cNvPr>
          <p:cNvSpPr>
            <a:spLocks noGrp="1"/>
          </p:cNvSpPr>
          <p:nvPr>
            <p:ph type="title"/>
          </p:nvPr>
        </p:nvSpPr>
        <p:spPr>
          <a:xfrm>
            <a:off x="609600" y="304800"/>
            <a:ext cx="10972800" cy="798286"/>
          </a:xfrm>
        </p:spPr>
        <p:txBody>
          <a:bodyPr>
            <a:normAutofit fontScale="90000"/>
          </a:bodyPr>
          <a:lstStyle/>
          <a:p>
            <a:br>
              <a:rPr lang="en-US" sz="4800" dirty="0"/>
            </a:br>
            <a:r>
              <a:rPr lang="en-US" sz="4800" dirty="0"/>
              <a:t>Logical database design</a:t>
            </a:r>
            <a:br>
              <a:rPr lang="en-US" dirty="0"/>
            </a:br>
            <a:endParaRPr lang="en-IN" b="1" dirty="0"/>
          </a:p>
        </p:txBody>
      </p:sp>
      <p:sp>
        <p:nvSpPr>
          <p:cNvPr id="3" name="Text Placeholder 2">
            <a:extLst>
              <a:ext uri="{FF2B5EF4-FFF2-40B4-BE49-F238E27FC236}">
                <a16:creationId xmlns:a16="http://schemas.microsoft.com/office/drawing/2014/main" id="{4F7BABCA-6A57-DE20-E6FE-B6B377273D08}"/>
              </a:ext>
            </a:extLst>
          </p:cNvPr>
          <p:cNvSpPr>
            <a:spLocks noGrp="1"/>
          </p:cNvSpPr>
          <p:nvPr>
            <p:ph type="body" idx="1"/>
          </p:nvPr>
        </p:nvSpPr>
        <p:spPr/>
        <p:txBody>
          <a:bodyPr>
            <a:normAutofit/>
          </a:bodyPr>
          <a:lstStyle/>
          <a:p>
            <a:pPr marL="571500" indent="-571500" eaLnBrk="0" fontAlgn="base" hangingPunct="0">
              <a:spcBef>
                <a:spcPct val="0"/>
              </a:spcBef>
              <a:spcAft>
                <a:spcPct val="0"/>
              </a:spcAft>
              <a:buClrTx/>
              <a:buSzTx/>
              <a:buFont typeface="Wingdings" panose="05000000000000000000" pitchFamily="2" charset="2"/>
              <a:buChar char="Ø"/>
            </a:pPr>
            <a:r>
              <a:rPr lang="en-US" sz="3200" dirty="0">
                <a:latin typeface="Times New Roman" panose="02020603050405020304" pitchFamily="18" charset="0"/>
                <a:cs typeface="Times New Roman" panose="02020603050405020304" pitchFamily="18" charset="0"/>
              </a:rPr>
              <a:t>Convert the conceptual model into a logical structure that can be implemented in a database system.</a:t>
            </a:r>
            <a:endParaRPr lang="en-US" altLang="en-US" sz="3200" dirty="0">
              <a:solidFill>
                <a:schemeClr val="tx1"/>
              </a:solidFill>
              <a:latin typeface="Times New Roman" panose="02020603050405020304" pitchFamily="18" charset="0"/>
              <a:cs typeface="Times New Roman" panose="02020603050405020304" pitchFamily="18" charset="0"/>
            </a:endParaRPr>
          </a:p>
          <a:p>
            <a:pPr marL="571500" lvl="0" indent="-571500" eaLnBrk="0" fontAlgn="base" hangingPunct="0">
              <a:spcBef>
                <a:spcPct val="0"/>
              </a:spcBef>
              <a:spcAft>
                <a:spcPct val="0"/>
              </a:spcAft>
              <a:buClrTx/>
              <a:buSzTx/>
              <a:buFont typeface="Wingdings" panose="05000000000000000000" pitchFamily="2" charset="2"/>
              <a:buChar char="Ø"/>
            </a:pPr>
            <a:r>
              <a:rPr lang="en-US" altLang="en-US" sz="3200" dirty="0">
                <a:solidFill>
                  <a:schemeClr val="tx1"/>
                </a:solidFill>
                <a:latin typeface="Times New Roman" panose="02020603050405020304" pitchFamily="18" charset="0"/>
                <a:cs typeface="Times New Roman" panose="02020603050405020304" pitchFamily="18" charset="0"/>
              </a:rPr>
              <a:t>Map entities and relationships into </a:t>
            </a:r>
            <a:r>
              <a:rPr lang="en-US" altLang="en-US" sz="3200" b="1" dirty="0">
                <a:solidFill>
                  <a:schemeClr val="tx1"/>
                </a:solidFill>
                <a:latin typeface="Times New Roman" panose="02020603050405020304" pitchFamily="18" charset="0"/>
                <a:cs typeface="Times New Roman" panose="02020603050405020304" pitchFamily="18" charset="0"/>
              </a:rPr>
              <a:t>tables</a:t>
            </a:r>
            <a:r>
              <a:rPr lang="en-US" altLang="en-US" sz="3200" dirty="0">
                <a:solidFill>
                  <a:schemeClr val="tx1"/>
                </a:solidFill>
                <a:latin typeface="Times New Roman" panose="02020603050405020304" pitchFamily="18" charset="0"/>
                <a:cs typeface="Times New Roman" panose="02020603050405020304" pitchFamily="18" charset="0"/>
              </a:rPr>
              <a:t>.</a:t>
            </a:r>
          </a:p>
          <a:p>
            <a:pPr marL="571500" lvl="0" indent="-571500" eaLnBrk="0" fontAlgn="base" hangingPunct="0">
              <a:spcBef>
                <a:spcPct val="0"/>
              </a:spcBef>
              <a:spcAft>
                <a:spcPct val="0"/>
              </a:spcAft>
              <a:buClrTx/>
              <a:buSzTx/>
              <a:buFont typeface="Wingdings" panose="05000000000000000000" pitchFamily="2" charset="2"/>
              <a:buChar char="Ø"/>
            </a:pPr>
            <a:r>
              <a:rPr lang="en-US" altLang="en-US" sz="3200" dirty="0">
                <a:solidFill>
                  <a:schemeClr val="tx1"/>
                </a:solidFill>
                <a:latin typeface="Times New Roman" panose="02020603050405020304" pitchFamily="18" charset="0"/>
                <a:cs typeface="Times New Roman" panose="02020603050405020304" pitchFamily="18" charset="0"/>
              </a:rPr>
              <a:t>Define </a:t>
            </a:r>
            <a:r>
              <a:rPr lang="en-US" altLang="en-US" sz="3200" b="1" dirty="0">
                <a:solidFill>
                  <a:schemeClr val="tx1"/>
                </a:solidFill>
                <a:latin typeface="Times New Roman" panose="02020603050405020304" pitchFamily="18" charset="0"/>
                <a:cs typeface="Times New Roman" panose="02020603050405020304" pitchFamily="18" charset="0"/>
              </a:rPr>
              <a:t>primary keys</a:t>
            </a:r>
            <a:r>
              <a:rPr lang="en-US" altLang="en-US" sz="3200" dirty="0">
                <a:solidFill>
                  <a:schemeClr val="tx1"/>
                </a:solidFill>
                <a:latin typeface="Times New Roman" panose="02020603050405020304" pitchFamily="18" charset="0"/>
                <a:cs typeface="Times New Roman" panose="02020603050405020304" pitchFamily="18" charset="0"/>
              </a:rPr>
              <a:t> and </a:t>
            </a:r>
            <a:r>
              <a:rPr lang="en-US" altLang="en-US" sz="3200" b="1" dirty="0">
                <a:solidFill>
                  <a:schemeClr val="tx1"/>
                </a:solidFill>
                <a:latin typeface="Times New Roman" panose="02020603050405020304" pitchFamily="18" charset="0"/>
                <a:cs typeface="Times New Roman" panose="02020603050405020304" pitchFamily="18" charset="0"/>
              </a:rPr>
              <a:t>foreign keys</a:t>
            </a:r>
            <a:r>
              <a:rPr lang="en-US" altLang="en-US" sz="3200" dirty="0">
                <a:solidFill>
                  <a:schemeClr val="tx1"/>
                </a:solidFill>
                <a:latin typeface="Times New Roman" panose="02020603050405020304" pitchFamily="18" charset="0"/>
                <a:cs typeface="Times New Roman" panose="02020603050405020304" pitchFamily="18" charset="0"/>
              </a:rPr>
              <a:t>.</a:t>
            </a:r>
          </a:p>
          <a:p>
            <a:pPr marL="571500" lvl="0" indent="-571500" eaLnBrk="0" fontAlgn="base" hangingPunct="0">
              <a:spcBef>
                <a:spcPct val="0"/>
              </a:spcBef>
              <a:spcAft>
                <a:spcPct val="0"/>
              </a:spcAft>
              <a:buClrTx/>
              <a:buSzTx/>
              <a:buFont typeface="Wingdings" panose="05000000000000000000" pitchFamily="2" charset="2"/>
              <a:buChar char="Ø"/>
            </a:pPr>
            <a:r>
              <a:rPr lang="en-US" altLang="en-US" sz="3200" dirty="0">
                <a:solidFill>
                  <a:schemeClr val="tx1"/>
                </a:solidFill>
                <a:latin typeface="Times New Roman" panose="02020603050405020304" pitchFamily="18" charset="0"/>
                <a:cs typeface="Times New Roman" panose="02020603050405020304" pitchFamily="18" charset="0"/>
              </a:rPr>
              <a:t>Normalize tables to eliminate redundancy (up to 3NF or higher).</a:t>
            </a:r>
          </a:p>
          <a:p>
            <a:pPr marL="0" lvl="0" indent="0" eaLnBrk="0" fontAlgn="base" hangingPunct="0">
              <a:spcBef>
                <a:spcPct val="0"/>
              </a:spcBef>
              <a:spcAft>
                <a:spcPct val="0"/>
              </a:spcAft>
              <a:buClrTx/>
              <a:buSzTx/>
              <a:buNone/>
            </a:pPr>
            <a:endParaRPr lang="en-US" altLang="en-US" sz="3600" dirty="0">
              <a:solidFill>
                <a:schemeClr val="tx1"/>
              </a:solidFill>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91425532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A69E7C-0A85-206A-69C6-A07136022F2D}"/>
              </a:ext>
            </a:extLst>
          </p:cNvPr>
          <p:cNvSpPr>
            <a:spLocks noGrp="1"/>
          </p:cNvSpPr>
          <p:nvPr>
            <p:ph type="title"/>
          </p:nvPr>
        </p:nvSpPr>
        <p:spPr/>
        <p:txBody>
          <a:bodyPr>
            <a:normAutofit fontScale="90000"/>
          </a:bodyPr>
          <a:lstStyle/>
          <a:p>
            <a:r>
              <a:rPr lang="en-US" sz="4800" dirty="0"/>
              <a:t>Schema refinement</a:t>
            </a:r>
            <a:br>
              <a:rPr lang="en-US" dirty="0"/>
            </a:br>
            <a:endParaRPr lang="en-IN" dirty="0"/>
          </a:p>
        </p:txBody>
      </p:sp>
      <p:sp>
        <p:nvSpPr>
          <p:cNvPr id="3" name="Text Placeholder 2">
            <a:extLst>
              <a:ext uri="{FF2B5EF4-FFF2-40B4-BE49-F238E27FC236}">
                <a16:creationId xmlns:a16="http://schemas.microsoft.com/office/drawing/2014/main" id="{727D13F9-A9C0-32F1-47ED-2400039A98DA}"/>
              </a:ext>
            </a:extLst>
          </p:cNvPr>
          <p:cNvSpPr>
            <a:spLocks noGrp="1"/>
          </p:cNvSpPr>
          <p:nvPr>
            <p:ph type="body" idx="1"/>
          </p:nvPr>
        </p:nvSpPr>
        <p:spPr/>
        <p:txBody>
          <a:bodyPr/>
          <a:lstStyle/>
          <a:p>
            <a:r>
              <a:rPr lang="en-US" dirty="0"/>
              <a:t>In this refinement step collection of relations in the relational database schema are Analyzed.</a:t>
            </a:r>
          </a:p>
          <a:p>
            <a:r>
              <a:rPr lang="en-US" dirty="0"/>
              <a:t>Such as Redundancy, inconsistence, anomalies and restructure.</a:t>
            </a:r>
            <a:endParaRPr lang="en-IN" dirty="0"/>
          </a:p>
        </p:txBody>
      </p:sp>
    </p:spTree>
    <p:extLst>
      <p:ext uri="{BB962C8B-B14F-4D97-AF65-F5344CB8AC3E}">
        <p14:creationId xmlns:p14="http://schemas.microsoft.com/office/powerpoint/2010/main" val="393734933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7EB542-FA4E-13B5-BA02-F136067AAE65}"/>
              </a:ext>
            </a:extLst>
          </p:cNvPr>
          <p:cNvSpPr>
            <a:spLocks noGrp="1"/>
          </p:cNvSpPr>
          <p:nvPr>
            <p:ph type="title"/>
          </p:nvPr>
        </p:nvSpPr>
        <p:spPr/>
        <p:txBody>
          <a:bodyPr>
            <a:normAutofit fontScale="90000"/>
          </a:bodyPr>
          <a:lstStyle/>
          <a:p>
            <a:r>
              <a:rPr lang="en-US" sz="4800" dirty="0"/>
              <a:t>Physical database design</a:t>
            </a:r>
            <a:br>
              <a:rPr lang="en-US" dirty="0"/>
            </a:br>
            <a:endParaRPr lang="en-IN" dirty="0"/>
          </a:p>
        </p:txBody>
      </p:sp>
      <p:sp>
        <p:nvSpPr>
          <p:cNvPr id="4" name="Rectangle 1">
            <a:extLst>
              <a:ext uri="{FF2B5EF4-FFF2-40B4-BE49-F238E27FC236}">
                <a16:creationId xmlns:a16="http://schemas.microsoft.com/office/drawing/2014/main" id="{3B3CC634-6968-D502-D566-660EC1ED021F}"/>
              </a:ext>
            </a:extLst>
          </p:cNvPr>
          <p:cNvSpPr>
            <a:spLocks noGrp="1" noChangeArrowheads="1"/>
          </p:cNvSpPr>
          <p:nvPr>
            <p:ph type="body" idx="1"/>
          </p:nvPr>
        </p:nvSpPr>
        <p:spPr bwMode="auto">
          <a:xfrm>
            <a:off x="609600" y="900702"/>
            <a:ext cx="11350171" cy="5558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lvl="0" indent="0" eaLnBrk="0" fontAlgn="base" hangingPunct="0">
              <a:spcBef>
                <a:spcPct val="0"/>
              </a:spcBef>
              <a:spcAft>
                <a:spcPct val="0"/>
              </a:spcAft>
              <a:buClrTx/>
              <a:buSzTx/>
              <a:buNone/>
            </a:pPr>
            <a:r>
              <a:rPr lang="en-US" altLang="en-US" sz="3200" dirty="0">
                <a:solidFill>
                  <a:schemeClr val="tx1"/>
                </a:solidFill>
                <a:latin typeface="Times New Roman" panose="02020603050405020304" pitchFamily="18" charset="0"/>
                <a:cs typeface="Times New Roman" panose="02020603050405020304" pitchFamily="18" charset="0"/>
              </a:rPr>
              <a:t>Concerned about determine the Physical features of the  Database</a:t>
            </a:r>
          </a:p>
          <a:p>
            <a:pPr marL="0" lvl="0" indent="0" eaLnBrk="0" fontAlgn="base" hangingPunct="0">
              <a:spcBef>
                <a:spcPct val="0"/>
              </a:spcBef>
              <a:spcAft>
                <a:spcPct val="0"/>
              </a:spcAft>
              <a:buClrTx/>
              <a:buSzTx/>
              <a:buNone/>
            </a:pPr>
            <a:endParaRPr lang="en-US" altLang="en-US" sz="32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pPr>
            <a:r>
              <a:rPr lang="en-US" altLang="en-US" sz="3200" dirty="0">
                <a:solidFill>
                  <a:schemeClr val="tx1"/>
                </a:solidFill>
                <a:latin typeface="Times New Roman" panose="02020603050405020304" pitchFamily="18" charset="0"/>
                <a:cs typeface="Times New Roman" panose="02020603050405020304" pitchFamily="18" charset="0"/>
              </a:rPr>
              <a:t>Choose indexes for faster access.</a:t>
            </a:r>
          </a:p>
          <a:p>
            <a:pPr marL="0" lvl="0" indent="0" eaLnBrk="0" fontAlgn="base" hangingPunct="0">
              <a:spcBef>
                <a:spcPct val="0"/>
              </a:spcBef>
              <a:spcAft>
                <a:spcPct val="0"/>
              </a:spcAft>
              <a:buClrTx/>
              <a:buSzTx/>
              <a:buFontTx/>
              <a:buChar char="•"/>
            </a:pPr>
            <a:r>
              <a:rPr lang="en-US" altLang="en-US" sz="3200" dirty="0">
                <a:solidFill>
                  <a:schemeClr val="tx1"/>
                </a:solidFill>
                <a:latin typeface="Times New Roman" panose="02020603050405020304" pitchFamily="18" charset="0"/>
                <a:cs typeface="Times New Roman" panose="02020603050405020304" pitchFamily="18" charset="0"/>
              </a:rPr>
              <a:t>Define data types and storage formats.</a:t>
            </a:r>
          </a:p>
          <a:p>
            <a:pPr marL="0" lvl="0" indent="0" eaLnBrk="0" fontAlgn="base" hangingPunct="0">
              <a:spcBef>
                <a:spcPct val="0"/>
              </a:spcBef>
              <a:spcAft>
                <a:spcPct val="0"/>
              </a:spcAft>
              <a:buClrTx/>
              <a:buSzTx/>
              <a:buFontTx/>
              <a:buChar char="•"/>
            </a:pPr>
            <a:r>
              <a:rPr lang="en-US" altLang="en-US" sz="3200" dirty="0">
                <a:solidFill>
                  <a:schemeClr val="tx1"/>
                </a:solidFill>
                <a:latin typeface="Times New Roman" panose="02020603050405020304" pitchFamily="18" charset="0"/>
                <a:cs typeface="Times New Roman" panose="02020603050405020304" pitchFamily="18" charset="0"/>
              </a:rPr>
              <a:t>Estimate storage size and plan disk usage.</a:t>
            </a:r>
          </a:p>
          <a:p>
            <a:pPr marL="0" lvl="0" indent="0" eaLnBrk="0" fontAlgn="base" hangingPunct="0">
              <a:spcBef>
                <a:spcPct val="0"/>
              </a:spcBef>
              <a:spcAft>
                <a:spcPct val="0"/>
              </a:spcAft>
              <a:buClrTx/>
              <a:buSzTx/>
              <a:buFontTx/>
              <a:buChar char="•"/>
            </a:pPr>
            <a:r>
              <a:rPr lang="en-US" altLang="en-US" sz="3200" dirty="0">
                <a:solidFill>
                  <a:schemeClr val="tx1"/>
                </a:solidFill>
                <a:latin typeface="Times New Roman" panose="02020603050405020304" pitchFamily="18" charset="0"/>
                <a:cs typeface="Times New Roman" panose="02020603050405020304" pitchFamily="18" charset="0"/>
              </a:rPr>
              <a:t>Access methods</a:t>
            </a:r>
          </a:p>
          <a:p>
            <a:pPr marL="0" lvl="0" indent="0" eaLnBrk="0" fontAlgn="base" hangingPunct="0">
              <a:spcBef>
                <a:spcPct val="0"/>
              </a:spcBef>
              <a:spcAft>
                <a:spcPct val="0"/>
              </a:spcAft>
              <a:buClrTx/>
              <a:buSzTx/>
              <a:buFontTx/>
              <a:buChar char="•"/>
            </a:pPr>
            <a:r>
              <a:rPr lang="en-US" altLang="en-US" sz="3200" dirty="0">
                <a:solidFill>
                  <a:schemeClr val="tx1"/>
                </a:solidFill>
                <a:latin typeface="Times New Roman" panose="02020603050405020304" pitchFamily="18" charset="0"/>
                <a:cs typeface="Times New Roman" panose="02020603050405020304" pitchFamily="18" charset="0"/>
              </a:rPr>
              <a:t>Plan for performance optimization.</a:t>
            </a:r>
          </a:p>
          <a:p>
            <a:pPr marL="0" lvl="0" indent="0" eaLnBrk="0" fontAlgn="base" hangingPunct="0">
              <a:spcBef>
                <a:spcPct val="0"/>
              </a:spcBef>
              <a:spcAft>
                <a:spcPct val="0"/>
              </a:spcAft>
              <a:buClrTx/>
              <a:buSzTx/>
              <a:buFontTx/>
              <a:buChar char="•"/>
            </a:pPr>
            <a:endParaRPr lang="en-US" altLang="en-US" sz="3200" dirty="0">
              <a:solidFill>
                <a:schemeClr val="tx1"/>
              </a:solidFill>
              <a:latin typeface="Times New Roman" panose="02020603050405020304" pitchFamily="18" charset="0"/>
              <a:cs typeface="Times New Roman" panose="02020603050405020304" pitchFamily="18" charset="0"/>
            </a:endParaRPr>
          </a:p>
          <a:p>
            <a:pPr marL="0" lvl="0" indent="0" eaLnBrk="0" fontAlgn="base" hangingPunct="0">
              <a:spcBef>
                <a:spcPct val="0"/>
              </a:spcBef>
              <a:spcAft>
                <a:spcPct val="0"/>
              </a:spcAft>
              <a:buClrTx/>
              <a:buSzTx/>
              <a:buFontTx/>
              <a:buChar char="•"/>
            </a:pPr>
            <a:r>
              <a:rPr lang="en-US" sz="3200" b="1" dirty="0">
                <a:latin typeface="Times New Roman" panose="02020603050405020304" pitchFamily="18" charset="0"/>
                <a:cs typeface="Times New Roman" panose="02020603050405020304" pitchFamily="18" charset="0"/>
              </a:rPr>
              <a:t>Purpose</a:t>
            </a:r>
            <a:r>
              <a:rPr lang="en-US" sz="3200" dirty="0">
                <a:latin typeface="Times New Roman" panose="02020603050405020304" pitchFamily="18" charset="0"/>
                <a:cs typeface="Times New Roman" panose="02020603050405020304" pitchFamily="18" charset="0"/>
              </a:rPr>
              <a:t>: Define how the data will be stored and accessed physically in the database.</a:t>
            </a:r>
            <a:endParaRPr lang="en-US" altLang="en-US" sz="3200" dirty="0">
              <a:solidFill>
                <a:schemeClr val="tx1"/>
              </a:solidFill>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32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0416334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6CAA57-543D-0BD2-33B7-940EEB201947}"/>
              </a:ext>
            </a:extLst>
          </p:cNvPr>
          <p:cNvSpPr>
            <a:spLocks noGrp="1"/>
          </p:cNvSpPr>
          <p:nvPr>
            <p:ph type="title"/>
          </p:nvPr>
        </p:nvSpPr>
        <p:spPr/>
        <p:txBody>
          <a:bodyPr/>
          <a:lstStyle/>
          <a:p>
            <a:r>
              <a:rPr lang="en-US" dirty="0"/>
              <a:t>Security</a:t>
            </a:r>
            <a:endParaRPr lang="en-IN" dirty="0"/>
          </a:p>
        </p:txBody>
      </p:sp>
      <p:sp>
        <p:nvSpPr>
          <p:cNvPr id="3" name="Text Placeholder 2">
            <a:extLst>
              <a:ext uri="{FF2B5EF4-FFF2-40B4-BE49-F238E27FC236}">
                <a16:creationId xmlns:a16="http://schemas.microsoft.com/office/drawing/2014/main" id="{9554C531-04EE-5FBA-AE64-F8814FC4538F}"/>
              </a:ext>
            </a:extLst>
          </p:cNvPr>
          <p:cNvSpPr>
            <a:spLocks noGrp="1"/>
          </p:cNvSpPr>
          <p:nvPr>
            <p:ph type="body" idx="1"/>
          </p:nvPr>
        </p:nvSpPr>
        <p:spPr/>
        <p:txBody>
          <a:bodyPr/>
          <a:lstStyle/>
          <a:p>
            <a:r>
              <a:rPr lang="en-US" dirty="0">
                <a:latin typeface="Times New Roman" panose="02020603050405020304" pitchFamily="18" charset="0"/>
                <a:cs typeface="Times New Roman" panose="02020603050405020304" pitchFamily="18" charset="0"/>
              </a:rPr>
              <a:t>All the entities and its roes are identified for every application that access the database.</a:t>
            </a: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65335741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431FFA-C971-4C72-D3A7-D93788D62E8D}"/>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94824D59-AF0B-5237-8B18-EA34190062F3}"/>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2EA21A1F-56A2-0958-EEB2-8F9A1AECA2F2}"/>
              </a:ext>
            </a:extLst>
          </p:cNvPr>
          <p:cNvPicPr>
            <a:picLocks noChangeAspect="1"/>
          </p:cNvPicPr>
          <p:nvPr/>
        </p:nvPicPr>
        <p:blipFill>
          <a:blip r:embed="rId2"/>
          <a:stretch>
            <a:fillRect/>
          </a:stretch>
        </p:blipFill>
        <p:spPr>
          <a:xfrm>
            <a:off x="779489" y="274638"/>
            <a:ext cx="10802911" cy="6308723"/>
          </a:xfrm>
          <a:prstGeom prst="rect">
            <a:avLst/>
          </a:prstGeom>
        </p:spPr>
      </p:pic>
    </p:spTree>
    <p:extLst>
      <p:ext uri="{BB962C8B-B14F-4D97-AF65-F5344CB8AC3E}">
        <p14:creationId xmlns:p14="http://schemas.microsoft.com/office/powerpoint/2010/main" val="329768161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ER (Entity Relationship) Model</a:t>
            </a:r>
          </a:p>
        </p:txBody>
      </p:sp>
      <p:sp>
        <p:nvSpPr>
          <p:cNvPr id="3" name="Text Placeholder 2"/>
          <p:cNvSpPr>
            <a:spLocks noGrp="1"/>
          </p:cNvSpPr>
          <p:nvPr>
            <p:ph type="body" idx="1"/>
          </p:nvPr>
        </p:nvSpPr>
        <p:spPr>
          <a:xfrm>
            <a:off x="609600" y="1153551"/>
            <a:ext cx="10972800" cy="5458264"/>
          </a:xfrm>
        </p:spPr>
        <p:txBody>
          <a:bodyPr>
            <a:normAutofit fontScale="62500" lnSpcReduction="20000"/>
          </a:bodyPr>
          <a:lstStyle/>
          <a:p>
            <a:pPr>
              <a:lnSpc>
                <a:spcPct val="170000"/>
              </a:lnSpc>
              <a:buFont typeface="Wingdings" pitchFamily="2" charset="2"/>
              <a:buChar char="v"/>
            </a:pPr>
            <a:r>
              <a:rPr lang="en-US" sz="5100" dirty="0"/>
              <a:t>ER model stands for an Entity-Relationship model.</a:t>
            </a:r>
          </a:p>
          <a:p>
            <a:pPr>
              <a:lnSpc>
                <a:spcPct val="170000"/>
              </a:lnSpc>
              <a:buFont typeface="Wingdings" pitchFamily="2" charset="2"/>
              <a:buChar char="v"/>
            </a:pPr>
            <a:r>
              <a:rPr lang="en-US" sz="5100" dirty="0"/>
              <a:t> It is a high-level data model.</a:t>
            </a:r>
          </a:p>
          <a:p>
            <a:pPr>
              <a:lnSpc>
                <a:spcPct val="170000"/>
              </a:lnSpc>
              <a:buFont typeface="Wingdings" pitchFamily="2" charset="2"/>
              <a:buChar char="v"/>
            </a:pPr>
            <a:r>
              <a:rPr lang="en-US" sz="5100" dirty="0"/>
              <a:t>E-R Model is a </a:t>
            </a:r>
            <a:r>
              <a:rPr lang="en-US" sz="5100" dirty="0">
                <a:solidFill>
                  <a:srgbClr val="00B0F0"/>
                </a:solidFill>
              </a:rPr>
              <a:t>Graphical Representation </a:t>
            </a:r>
            <a:r>
              <a:rPr lang="en-US" sz="5100" dirty="0"/>
              <a:t>of entities and relationship among the entities</a:t>
            </a:r>
          </a:p>
          <a:p>
            <a:pPr>
              <a:lnSpc>
                <a:spcPct val="170000"/>
              </a:lnSpc>
              <a:buFont typeface="Wingdings" pitchFamily="2" charset="2"/>
              <a:buChar char="v"/>
            </a:pPr>
            <a:r>
              <a:rPr lang="en-US" sz="5100" dirty="0"/>
              <a:t>It develops a conceptual design for the database. </a:t>
            </a:r>
          </a:p>
          <a:p>
            <a:pPr>
              <a:lnSpc>
                <a:spcPct val="170000"/>
              </a:lnSpc>
              <a:buFont typeface="Wingdings" pitchFamily="2" charset="2"/>
              <a:buChar char="v"/>
            </a:pPr>
            <a:r>
              <a:rPr lang="en-US" sz="5100" dirty="0"/>
              <a:t>In ER modeling, the database structure is portrayed as a diagram called an entity-relationship diagram.</a:t>
            </a:r>
          </a:p>
          <a:p>
            <a:endParaRPr lang="en-US" dirty="0"/>
          </a:p>
          <a:p>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Components of ER Diagram</a:t>
            </a:r>
            <a:br>
              <a:rPr lang="en-US" b="1" dirty="0"/>
            </a:br>
            <a:endParaRPr lang="en-US" dirty="0"/>
          </a:p>
        </p:txBody>
      </p:sp>
      <p:sp>
        <p:nvSpPr>
          <p:cNvPr id="3" name="Text Placeholder 2"/>
          <p:cNvSpPr>
            <a:spLocks noGrp="1"/>
          </p:cNvSpPr>
          <p:nvPr>
            <p:ph type="body" idx="1"/>
          </p:nvPr>
        </p:nvSpPr>
        <p:spPr/>
        <p:txBody>
          <a:bodyPr/>
          <a:lstStyle/>
          <a:p>
            <a:endParaRPr lang="en-US" dirty="0"/>
          </a:p>
        </p:txBody>
      </p:sp>
      <p:pic>
        <p:nvPicPr>
          <p:cNvPr id="6146" name="Picture 2"/>
          <p:cNvPicPr>
            <a:picLocks noChangeAspect="1" noChangeArrowheads="1"/>
          </p:cNvPicPr>
          <p:nvPr/>
        </p:nvPicPr>
        <p:blipFill>
          <a:blip r:embed="rId2"/>
          <a:srcRect/>
          <a:stretch>
            <a:fillRect/>
          </a:stretch>
        </p:blipFill>
        <p:spPr bwMode="auto">
          <a:xfrm>
            <a:off x="492369" y="1139483"/>
            <a:ext cx="11422966" cy="4923692"/>
          </a:xfrm>
          <a:prstGeom prst="rect">
            <a:avLst/>
          </a:prstGeom>
          <a:noFill/>
          <a:ln w="9525">
            <a:noFill/>
            <a:miter lim="800000"/>
            <a:headEnd/>
            <a:tailEnd/>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316841"/>
            <a:ext cx="10972800" cy="696033"/>
          </a:xfrm>
        </p:spPr>
        <p:txBody>
          <a:bodyPr>
            <a:normAutofit fontScale="90000"/>
          </a:bodyPr>
          <a:lstStyle/>
          <a:p>
            <a:r>
              <a:rPr lang="en-US" dirty="0"/>
              <a:t>E-R Model</a:t>
            </a:r>
          </a:p>
        </p:txBody>
      </p:sp>
      <p:sp>
        <p:nvSpPr>
          <p:cNvPr id="3" name="Text Placeholder 2"/>
          <p:cNvSpPr>
            <a:spLocks noGrp="1"/>
          </p:cNvSpPr>
          <p:nvPr>
            <p:ph type="body" idx="1"/>
          </p:nvPr>
        </p:nvSpPr>
        <p:spPr>
          <a:xfrm>
            <a:off x="609600" y="1097280"/>
            <a:ext cx="10972800" cy="5584873"/>
          </a:xfrm>
        </p:spPr>
        <p:txBody>
          <a:bodyPr>
            <a:normAutofit fontScale="62500" lnSpcReduction="20000"/>
          </a:bodyPr>
          <a:lstStyle/>
          <a:p>
            <a:pPr marL="1028700" indent="-914400">
              <a:buAutoNum type="arabicPeriod"/>
            </a:pPr>
            <a:r>
              <a:rPr lang="en-US" sz="4600" b="1" dirty="0">
                <a:latin typeface="Times New Roman" pitchFamily="18" charset="0"/>
                <a:cs typeface="Times New Roman" pitchFamily="18" charset="0"/>
              </a:rPr>
              <a:t>Entity:</a:t>
            </a:r>
          </a:p>
          <a:p>
            <a:r>
              <a:rPr lang="en-US" sz="4100" dirty="0">
                <a:latin typeface="Times New Roman" pitchFamily="18" charset="0"/>
                <a:cs typeface="Times New Roman" pitchFamily="18" charset="0"/>
              </a:rPr>
              <a:t>Entity is a thing or Object that is Distinguishable from other Objects</a:t>
            </a:r>
          </a:p>
          <a:p>
            <a:pPr marL="114300" indent="0">
              <a:buNone/>
            </a:pPr>
            <a:endParaRPr lang="en-US" sz="4100" dirty="0">
              <a:latin typeface="Times New Roman" pitchFamily="18" charset="0"/>
              <a:cs typeface="Times New Roman" pitchFamily="18" charset="0"/>
            </a:endParaRPr>
          </a:p>
          <a:p>
            <a:r>
              <a:rPr lang="en-US" sz="4100" dirty="0">
                <a:latin typeface="Times New Roman" pitchFamily="18" charset="0"/>
                <a:cs typeface="Times New Roman" pitchFamily="18" charset="0"/>
              </a:rPr>
              <a:t>An entity may be any object, class, person or place. In the ER diagram, an entity can be represented as </a:t>
            </a:r>
            <a:r>
              <a:rPr lang="en-US" sz="4100" b="1" dirty="0">
                <a:solidFill>
                  <a:srgbClr val="00B0F0"/>
                </a:solidFill>
                <a:latin typeface="Times New Roman" pitchFamily="18" charset="0"/>
                <a:cs typeface="Times New Roman" pitchFamily="18" charset="0"/>
              </a:rPr>
              <a:t>rectangles.</a:t>
            </a:r>
          </a:p>
          <a:p>
            <a:endParaRPr lang="en-US" b="1" dirty="0">
              <a:solidFill>
                <a:srgbClr val="00B0F0"/>
              </a:solidFill>
              <a:latin typeface="Times New Roman" pitchFamily="18" charset="0"/>
              <a:cs typeface="Times New Roman" pitchFamily="18" charset="0"/>
            </a:endParaRPr>
          </a:p>
          <a:p>
            <a:pPr marL="628650" indent="-514350">
              <a:buNone/>
            </a:pPr>
            <a:r>
              <a:rPr lang="en-US" sz="4500" b="1" dirty="0">
                <a:solidFill>
                  <a:srgbClr val="333333"/>
                </a:solidFill>
                <a:latin typeface="Times New Roman" pitchFamily="18" charset="0"/>
                <a:ea typeface="Constantia"/>
                <a:cs typeface="Times New Roman" pitchFamily="18" charset="0"/>
                <a:sym typeface="Constantia"/>
              </a:rPr>
              <a:t>a</a:t>
            </a:r>
            <a:r>
              <a:rPr lang="en-US" sz="3500" b="1" dirty="0">
                <a:solidFill>
                  <a:srgbClr val="333333"/>
                </a:solidFill>
                <a:latin typeface="Times New Roman" pitchFamily="18" charset="0"/>
                <a:ea typeface="Constantia"/>
                <a:cs typeface="Times New Roman" pitchFamily="18" charset="0"/>
                <a:sym typeface="Constantia"/>
              </a:rPr>
              <a:t>. </a:t>
            </a:r>
            <a:r>
              <a:rPr lang="en-US" sz="4100" b="1" dirty="0">
                <a:solidFill>
                  <a:srgbClr val="333333"/>
                </a:solidFill>
                <a:latin typeface="Times New Roman" pitchFamily="18" charset="0"/>
                <a:ea typeface="Constantia"/>
                <a:cs typeface="Times New Roman" pitchFamily="18" charset="0"/>
                <a:sym typeface="Constantia"/>
              </a:rPr>
              <a:t>Strong Entity Type</a:t>
            </a:r>
            <a:r>
              <a:rPr lang="en-US" sz="3500" b="1" dirty="0">
                <a:solidFill>
                  <a:srgbClr val="333333"/>
                </a:solidFill>
                <a:latin typeface="Times New Roman" pitchFamily="18" charset="0"/>
                <a:ea typeface="Constantia"/>
                <a:cs typeface="Times New Roman" pitchFamily="18" charset="0"/>
                <a:sym typeface="Constantia"/>
              </a:rPr>
              <a:t>:</a:t>
            </a:r>
            <a:r>
              <a:rPr lang="en-US" sz="3500" dirty="0">
                <a:solidFill>
                  <a:srgbClr val="333333"/>
                </a:solidFill>
                <a:latin typeface="Times New Roman" pitchFamily="18" charset="0"/>
                <a:ea typeface="Constantia"/>
                <a:cs typeface="Times New Roman" pitchFamily="18" charset="0"/>
                <a:sym typeface="Constantia"/>
              </a:rPr>
              <a:t> </a:t>
            </a:r>
            <a:r>
              <a:rPr lang="en-US" sz="4100" dirty="0">
                <a:solidFill>
                  <a:srgbClr val="333333"/>
                </a:solidFill>
                <a:latin typeface="Times New Roman" pitchFamily="18" charset="0"/>
                <a:ea typeface="Constantia"/>
                <a:cs typeface="Times New Roman" pitchFamily="18" charset="0"/>
                <a:sym typeface="Constantia"/>
              </a:rPr>
              <a:t>Strong entity are those entity types which has a key attribute. The primary key helps in identifying each entity uniquely. </a:t>
            </a:r>
            <a:endParaRPr lang="en-US" sz="3500" dirty="0">
              <a:solidFill>
                <a:srgbClr val="333333"/>
              </a:solidFill>
              <a:latin typeface="Times New Roman" pitchFamily="18" charset="0"/>
              <a:ea typeface="Constantia"/>
              <a:cs typeface="Times New Roman" pitchFamily="18" charset="0"/>
              <a:sym typeface="Constantia"/>
            </a:endParaRPr>
          </a:p>
          <a:p>
            <a:endParaRPr lang="en-US" sz="3000" dirty="0">
              <a:solidFill>
                <a:srgbClr val="00B0F0"/>
              </a:solidFill>
              <a:latin typeface="Times New Roman" pitchFamily="18" charset="0"/>
              <a:cs typeface="Times New Roman" pitchFamily="18" charset="0"/>
            </a:endParaRPr>
          </a:p>
          <a:p>
            <a:pPr>
              <a:buNone/>
            </a:pPr>
            <a:r>
              <a:rPr lang="en-US" sz="4100" b="1" dirty="0">
                <a:latin typeface="Times New Roman" pitchFamily="18" charset="0"/>
                <a:cs typeface="Times New Roman" pitchFamily="18" charset="0"/>
              </a:rPr>
              <a:t>b. Weak Entity Type:</a:t>
            </a:r>
          </a:p>
          <a:p>
            <a:r>
              <a:rPr lang="en-US" sz="4100" dirty="0">
                <a:latin typeface="Times New Roman" pitchFamily="18" charset="0"/>
                <a:cs typeface="Times New Roman" pitchFamily="18" charset="0"/>
              </a:rPr>
              <a:t>An entity that depends on another entity called a weak entity. The weak entity doesn't contain any key attribute of its own. The weak entity is represented by a double rectangle</a:t>
            </a:r>
            <a:r>
              <a:rPr lang="en-US" sz="3800" dirty="0">
                <a:latin typeface="Times New Roman" pitchFamily="18" charset="0"/>
                <a:cs typeface="Times New Roman" pitchFamily="18" charset="0"/>
              </a:rPr>
              <a:t>.</a:t>
            </a:r>
          </a:p>
          <a:p>
            <a:pPr>
              <a:buNone/>
            </a:pPr>
            <a:br>
              <a:rPr lang="en-US" dirty="0"/>
            </a:br>
            <a:endParaRPr lang="en-US" dirty="0"/>
          </a:p>
          <a:p>
            <a:endParaRPr lang="en-US"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70598F55-8228-DEF0-BB63-DD5896CF6570}"/>
              </a:ext>
            </a:extLst>
          </p:cNvPr>
          <p:cNvSpPr>
            <a:spLocks noGrp="1"/>
          </p:cNvSpPr>
          <p:nvPr>
            <p:ph type="body" idx="1"/>
          </p:nvPr>
        </p:nvSpPr>
        <p:spPr>
          <a:xfrm>
            <a:off x="609600" y="445958"/>
            <a:ext cx="10972800" cy="4525963"/>
          </a:xfrm>
        </p:spPr>
        <p:txBody>
          <a:bodyPr>
            <a:normAutofit fontScale="92500" lnSpcReduction="20000"/>
          </a:bodyPr>
          <a:lstStyle/>
          <a:p>
            <a:pPr marL="0" lvl="0" indent="0">
              <a:spcBef>
                <a:spcPts val="0"/>
              </a:spcBef>
              <a:buNone/>
            </a:pPr>
            <a:r>
              <a:rPr lang="en-US" sz="3600" b="1" dirty="0">
                <a:solidFill>
                  <a:srgbClr val="333333"/>
                </a:solidFill>
                <a:latin typeface="Constantia"/>
                <a:ea typeface="Constantia"/>
                <a:cs typeface="Constantia"/>
                <a:sym typeface="Constantia"/>
              </a:rPr>
              <a:t>Types of Entity type</a:t>
            </a:r>
            <a:endParaRPr lang="en-US" dirty="0"/>
          </a:p>
          <a:p>
            <a:pPr marL="0" lvl="0" indent="-114300">
              <a:spcBef>
                <a:spcPts val="0"/>
              </a:spcBef>
              <a:buClr>
                <a:srgbClr val="333333"/>
              </a:buClr>
            </a:pPr>
            <a:r>
              <a:rPr lang="en-US" sz="3600" dirty="0">
                <a:solidFill>
                  <a:srgbClr val="333333"/>
                </a:solidFill>
                <a:latin typeface="Constantia"/>
                <a:ea typeface="Constantia"/>
                <a:cs typeface="Constantia"/>
                <a:sym typeface="Constantia"/>
              </a:rPr>
              <a:t> Strong Entity Type</a:t>
            </a:r>
            <a:endParaRPr lang="en-US" dirty="0"/>
          </a:p>
          <a:p>
            <a:pPr marL="0" lvl="0" indent="-114300">
              <a:spcBef>
                <a:spcPts val="0"/>
              </a:spcBef>
              <a:buClr>
                <a:srgbClr val="333333"/>
              </a:buClr>
            </a:pPr>
            <a:r>
              <a:rPr lang="en-US" sz="3600" dirty="0">
                <a:solidFill>
                  <a:srgbClr val="333333"/>
                </a:solidFill>
                <a:latin typeface="Constantia"/>
                <a:ea typeface="Constantia"/>
                <a:cs typeface="Constantia"/>
                <a:sym typeface="Constantia"/>
              </a:rPr>
              <a:t> Weak Entity Type</a:t>
            </a:r>
            <a:endParaRPr lang="en-US" dirty="0"/>
          </a:p>
          <a:p>
            <a:pPr marL="0" lvl="0" indent="0">
              <a:spcBef>
                <a:spcPts val="0"/>
              </a:spcBef>
              <a:buNone/>
            </a:pPr>
            <a:endParaRPr lang="en-US" sz="3600" b="1" i="1" dirty="0">
              <a:solidFill>
                <a:srgbClr val="333333"/>
              </a:solidFill>
              <a:latin typeface="Constantia"/>
              <a:ea typeface="Constantia"/>
              <a:cs typeface="Constantia"/>
              <a:sym typeface="Constantia"/>
            </a:endParaRPr>
          </a:p>
          <a:p>
            <a:pPr marL="0" lvl="0" indent="0">
              <a:spcBef>
                <a:spcPts val="0"/>
              </a:spcBef>
              <a:buNone/>
            </a:pPr>
            <a:r>
              <a:rPr lang="en-US" sz="3600" b="1" i="1" dirty="0">
                <a:solidFill>
                  <a:srgbClr val="333333"/>
                </a:solidFill>
                <a:latin typeface="Constantia"/>
                <a:ea typeface="Constantia"/>
                <a:cs typeface="Constantia"/>
                <a:sym typeface="Constantia"/>
              </a:rPr>
              <a:t>Strong Entity Type:</a:t>
            </a:r>
            <a:r>
              <a:rPr lang="en-US" sz="3600" dirty="0">
                <a:solidFill>
                  <a:srgbClr val="333333"/>
                </a:solidFill>
                <a:latin typeface="Constantia"/>
                <a:ea typeface="Constantia"/>
                <a:cs typeface="Constantia"/>
                <a:sym typeface="Constantia"/>
              </a:rPr>
              <a:t> Strong entity are those entity types which has a key attribute. The primary key helps in identifying each entity uniquely. It is represented by a rectangle. In the below example, </a:t>
            </a:r>
            <a:r>
              <a:rPr lang="en-US" sz="3600" dirty="0" err="1">
                <a:solidFill>
                  <a:srgbClr val="333333"/>
                </a:solidFill>
                <a:latin typeface="Constantia"/>
                <a:ea typeface="Constantia"/>
                <a:cs typeface="Constantia"/>
                <a:sym typeface="Constantia"/>
              </a:rPr>
              <a:t>Roll_no</a:t>
            </a:r>
            <a:r>
              <a:rPr lang="en-US" sz="3600" dirty="0">
                <a:solidFill>
                  <a:srgbClr val="333333"/>
                </a:solidFill>
                <a:latin typeface="Constantia"/>
                <a:ea typeface="Constantia"/>
                <a:cs typeface="Constantia"/>
                <a:sym typeface="Constantia"/>
              </a:rPr>
              <a:t> identifies each element of the table uniquely and hence, we can say that STUDENT is a strong entity type</a:t>
            </a:r>
          </a:p>
          <a:p>
            <a:pPr marL="0" lvl="0" indent="0">
              <a:spcBef>
                <a:spcPts val="0"/>
              </a:spcBef>
              <a:buNone/>
            </a:pPr>
            <a:endParaRPr lang="en-US" sz="3600" dirty="0">
              <a:latin typeface="Constantia"/>
              <a:ea typeface="Constantia"/>
              <a:cs typeface="Constantia"/>
              <a:sym typeface="Constantia"/>
            </a:endParaRPr>
          </a:p>
          <a:p>
            <a:endParaRPr lang="en-IN" dirty="0"/>
          </a:p>
        </p:txBody>
      </p:sp>
      <p:pic>
        <p:nvPicPr>
          <p:cNvPr id="4" name="Google Shape;450;p61">
            <a:extLst>
              <a:ext uri="{FF2B5EF4-FFF2-40B4-BE49-F238E27FC236}">
                <a16:creationId xmlns:a16="http://schemas.microsoft.com/office/drawing/2014/main" id="{E365AC9B-C558-64DD-73E1-04DF61A3E37E}"/>
              </a:ext>
            </a:extLst>
          </p:cNvPr>
          <p:cNvPicPr preferRelativeResize="0">
            <a:picLocks/>
          </p:cNvPicPr>
          <p:nvPr/>
        </p:nvPicPr>
        <p:blipFill rotWithShape="1">
          <a:blip r:embed="rId2">
            <a:alphaModFix/>
          </a:blip>
          <a:srcRect/>
          <a:stretch/>
        </p:blipFill>
        <p:spPr>
          <a:xfrm>
            <a:off x="3473678" y="4706911"/>
            <a:ext cx="4864894" cy="1923192"/>
          </a:xfrm>
          <a:prstGeom prst="rect">
            <a:avLst/>
          </a:prstGeom>
          <a:noFill/>
          <a:ln>
            <a:noFill/>
          </a:ln>
        </p:spPr>
      </p:pic>
    </p:spTree>
    <p:extLst>
      <p:ext uri="{BB962C8B-B14F-4D97-AF65-F5344CB8AC3E}">
        <p14:creationId xmlns:p14="http://schemas.microsoft.com/office/powerpoint/2010/main" val="20396388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4996904E-E435-FF2D-516D-1D351BE0E576}"/>
              </a:ext>
            </a:extLst>
          </p:cNvPr>
          <p:cNvSpPr>
            <a:spLocks noGrp="1"/>
          </p:cNvSpPr>
          <p:nvPr>
            <p:ph type="body" idx="1"/>
          </p:nvPr>
        </p:nvSpPr>
        <p:spPr>
          <a:xfrm>
            <a:off x="609600" y="584617"/>
            <a:ext cx="10972800" cy="5541548"/>
          </a:xfrm>
        </p:spPr>
        <p:txBody>
          <a:bodyPr>
            <a:normAutofit/>
          </a:bodyPr>
          <a:lstStyle/>
          <a:p>
            <a:pPr marL="274320" lvl="0" indent="-274320">
              <a:spcBef>
                <a:spcPts val="0"/>
              </a:spcBef>
              <a:buSzPts val="1710"/>
              <a:buChar char="⚫"/>
            </a:pPr>
            <a:r>
              <a:rPr lang="en-US" sz="3200" b="1" i="1" dirty="0">
                <a:solidFill>
                  <a:srgbClr val="333333"/>
                </a:solidFill>
              </a:rPr>
              <a:t>Weak Entity Type</a:t>
            </a:r>
            <a:r>
              <a:rPr lang="en-US" sz="3200" dirty="0">
                <a:solidFill>
                  <a:srgbClr val="333333"/>
                </a:solidFill>
              </a:rPr>
              <a:t>: Weak entity type doesn't have a key attribute. Weak entity type can't be identified on its own. It depends upon some other strong entity for its distinct identity. </a:t>
            </a:r>
            <a:endParaRPr lang="en-US" sz="3200" dirty="0"/>
          </a:p>
          <a:p>
            <a:pPr marL="274320" lvl="0" indent="-274320">
              <a:buSzPts val="1710"/>
              <a:buChar char="⚫"/>
            </a:pPr>
            <a:r>
              <a:rPr lang="en-US" sz="3200" dirty="0"/>
              <a:t>Every weak entity should have total participation</a:t>
            </a:r>
          </a:p>
          <a:p>
            <a:pPr marL="274320" lvl="0" indent="-274320">
              <a:buSzPts val="1710"/>
              <a:buChar char="⚫"/>
            </a:pPr>
            <a:r>
              <a:rPr lang="en-US" sz="3200" dirty="0"/>
              <a:t>Entity set </a:t>
            </a:r>
            <a:r>
              <a:rPr lang="en-US" sz="3200" dirty="0" err="1"/>
              <a:t>maynot</a:t>
            </a:r>
            <a:r>
              <a:rPr lang="en-US" sz="3200" dirty="0"/>
              <a:t> have sufficient attributes to form a primary key</a:t>
            </a:r>
          </a:p>
          <a:p>
            <a:pPr marL="274320" lvl="0" indent="-274320">
              <a:buSzPts val="1710"/>
              <a:buChar char="⚫"/>
            </a:pPr>
            <a:r>
              <a:rPr lang="en-US" sz="3200" dirty="0"/>
              <a:t>Two weak entity sets is not possible to relate each other.</a:t>
            </a:r>
          </a:p>
          <a:p>
            <a:pPr marL="274320" lvl="0" indent="-274320">
              <a:buSzPts val="1710"/>
              <a:buChar char="⚫"/>
            </a:pPr>
            <a:r>
              <a:rPr lang="en-US" sz="3200" dirty="0"/>
              <a:t>Entity se with no proper candidate key</a:t>
            </a:r>
          </a:p>
          <a:p>
            <a:pPr marL="274320" lvl="0" indent="-274320">
              <a:buSzPts val="1710"/>
              <a:buChar char="⚫"/>
            </a:pPr>
            <a:endParaRPr lang="en-US" sz="3200" dirty="0"/>
          </a:p>
          <a:p>
            <a:endParaRPr lang="en-IN" sz="3200" dirty="0"/>
          </a:p>
        </p:txBody>
      </p:sp>
      <p:pic>
        <p:nvPicPr>
          <p:cNvPr id="4" name="Google Shape;458;p62">
            <a:extLst>
              <a:ext uri="{FF2B5EF4-FFF2-40B4-BE49-F238E27FC236}">
                <a16:creationId xmlns:a16="http://schemas.microsoft.com/office/drawing/2014/main" id="{7C47B14D-C5BF-760D-2DFE-6A1FEEC7C8C4}"/>
              </a:ext>
            </a:extLst>
          </p:cNvPr>
          <p:cNvPicPr preferRelativeResize="0"/>
          <p:nvPr/>
        </p:nvPicPr>
        <p:blipFill rotWithShape="1">
          <a:blip r:embed="rId2">
            <a:alphaModFix/>
          </a:blip>
          <a:srcRect/>
          <a:stretch/>
        </p:blipFill>
        <p:spPr>
          <a:xfrm>
            <a:off x="3063243" y="5029200"/>
            <a:ext cx="6693694" cy="1828800"/>
          </a:xfrm>
          <a:prstGeom prst="rect">
            <a:avLst/>
          </a:prstGeom>
          <a:noFill/>
          <a:ln>
            <a:noFill/>
          </a:ln>
        </p:spPr>
      </p:pic>
    </p:spTree>
    <p:extLst>
      <p:ext uri="{BB962C8B-B14F-4D97-AF65-F5344CB8AC3E}">
        <p14:creationId xmlns:p14="http://schemas.microsoft.com/office/powerpoint/2010/main" val="34581188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Weak Entity Example</a:t>
            </a:r>
          </a:p>
        </p:txBody>
      </p:sp>
      <p:sp>
        <p:nvSpPr>
          <p:cNvPr id="3" name="Text Placeholder 2"/>
          <p:cNvSpPr>
            <a:spLocks noGrp="1"/>
          </p:cNvSpPr>
          <p:nvPr>
            <p:ph type="body" idx="1"/>
          </p:nvPr>
        </p:nvSpPr>
        <p:spPr/>
        <p:txBody>
          <a:bodyPr/>
          <a:lstStyle/>
          <a:p>
            <a:endParaRPr lang="en-US" dirty="0"/>
          </a:p>
          <a:p>
            <a:endParaRPr lang="en-US" dirty="0"/>
          </a:p>
        </p:txBody>
      </p:sp>
      <p:pic>
        <p:nvPicPr>
          <p:cNvPr id="4098" name="Picture 2" descr="C:\Users\91891\Desktop\dbms fig\Untitled-Diagram-231.png"/>
          <p:cNvPicPr>
            <a:picLocks noChangeAspect="1" noChangeArrowheads="1"/>
          </p:cNvPicPr>
          <p:nvPr/>
        </p:nvPicPr>
        <p:blipFill>
          <a:blip r:embed="rId2"/>
          <a:srcRect/>
          <a:stretch>
            <a:fillRect/>
          </a:stretch>
        </p:blipFill>
        <p:spPr bwMode="auto">
          <a:xfrm>
            <a:off x="689317" y="1645920"/>
            <a:ext cx="10649242" cy="3746892"/>
          </a:xfrm>
          <a:prstGeom prst="rect">
            <a:avLst/>
          </a:prstGeom>
          <a:noFill/>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25694"/>
          </a:xfrm>
        </p:spPr>
        <p:txBody>
          <a:bodyPr>
            <a:normAutofit fontScale="90000"/>
          </a:bodyPr>
          <a:lstStyle/>
          <a:p>
            <a:pPr algn="l"/>
            <a:br>
              <a:rPr lang="en-US" dirty="0"/>
            </a:br>
            <a:r>
              <a:rPr lang="en-US" dirty="0"/>
              <a:t>   Attribute</a:t>
            </a:r>
            <a:br>
              <a:rPr lang="en-US" dirty="0"/>
            </a:br>
            <a:endParaRPr lang="en-US" dirty="0"/>
          </a:p>
        </p:txBody>
      </p:sp>
      <p:sp>
        <p:nvSpPr>
          <p:cNvPr id="3" name="Text Placeholder 2"/>
          <p:cNvSpPr>
            <a:spLocks noGrp="1"/>
          </p:cNvSpPr>
          <p:nvPr>
            <p:ph type="body" idx="1"/>
          </p:nvPr>
        </p:nvSpPr>
        <p:spPr>
          <a:xfrm>
            <a:off x="609600" y="928469"/>
            <a:ext cx="10972800" cy="5197696"/>
          </a:xfrm>
        </p:spPr>
        <p:txBody>
          <a:bodyPr/>
          <a:lstStyle/>
          <a:p>
            <a:r>
              <a:rPr lang="en-US" dirty="0"/>
              <a:t>The attribute is used to describe the </a:t>
            </a:r>
            <a:r>
              <a:rPr lang="en-US" b="1" dirty="0">
                <a:solidFill>
                  <a:srgbClr val="00B0F0"/>
                </a:solidFill>
              </a:rPr>
              <a:t>property of an entity. </a:t>
            </a:r>
            <a:r>
              <a:rPr lang="en-US" b="1" dirty="0">
                <a:solidFill>
                  <a:schemeClr val="accent3"/>
                </a:solidFill>
              </a:rPr>
              <a:t>Eclipse</a:t>
            </a:r>
            <a:r>
              <a:rPr lang="en-US" dirty="0"/>
              <a:t> is used to represent an attribute.</a:t>
            </a:r>
          </a:p>
          <a:p>
            <a:r>
              <a:rPr lang="en-US" b="1" dirty="0"/>
              <a:t>For example,</a:t>
            </a:r>
            <a:r>
              <a:rPr lang="en-US" dirty="0"/>
              <a:t> id, age, contact number, name, etc. can be attributes of a student.</a:t>
            </a:r>
          </a:p>
          <a:p>
            <a:endParaRPr lang="en-US" dirty="0"/>
          </a:p>
        </p:txBody>
      </p:sp>
      <p:pic>
        <p:nvPicPr>
          <p:cNvPr id="5" name="Google Shape;374;p52" descr="C:\Users\Dell\Desktop\chen-notation-entity-with-attributes.png"/>
          <p:cNvPicPr preferRelativeResize="0"/>
          <p:nvPr/>
        </p:nvPicPr>
        <p:blipFill rotWithShape="1">
          <a:blip r:embed="rId2">
            <a:alphaModFix/>
          </a:blip>
          <a:srcRect/>
          <a:stretch/>
        </p:blipFill>
        <p:spPr>
          <a:xfrm>
            <a:off x="1974166" y="3562642"/>
            <a:ext cx="7935913" cy="2387991"/>
          </a:xfrm>
          <a:prstGeom prst="rect">
            <a:avLst/>
          </a:prstGeom>
          <a:noFill/>
          <a:ln>
            <a:noFill/>
          </a:ln>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94507"/>
          </a:xfrm>
        </p:spPr>
        <p:txBody>
          <a:bodyPr>
            <a:normAutofit fontScale="90000"/>
          </a:bodyPr>
          <a:lstStyle/>
          <a:p>
            <a:br>
              <a:rPr lang="en-US" b="1" dirty="0"/>
            </a:br>
            <a:r>
              <a:rPr lang="en-US" b="1" dirty="0"/>
              <a:t> Key Attribute</a:t>
            </a:r>
            <a:br>
              <a:rPr lang="en-US" b="1" dirty="0"/>
            </a:br>
            <a:endParaRPr lang="en-US" dirty="0"/>
          </a:p>
        </p:txBody>
      </p:sp>
      <p:sp>
        <p:nvSpPr>
          <p:cNvPr id="3" name="Text Placeholder 2"/>
          <p:cNvSpPr>
            <a:spLocks noGrp="1"/>
          </p:cNvSpPr>
          <p:nvPr>
            <p:ph type="body" idx="1"/>
          </p:nvPr>
        </p:nvSpPr>
        <p:spPr>
          <a:xfrm>
            <a:off x="609600" y="1139483"/>
            <a:ext cx="10972800" cy="4986681"/>
          </a:xfrm>
        </p:spPr>
        <p:txBody>
          <a:bodyPr/>
          <a:lstStyle/>
          <a:p>
            <a:pPr fontAlgn="base"/>
            <a:r>
              <a:rPr lang="en-US" dirty="0">
                <a:latin typeface="Times New Roman" panose="02020603050405020304" pitchFamily="18" charset="0"/>
                <a:cs typeface="Times New Roman" panose="02020603050405020304" pitchFamily="18" charset="0"/>
              </a:rPr>
              <a:t>The attribute which </a:t>
            </a:r>
            <a:r>
              <a:rPr lang="en-US" b="1" dirty="0">
                <a:latin typeface="Times New Roman" panose="02020603050405020304" pitchFamily="18" charset="0"/>
                <a:cs typeface="Times New Roman" panose="02020603050405020304" pitchFamily="18" charset="0"/>
              </a:rPr>
              <a:t>uniquely identifies each entity</a:t>
            </a:r>
            <a:r>
              <a:rPr lang="en-US" dirty="0">
                <a:latin typeface="Times New Roman" panose="02020603050405020304" pitchFamily="18" charset="0"/>
                <a:cs typeface="Times New Roman" panose="02020603050405020304" pitchFamily="18" charset="0"/>
              </a:rPr>
              <a:t> in the entity set is called the key attribute. </a:t>
            </a:r>
          </a:p>
          <a:p>
            <a:pPr fontAlgn="base"/>
            <a:r>
              <a:rPr lang="en-US" dirty="0">
                <a:latin typeface="Times New Roman" panose="02020603050405020304" pitchFamily="18" charset="0"/>
                <a:cs typeface="Times New Roman" panose="02020603050405020304" pitchFamily="18" charset="0"/>
              </a:rPr>
              <a:t>For example, </a:t>
            </a:r>
            <a:r>
              <a:rPr lang="en-US" dirty="0" err="1">
                <a:latin typeface="Times New Roman" panose="02020603050405020304" pitchFamily="18" charset="0"/>
                <a:cs typeface="Times New Roman" panose="02020603050405020304" pitchFamily="18" charset="0"/>
              </a:rPr>
              <a:t>Roll_No</a:t>
            </a:r>
            <a:r>
              <a:rPr lang="en-US" dirty="0">
                <a:latin typeface="Times New Roman" panose="02020603050405020304" pitchFamily="18" charset="0"/>
                <a:cs typeface="Times New Roman" panose="02020603050405020304" pitchFamily="18" charset="0"/>
              </a:rPr>
              <a:t> will be unique for each student. In ER diagram, the key attribute is represented by an oval with underlying lines.</a:t>
            </a:r>
          </a:p>
          <a:p>
            <a:br>
              <a:rPr lang="en-US" dirty="0"/>
            </a:br>
            <a:endParaRPr lang="en-US" dirty="0"/>
          </a:p>
        </p:txBody>
      </p:sp>
      <p:pic>
        <p:nvPicPr>
          <p:cNvPr id="4" name="Picture 3" descr="Database-Management-System-ER-Model-3.png"/>
          <p:cNvPicPr>
            <a:picLocks noChangeAspect="1"/>
          </p:cNvPicPr>
          <p:nvPr/>
        </p:nvPicPr>
        <p:blipFill>
          <a:blip r:embed="rId2"/>
          <a:stretch>
            <a:fillRect/>
          </a:stretch>
        </p:blipFill>
        <p:spPr>
          <a:xfrm>
            <a:off x="4583137" y="4128135"/>
            <a:ext cx="3252568" cy="178029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633047"/>
            <a:ext cx="10972800" cy="5493118"/>
          </a:xfrm>
        </p:spPr>
        <p:txBody>
          <a:bodyPr/>
          <a:lstStyle/>
          <a:p>
            <a:pPr lvl="0"/>
            <a:r>
              <a:rPr lang="en-US" sz="3600" b="1" dirty="0">
                <a:latin typeface="Times New Roman" panose="02020603050405020304" pitchFamily="18" charset="0"/>
                <a:cs typeface="Times New Roman" panose="02020603050405020304" pitchFamily="18" charset="0"/>
              </a:rPr>
              <a:t>Simple attribute- </a:t>
            </a:r>
            <a:r>
              <a:rPr lang="en-US" sz="3600" dirty="0">
                <a:latin typeface="Times New Roman" panose="02020603050405020304" pitchFamily="18" charset="0"/>
                <a:cs typeface="Times New Roman" panose="02020603050405020304" pitchFamily="18" charset="0"/>
              </a:rPr>
              <a:t>Is one which cannot be divided further(Atomic)</a:t>
            </a:r>
          </a:p>
          <a:p>
            <a:pPr lvl="0">
              <a:buNone/>
            </a:pPr>
            <a:endParaRPr lang="en-US" sz="3600" dirty="0">
              <a:latin typeface="Times New Roman" panose="02020603050405020304" pitchFamily="18" charset="0"/>
              <a:cs typeface="Times New Roman" panose="02020603050405020304" pitchFamily="18" charset="0"/>
            </a:endParaRPr>
          </a:p>
          <a:p>
            <a:pPr lvl="0">
              <a:buNone/>
            </a:pPr>
            <a:endParaRPr lang="en-US" sz="3600" dirty="0">
              <a:latin typeface="Times New Roman" panose="02020603050405020304" pitchFamily="18" charset="0"/>
              <a:cs typeface="Times New Roman" panose="02020603050405020304" pitchFamily="18" charset="0"/>
            </a:endParaRPr>
          </a:p>
          <a:p>
            <a:r>
              <a:rPr lang="en-US" sz="3600" b="1" dirty="0">
                <a:latin typeface="Times New Roman" panose="02020603050405020304" pitchFamily="18" charset="0"/>
                <a:cs typeface="Times New Roman" panose="02020603050405020304" pitchFamily="18" charset="0"/>
              </a:rPr>
              <a:t>Composite attribute </a:t>
            </a:r>
            <a:r>
              <a:rPr lang="en-US" sz="3600" dirty="0">
                <a:latin typeface="Times New Roman" panose="02020603050405020304" pitchFamily="18" charset="0"/>
                <a:cs typeface="Times New Roman" panose="02020603050405020304" pitchFamily="18" charset="0"/>
              </a:rPr>
              <a:t>-Composite attributes are those attributes which are composed of other simple attributes</a:t>
            </a:r>
          </a:p>
          <a:p>
            <a:endParaRPr lang="en-US" dirty="0"/>
          </a:p>
          <a:p>
            <a:pPr lvl="0"/>
            <a:endParaRPr lang="en-US" dirty="0"/>
          </a:p>
          <a:p>
            <a:endParaRPr lang="en-US" dirty="0"/>
          </a:p>
        </p:txBody>
      </p:sp>
      <p:pic>
        <p:nvPicPr>
          <p:cNvPr id="4" name="Google Shape;412;p56"/>
          <p:cNvPicPr preferRelativeResize="0"/>
          <p:nvPr/>
        </p:nvPicPr>
        <p:blipFill rotWithShape="1">
          <a:blip r:embed="rId2">
            <a:alphaModFix/>
          </a:blip>
          <a:srcRect/>
          <a:stretch/>
        </p:blipFill>
        <p:spPr>
          <a:xfrm>
            <a:off x="4044214" y="1345926"/>
            <a:ext cx="5381140" cy="1481679"/>
          </a:xfrm>
          <a:prstGeom prst="rect">
            <a:avLst/>
          </a:prstGeom>
          <a:noFill/>
          <a:ln>
            <a:noFill/>
          </a:ln>
        </p:spPr>
      </p:pic>
      <p:pic>
        <p:nvPicPr>
          <p:cNvPr id="7" name="Google Shape;413;p56"/>
          <p:cNvPicPr preferRelativeResize="0"/>
          <p:nvPr/>
        </p:nvPicPr>
        <p:blipFill rotWithShape="1">
          <a:blip r:embed="rId3">
            <a:alphaModFix/>
          </a:blip>
          <a:srcRect/>
          <a:stretch/>
        </p:blipFill>
        <p:spPr>
          <a:xfrm>
            <a:off x="3996812" y="4628272"/>
            <a:ext cx="4371975" cy="1899138"/>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618978"/>
            <a:ext cx="10972800" cy="5507187"/>
          </a:xfrm>
        </p:spPr>
        <p:txBody>
          <a:bodyPr/>
          <a:lstStyle/>
          <a:p>
            <a:r>
              <a:rPr lang="en-US" sz="3200" b="1" dirty="0">
                <a:latin typeface="Times New Roman" panose="02020603050405020304" pitchFamily="18" charset="0"/>
                <a:cs typeface="Times New Roman" panose="02020603050405020304" pitchFamily="18" charset="0"/>
              </a:rPr>
              <a:t>Single valued attributes </a:t>
            </a:r>
            <a:r>
              <a:rPr lang="en-US" sz="3200" dirty="0">
                <a:latin typeface="Times New Roman" panose="02020603050405020304" pitchFamily="18" charset="0"/>
                <a:cs typeface="Times New Roman" panose="02020603050405020304" pitchFamily="18" charset="0"/>
              </a:rPr>
              <a:t>- Are those attributes that can take only one value for a given entity.</a:t>
            </a:r>
          </a:p>
          <a:p>
            <a:endParaRPr lang="en-US" sz="3600" dirty="0"/>
          </a:p>
          <a:p>
            <a:endParaRPr lang="en-US" sz="3600" dirty="0"/>
          </a:p>
          <a:p>
            <a:endParaRPr lang="en-US" sz="3600" dirty="0"/>
          </a:p>
          <a:p>
            <a:pPr lvl="0"/>
            <a:r>
              <a:rPr lang="en-US" sz="3200" b="1" dirty="0">
                <a:latin typeface="Times New Roman" pitchFamily="18" charset="0"/>
                <a:ea typeface="Constantia"/>
                <a:cs typeface="Times New Roman" pitchFamily="18" charset="0"/>
                <a:sym typeface="Constantia"/>
              </a:rPr>
              <a:t>Multi valued attribute - </a:t>
            </a:r>
            <a:r>
              <a:rPr lang="en-US" sz="3200" dirty="0">
                <a:latin typeface="Times New Roman" pitchFamily="18" charset="0"/>
                <a:ea typeface="Constantia"/>
                <a:cs typeface="Times New Roman" pitchFamily="18" charset="0"/>
                <a:sym typeface="Constantia"/>
              </a:rPr>
              <a:t>Multi valued attributes are those attributes which can take more then one value for a given entity</a:t>
            </a:r>
            <a:r>
              <a:rPr lang="en-US" sz="2800" dirty="0">
                <a:latin typeface="Times New Roman" pitchFamily="18" charset="0"/>
                <a:ea typeface="Constantia"/>
                <a:cs typeface="Times New Roman" pitchFamily="18" charset="0"/>
                <a:sym typeface="Constantia"/>
              </a:rPr>
              <a:t>.</a:t>
            </a:r>
            <a:endParaRPr lang="en-US" sz="2800" dirty="0">
              <a:latin typeface="Times New Roman" pitchFamily="18" charset="0"/>
              <a:cs typeface="Times New Roman" pitchFamily="18" charset="0"/>
            </a:endParaRPr>
          </a:p>
          <a:p>
            <a:endParaRPr lang="en-US" dirty="0"/>
          </a:p>
        </p:txBody>
      </p:sp>
      <p:pic>
        <p:nvPicPr>
          <p:cNvPr id="4" name="Google Shape;420;p57"/>
          <p:cNvPicPr preferRelativeResize="0"/>
          <p:nvPr/>
        </p:nvPicPr>
        <p:blipFill rotWithShape="1">
          <a:blip r:embed="rId2">
            <a:alphaModFix/>
          </a:blip>
          <a:srcRect/>
          <a:stretch/>
        </p:blipFill>
        <p:spPr>
          <a:xfrm>
            <a:off x="3547418" y="1665702"/>
            <a:ext cx="5723192" cy="1640205"/>
          </a:xfrm>
          <a:prstGeom prst="rect">
            <a:avLst/>
          </a:prstGeom>
          <a:noFill/>
          <a:ln>
            <a:noFill/>
          </a:ln>
        </p:spPr>
      </p:pic>
      <p:pic>
        <p:nvPicPr>
          <p:cNvPr id="6" name="Google Shape;422;p57"/>
          <p:cNvPicPr preferRelativeResize="0"/>
          <p:nvPr/>
        </p:nvPicPr>
        <p:blipFill rotWithShape="1">
          <a:blip r:embed="rId3">
            <a:alphaModFix/>
          </a:blip>
          <a:srcRect/>
          <a:stretch/>
        </p:blipFill>
        <p:spPr>
          <a:xfrm>
            <a:off x="4113079" y="4740813"/>
            <a:ext cx="5678035" cy="188507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773723"/>
            <a:ext cx="10972800" cy="5352441"/>
          </a:xfrm>
        </p:spPr>
        <p:txBody>
          <a:bodyPr/>
          <a:lstStyle/>
          <a:p>
            <a:r>
              <a:rPr lang="en-US" b="1" dirty="0">
                <a:latin typeface="Times New Roman" panose="02020603050405020304" pitchFamily="18" charset="0"/>
                <a:cs typeface="Times New Roman" panose="02020603050405020304" pitchFamily="18" charset="0"/>
              </a:rPr>
              <a:t>Stored attribute: </a:t>
            </a:r>
            <a:r>
              <a:rPr lang="en-US" dirty="0">
                <a:latin typeface="Times New Roman" panose="02020603050405020304" pitchFamily="18" charset="0"/>
                <a:cs typeface="Times New Roman" panose="02020603050405020304" pitchFamily="18" charset="0"/>
              </a:rPr>
              <a:t>these attributes which are stored physically in the data base.</a:t>
            </a:r>
          </a:p>
          <a:p>
            <a:r>
              <a:rPr lang="en-US" dirty="0">
                <a:latin typeface="Times New Roman" panose="02020603050405020304" pitchFamily="18" charset="0"/>
                <a:cs typeface="Times New Roman" panose="02020603050405020304" pitchFamily="18" charset="0"/>
              </a:rPr>
              <a:t>Examples:-mobile no, person details , name, mail id</a:t>
            </a:r>
          </a:p>
          <a:p>
            <a:r>
              <a:rPr lang="en-US" b="1" dirty="0">
                <a:latin typeface="Times New Roman" panose="02020603050405020304" pitchFamily="18" charset="0"/>
                <a:cs typeface="Times New Roman" panose="02020603050405020304" pitchFamily="18" charset="0"/>
              </a:rPr>
              <a:t>Derived attribute:- </a:t>
            </a:r>
            <a:r>
              <a:rPr lang="en-US" dirty="0">
                <a:latin typeface="Times New Roman" panose="02020603050405020304" pitchFamily="18" charset="0"/>
                <a:cs typeface="Times New Roman" panose="02020603050405020304" pitchFamily="18" charset="0"/>
              </a:rPr>
              <a:t>These attributes not stored physically in the data base.</a:t>
            </a:r>
          </a:p>
          <a:p>
            <a:r>
              <a:rPr lang="en-US" dirty="0">
                <a:latin typeface="Times New Roman" panose="02020603050405020304" pitchFamily="18" charset="0"/>
                <a:cs typeface="Times New Roman" panose="02020603050405020304" pitchFamily="18" charset="0"/>
              </a:rPr>
              <a:t>Which are derived from other entities like age derived from DOB.</a:t>
            </a:r>
          </a:p>
          <a:p>
            <a:r>
              <a:rPr lang="en-US" b="1" dirty="0">
                <a:latin typeface="Times New Roman" panose="02020603050405020304" pitchFamily="18" charset="0"/>
                <a:cs typeface="Times New Roman" panose="02020603050405020304" pitchFamily="18" charset="0"/>
              </a:rPr>
              <a:t>Example-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Avg</a:t>
            </a:r>
            <a:r>
              <a:rPr lang="en-US" dirty="0">
                <a:latin typeface="Times New Roman" panose="02020603050405020304" pitchFamily="18" charset="0"/>
                <a:cs typeface="Times New Roman" panose="02020603050405020304" pitchFamily="18" charset="0"/>
              </a:rPr>
              <a:t> salary it is derived from Salary </a:t>
            </a:r>
          </a:p>
        </p:txBody>
      </p:sp>
      <p:pic>
        <p:nvPicPr>
          <p:cNvPr id="15362" name="Picture 2" descr="C:\Users\91891\Desktop\dbms fig\download.png"/>
          <p:cNvPicPr>
            <a:picLocks noChangeAspect="1" noChangeArrowheads="1"/>
          </p:cNvPicPr>
          <p:nvPr/>
        </p:nvPicPr>
        <p:blipFill>
          <a:blip r:embed="rId2"/>
          <a:srcRect/>
          <a:stretch>
            <a:fillRect/>
          </a:stretch>
        </p:blipFill>
        <p:spPr bwMode="auto">
          <a:xfrm>
            <a:off x="4448858" y="5123278"/>
            <a:ext cx="5989369" cy="1734722"/>
          </a:xfrm>
          <a:prstGeom prst="rect">
            <a:avLst/>
          </a:prstGeom>
          <a:noFill/>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fontAlgn="base"/>
            <a:r>
              <a:rPr lang="en-US" b="1" dirty="0"/>
              <a:t>Symbols Used in ER Model</a:t>
            </a:r>
          </a:p>
        </p:txBody>
      </p:sp>
      <p:sp>
        <p:nvSpPr>
          <p:cNvPr id="3" name="Text Placeholder 2"/>
          <p:cNvSpPr>
            <a:spLocks noGrp="1"/>
          </p:cNvSpPr>
          <p:nvPr>
            <p:ph type="body" idx="1"/>
          </p:nvPr>
        </p:nvSpPr>
        <p:spPr/>
        <p:txBody>
          <a:bodyPr/>
          <a:lstStyle/>
          <a:p>
            <a:endParaRPr lang="en-US" dirty="0"/>
          </a:p>
        </p:txBody>
      </p:sp>
      <p:pic>
        <p:nvPicPr>
          <p:cNvPr id="5125" name="Picture 5"/>
          <p:cNvPicPr>
            <a:picLocks noChangeAspect="1" noChangeArrowheads="1"/>
          </p:cNvPicPr>
          <p:nvPr/>
        </p:nvPicPr>
        <p:blipFill>
          <a:blip r:embed="rId2"/>
          <a:srcRect/>
          <a:stretch>
            <a:fillRect/>
          </a:stretch>
        </p:blipFill>
        <p:spPr bwMode="auto">
          <a:xfrm>
            <a:off x="633046" y="1153551"/>
            <a:ext cx="11240086" cy="5416061"/>
          </a:xfrm>
          <a:prstGeom prst="rect">
            <a:avLst/>
          </a:prstGeom>
          <a:noFill/>
          <a:ln w="9525">
            <a:noFill/>
            <a:miter lim="800000"/>
            <a:headEnd/>
            <a:tailEnd/>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DC3D17-44C5-A3BE-A5E9-AE7EE1A76F23}"/>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3DE69AAC-B285-0FA4-7A6E-284A12B7E025}"/>
              </a:ext>
            </a:extLst>
          </p:cNvPr>
          <p:cNvSpPr>
            <a:spLocks noGrp="1"/>
          </p:cNvSpPr>
          <p:nvPr>
            <p:ph type="body" idx="1"/>
          </p:nvPr>
        </p:nvSpPr>
        <p:spPr/>
        <p:txBody>
          <a:bodyPr/>
          <a:lstStyle/>
          <a:p>
            <a:endParaRPr lang="en-IN" dirty="0"/>
          </a:p>
        </p:txBody>
      </p:sp>
      <p:pic>
        <p:nvPicPr>
          <p:cNvPr id="5" name="Picture 4">
            <a:extLst>
              <a:ext uri="{FF2B5EF4-FFF2-40B4-BE49-F238E27FC236}">
                <a16:creationId xmlns:a16="http://schemas.microsoft.com/office/drawing/2014/main" id="{1CC5A396-6DE9-5A5A-8500-30D672BEA18F}"/>
              </a:ext>
            </a:extLst>
          </p:cNvPr>
          <p:cNvPicPr>
            <a:picLocks noChangeAspect="1"/>
          </p:cNvPicPr>
          <p:nvPr/>
        </p:nvPicPr>
        <p:blipFill>
          <a:blip r:embed="rId2"/>
          <a:stretch>
            <a:fillRect/>
          </a:stretch>
        </p:blipFill>
        <p:spPr>
          <a:xfrm>
            <a:off x="217714" y="500428"/>
            <a:ext cx="11364686" cy="5857143"/>
          </a:xfrm>
          <a:prstGeom prst="rect">
            <a:avLst/>
          </a:prstGeom>
        </p:spPr>
      </p:pic>
    </p:spTree>
    <p:extLst>
      <p:ext uri="{BB962C8B-B14F-4D97-AF65-F5344CB8AC3E}">
        <p14:creationId xmlns:p14="http://schemas.microsoft.com/office/powerpoint/2010/main" val="422513159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6E3F52-872A-5BC7-150E-460ED63EA8B0}"/>
              </a:ext>
            </a:extLst>
          </p:cNvPr>
          <p:cNvSpPr>
            <a:spLocks noGrp="1"/>
          </p:cNvSpPr>
          <p:nvPr>
            <p:ph type="title"/>
          </p:nvPr>
        </p:nvSpPr>
        <p:spPr>
          <a:xfrm>
            <a:off x="607101" y="0"/>
            <a:ext cx="10972800" cy="819644"/>
          </a:xfrm>
        </p:spPr>
        <p:txBody>
          <a:bodyPr>
            <a:normAutofit fontScale="90000"/>
          </a:bodyPr>
          <a:lstStyle/>
          <a:p>
            <a:br>
              <a:rPr lang="en-US" sz="4800" b="1" dirty="0"/>
            </a:br>
            <a:r>
              <a:rPr lang="en-US" sz="4800" b="1" dirty="0"/>
              <a:t>Relationships and Relationship sets</a:t>
            </a:r>
            <a:br>
              <a:rPr lang="en-US" dirty="0"/>
            </a:br>
            <a:endParaRPr lang="en-IN" dirty="0"/>
          </a:p>
        </p:txBody>
      </p:sp>
      <p:sp>
        <p:nvSpPr>
          <p:cNvPr id="3" name="Text Placeholder 2">
            <a:extLst>
              <a:ext uri="{FF2B5EF4-FFF2-40B4-BE49-F238E27FC236}">
                <a16:creationId xmlns:a16="http://schemas.microsoft.com/office/drawing/2014/main" id="{E42DCEAA-B647-A27E-24FD-A96A896F3018}"/>
              </a:ext>
            </a:extLst>
          </p:cNvPr>
          <p:cNvSpPr>
            <a:spLocks noGrp="1"/>
          </p:cNvSpPr>
          <p:nvPr>
            <p:ph type="body" idx="1"/>
          </p:nvPr>
        </p:nvSpPr>
        <p:spPr>
          <a:xfrm>
            <a:off x="194872" y="374754"/>
            <a:ext cx="11797259" cy="6208608"/>
          </a:xfrm>
        </p:spPr>
        <p:txBody>
          <a:bodyPr>
            <a:normAutofit fontScale="92500" lnSpcReduction="20000"/>
          </a:bodyPr>
          <a:lstStyle/>
          <a:p>
            <a:pPr marL="0" lvl="0" indent="0">
              <a:buSzPts val="1710"/>
              <a:buNone/>
            </a:pPr>
            <a:endParaRPr lang="en-US" sz="2800" b="1" dirty="0">
              <a:solidFill>
                <a:srgbClr val="444542"/>
              </a:solidFill>
              <a:latin typeface="Times New Roman" panose="02020603050405020304" pitchFamily="18" charset="0"/>
              <a:ea typeface="Tahoma" panose="020B0604030504040204" pitchFamily="34" charset="0"/>
              <a:cs typeface="Times New Roman" panose="02020603050405020304" pitchFamily="18" charset="0"/>
            </a:endParaRPr>
          </a:p>
          <a:p>
            <a:pPr marL="0" lvl="0" indent="0">
              <a:buSzPts val="1710"/>
              <a:buNone/>
            </a:pPr>
            <a:r>
              <a:rPr lang="en-US" sz="3000" b="1" dirty="0">
                <a:solidFill>
                  <a:srgbClr val="444542"/>
                </a:solidFill>
                <a:latin typeface="Times New Roman" panose="02020603050405020304" pitchFamily="18" charset="0"/>
                <a:ea typeface="Tahoma" panose="020B0604030504040204" pitchFamily="34" charset="0"/>
                <a:cs typeface="Times New Roman" panose="02020603050405020304" pitchFamily="18" charset="0"/>
              </a:rPr>
              <a:t>Relationship</a:t>
            </a:r>
          </a:p>
          <a:p>
            <a:pPr marL="274320" lvl="0" indent="-274320">
              <a:buSzPts val="1710"/>
              <a:buChar char="⚫"/>
            </a:pPr>
            <a:r>
              <a:rPr lang="en-US" sz="3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The association among two or more entities is called a relationship. For example, an employee </a:t>
            </a:r>
            <a:r>
              <a:rPr lang="en-US" sz="3000" b="1" dirty="0" err="1">
                <a:solidFill>
                  <a:srgbClr val="000000"/>
                </a:solidFill>
                <a:latin typeface="Times New Roman" panose="02020603050405020304" pitchFamily="18" charset="0"/>
                <a:ea typeface="Tahoma" panose="020B0604030504040204" pitchFamily="34" charset="0"/>
                <a:cs typeface="Times New Roman" panose="02020603050405020304" pitchFamily="18" charset="0"/>
              </a:rPr>
              <a:t>works_in</a:t>
            </a:r>
            <a:r>
              <a:rPr lang="en-US" sz="3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 department.</a:t>
            </a:r>
            <a:endParaRPr lang="en-US" sz="3000" dirty="0">
              <a:latin typeface="Times New Roman" panose="02020603050405020304" pitchFamily="18" charset="0"/>
              <a:ea typeface="Tahoma" panose="020B0604030504040204" pitchFamily="34" charset="0"/>
              <a:cs typeface="Times New Roman" panose="02020603050405020304" pitchFamily="18" charset="0"/>
            </a:endParaRPr>
          </a:p>
          <a:p>
            <a:pPr marL="274320" lvl="0" indent="-274320">
              <a:buSzPts val="1710"/>
              <a:buChar char="⚫"/>
            </a:pPr>
            <a:r>
              <a:rPr lang="en-US" sz="3000" dirty="0">
                <a:solidFill>
                  <a:srgbClr val="222426"/>
                </a:solidFill>
                <a:latin typeface="Times New Roman" panose="02020603050405020304" pitchFamily="18" charset="0"/>
                <a:ea typeface="Tahoma" panose="020B0604030504040204" pitchFamily="34" charset="0"/>
                <a:cs typeface="Times New Roman" panose="02020603050405020304" pitchFamily="18" charset="0"/>
              </a:rPr>
              <a:t>A relationship is represented by diamond shape in ER diagram, it shows the relationship among entities.</a:t>
            </a:r>
            <a:endParaRPr lang="en-US" sz="3000" dirty="0">
              <a:latin typeface="Times New Roman" panose="02020603050405020304" pitchFamily="18" charset="0"/>
              <a:ea typeface="Tahoma" panose="020B0604030504040204" pitchFamily="34" charset="0"/>
              <a:cs typeface="Times New Roman" panose="02020603050405020304" pitchFamily="18" charset="0"/>
            </a:endParaRPr>
          </a:p>
          <a:p>
            <a:pPr marL="0" lvl="0" indent="0">
              <a:buSzPts val="1710"/>
              <a:buNone/>
            </a:pPr>
            <a:endParaRPr lang="en-US" sz="2800" b="1" dirty="0">
              <a:latin typeface="Times New Roman" panose="02020603050405020304" pitchFamily="18" charset="0"/>
              <a:ea typeface="Tahoma" panose="020B0604030504040204" pitchFamily="34" charset="0"/>
              <a:cs typeface="Times New Roman" panose="02020603050405020304" pitchFamily="18" charset="0"/>
            </a:endParaRPr>
          </a:p>
          <a:p>
            <a:pPr marL="0" lvl="0" indent="0">
              <a:buSzPts val="1710"/>
              <a:buNone/>
            </a:pPr>
            <a:r>
              <a:rPr lang="en-US" sz="3000" b="1" dirty="0">
                <a:latin typeface="Times New Roman" panose="02020603050405020304" pitchFamily="18" charset="0"/>
                <a:ea typeface="Tahoma" panose="020B0604030504040204" pitchFamily="34" charset="0"/>
                <a:cs typeface="Times New Roman" panose="02020603050405020304" pitchFamily="18" charset="0"/>
              </a:rPr>
              <a:t>Relationship Set</a:t>
            </a:r>
            <a:endParaRPr lang="en-US" sz="3000" dirty="0">
              <a:latin typeface="Times New Roman" panose="02020603050405020304" pitchFamily="18" charset="0"/>
              <a:ea typeface="Tahoma" panose="020B0604030504040204" pitchFamily="34" charset="0"/>
              <a:cs typeface="Times New Roman" panose="02020603050405020304" pitchFamily="18" charset="0"/>
            </a:endParaRPr>
          </a:p>
          <a:p>
            <a:pPr marL="274320" lvl="0" indent="-274320" algn="just">
              <a:buSzPts val="1710"/>
              <a:buChar char="⚫"/>
            </a:pPr>
            <a:r>
              <a:rPr lang="en-US" sz="3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A relationship set is a collection of similar relationships. Like entities, a relationship too can have attributes. These attributes are called </a:t>
            </a:r>
            <a:r>
              <a:rPr lang="en-US" sz="3000" b="1"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descriptive attributes</a:t>
            </a:r>
            <a:r>
              <a:rPr lang="en-US" sz="3000" dirty="0">
                <a:solidFill>
                  <a:srgbClr val="000000"/>
                </a:solidFill>
                <a:latin typeface="Times New Roman" panose="02020603050405020304" pitchFamily="18" charset="0"/>
                <a:ea typeface="Tahoma" panose="020B0604030504040204" pitchFamily="34" charset="0"/>
                <a:cs typeface="Times New Roman" panose="02020603050405020304" pitchFamily="18" charset="0"/>
              </a:rPr>
              <a:t>.</a:t>
            </a:r>
            <a:endParaRPr lang="en-US" sz="3000" dirty="0">
              <a:latin typeface="Times New Roman" panose="02020603050405020304" pitchFamily="18" charset="0"/>
              <a:ea typeface="Tahoma" panose="020B0604030504040204" pitchFamily="34" charset="0"/>
              <a:cs typeface="Times New Roman" panose="02020603050405020304" pitchFamily="18" charset="0"/>
            </a:endParaRPr>
          </a:p>
          <a:p>
            <a:pPr marL="0" lvl="0" indent="0">
              <a:buSzPts val="1710"/>
              <a:buNone/>
            </a:pPr>
            <a:br>
              <a:rPr lang="en-US" sz="2800" dirty="0">
                <a:latin typeface="Times New Roman" panose="02020603050405020304" pitchFamily="18" charset="0"/>
                <a:ea typeface="Tahoma" panose="020B0604030504040204" pitchFamily="34" charset="0"/>
                <a:cs typeface="Times New Roman" panose="02020603050405020304" pitchFamily="18" charset="0"/>
              </a:rPr>
            </a:br>
            <a:r>
              <a:rPr lang="en-US" sz="2800" b="1" u="sng" dirty="0">
                <a:latin typeface="Times New Roman" panose="02020603050405020304" pitchFamily="18" charset="0"/>
                <a:ea typeface="Tahoma" panose="020B0604030504040204" pitchFamily="34" charset="0"/>
                <a:cs typeface="Times New Roman" panose="02020603050405020304" pitchFamily="18" charset="0"/>
              </a:rPr>
              <a:t>NOTE:</a:t>
            </a:r>
            <a:endParaRPr lang="en-US" sz="2800" dirty="0">
              <a:latin typeface="Times New Roman" panose="02020603050405020304" pitchFamily="18" charset="0"/>
              <a:ea typeface="Tahoma" panose="020B0604030504040204" pitchFamily="34" charset="0"/>
              <a:cs typeface="Times New Roman" panose="02020603050405020304" pitchFamily="18" charset="0"/>
            </a:endParaRPr>
          </a:p>
          <a:p>
            <a:pPr marL="0" lvl="0" indent="0">
              <a:buSzPts val="1710"/>
              <a:buNone/>
            </a:pPr>
            <a:r>
              <a:rPr lang="en-US" sz="2800" dirty="0">
                <a:latin typeface="Times New Roman" panose="02020603050405020304" pitchFamily="18" charset="0"/>
                <a:ea typeface="Tahoma" panose="020B0604030504040204" pitchFamily="34" charset="0"/>
                <a:cs typeface="Times New Roman" panose="02020603050405020304" pitchFamily="18" charset="0"/>
              </a:rPr>
              <a:t>Schema – specifies relation </a:t>
            </a:r>
            <a:r>
              <a:rPr lang="en-US" sz="2800" dirty="0" err="1">
                <a:latin typeface="Times New Roman" panose="02020603050405020304" pitchFamily="18" charset="0"/>
                <a:ea typeface="Tahoma" panose="020B0604030504040204" pitchFamily="34" charset="0"/>
                <a:cs typeface="Times New Roman" panose="02020603050405020304" pitchFamily="18" charset="0"/>
              </a:rPr>
              <a:t>name,attribute,column</a:t>
            </a:r>
            <a:r>
              <a:rPr lang="en-US" sz="2800" dirty="0">
                <a:latin typeface="Times New Roman" panose="02020603050405020304" pitchFamily="18" charset="0"/>
                <a:ea typeface="Tahoma" panose="020B0604030504040204" pitchFamily="34" charset="0"/>
                <a:cs typeface="Times New Roman" panose="02020603050405020304" pitchFamily="18" charset="0"/>
              </a:rPr>
              <a:t> or field name and domain </a:t>
            </a:r>
          </a:p>
          <a:p>
            <a:pPr marL="0" lvl="0" indent="0">
              <a:buSzPts val="1710"/>
              <a:buNone/>
            </a:pPr>
            <a:r>
              <a:rPr lang="en-US" sz="2800" dirty="0">
                <a:latin typeface="Times New Roman" panose="02020603050405020304" pitchFamily="18" charset="0"/>
                <a:ea typeface="Tahoma" panose="020B0604030504040204" pitchFamily="34" charset="0"/>
                <a:cs typeface="Times New Roman" panose="02020603050405020304" pitchFamily="18" charset="0"/>
              </a:rPr>
              <a:t>                 name(values) </a:t>
            </a:r>
          </a:p>
          <a:p>
            <a:pPr marL="0" lvl="0" indent="0">
              <a:buSzPts val="1710"/>
              <a:buNone/>
            </a:pPr>
            <a:r>
              <a:rPr lang="en-US" sz="2800" dirty="0">
                <a:latin typeface="Times New Roman" panose="02020603050405020304" pitchFamily="18" charset="0"/>
                <a:ea typeface="Tahoma" panose="020B0604030504040204" pitchFamily="34" charset="0"/>
                <a:cs typeface="Times New Roman" panose="02020603050405020304" pitchFamily="18" charset="0"/>
              </a:rPr>
              <a:t>Instance – it is the collection of information stored in database at particular moment</a:t>
            </a:r>
          </a:p>
          <a:p>
            <a:endParaRPr lang="en-IN" sz="2800" dirty="0">
              <a:latin typeface="Times New Roman" panose="02020603050405020304" pitchFamily="18" charset="0"/>
              <a:ea typeface="Tahoma" panose="020B0604030504040204" pitchFamily="34" charset="0"/>
              <a:cs typeface="Times New Roman" panose="02020603050405020304" pitchFamily="18" charset="0"/>
            </a:endParaRPr>
          </a:p>
        </p:txBody>
      </p:sp>
    </p:spTree>
    <p:extLst>
      <p:ext uri="{BB962C8B-B14F-4D97-AF65-F5344CB8AC3E}">
        <p14:creationId xmlns:p14="http://schemas.microsoft.com/office/powerpoint/2010/main" val="130091828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EAAFC8-591B-C4B8-84C2-31392EEF12EF}"/>
              </a:ext>
            </a:extLst>
          </p:cNvPr>
          <p:cNvSpPr>
            <a:spLocks noGrp="1"/>
          </p:cNvSpPr>
          <p:nvPr>
            <p:ph type="title"/>
          </p:nvPr>
        </p:nvSpPr>
        <p:spPr>
          <a:xfrm>
            <a:off x="609600" y="289629"/>
            <a:ext cx="10972800" cy="654752"/>
          </a:xfrm>
        </p:spPr>
        <p:txBody>
          <a:bodyPr>
            <a:normAutofit fontScale="90000"/>
          </a:bodyPr>
          <a:lstStyle/>
          <a:p>
            <a:r>
              <a:rPr lang="en-US" sz="4800" b="1" dirty="0"/>
              <a:t>Degree of Relationship</a:t>
            </a:r>
            <a:br>
              <a:rPr lang="en-US" dirty="0"/>
            </a:br>
            <a:endParaRPr lang="en-IN" dirty="0"/>
          </a:p>
        </p:txBody>
      </p:sp>
      <p:sp>
        <p:nvSpPr>
          <p:cNvPr id="3" name="Text Placeholder 2">
            <a:extLst>
              <a:ext uri="{FF2B5EF4-FFF2-40B4-BE49-F238E27FC236}">
                <a16:creationId xmlns:a16="http://schemas.microsoft.com/office/drawing/2014/main" id="{3D62EC32-8507-9092-2089-A231032CA8C1}"/>
              </a:ext>
            </a:extLst>
          </p:cNvPr>
          <p:cNvSpPr>
            <a:spLocks noGrp="1"/>
          </p:cNvSpPr>
          <p:nvPr>
            <p:ph type="body" idx="1"/>
          </p:nvPr>
        </p:nvSpPr>
        <p:spPr>
          <a:xfrm>
            <a:off x="459699" y="730771"/>
            <a:ext cx="10972800" cy="4525963"/>
          </a:xfrm>
        </p:spPr>
        <p:txBody>
          <a:bodyPr>
            <a:normAutofit/>
          </a:bodyPr>
          <a:lstStyle/>
          <a:p>
            <a:pPr marL="274320" lvl="0" indent="-274320" algn="just">
              <a:buSzPts val="1710"/>
              <a:buChar char="⚫"/>
            </a:pPr>
            <a:r>
              <a:rPr lang="en-US" sz="3600" dirty="0">
                <a:solidFill>
                  <a:srgbClr val="000000"/>
                </a:solidFill>
              </a:rPr>
              <a:t>It is the total number of entities that participate in a relationship.</a:t>
            </a:r>
            <a:endParaRPr lang="en-US" dirty="0"/>
          </a:p>
          <a:p>
            <a:pPr marL="274320" lvl="0" indent="-274320" algn="just">
              <a:buSzPts val="1710"/>
              <a:buChar char="⚫"/>
            </a:pPr>
            <a:r>
              <a:rPr lang="en-US" sz="3600" dirty="0">
                <a:solidFill>
                  <a:srgbClr val="000000"/>
                </a:solidFill>
              </a:rPr>
              <a:t>Degree of a relation is no. of fields/attributes</a:t>
            </a:r>
            <a:endParaRPr lang="en-US" dirty="0"/>
          </a:p>
          <a:p>
            <a:pPr marL="0" lvl="0" indent="0">
              <a:spcBef>
                <a:spcPts val="210"/>
              </a:spcBef>
              <a:buSzPts val="998"/>
              <a:buNone/>
            </a:pPr>
            <a:endParaRPr lang="en-US" sz="1800" dirty="0"/>
          </a:p>
          <a:p>
            <a:pPr marL="0" lvl="0" indent="0">
              <a:buSzPts val="1710"/>
              <a:buNone/>
            </a:pPr>
            <a:r>
              <a:rPr lang="en-US" sz="3600" b="1" dirty="0"/>
              <a:t>Unary relationship – </a:t>
            </a:r>
            <a:r>
              <a:rPr lang="en-US" sz="3600" dirty="0"/>
              <a:t>relationship between instances of same entity class</a:t>
            </a:r>
          </a:p>
          <a:p>
            <a:pPr marL="0" lvl="0" indent="0">
              <a:buSzPts val="1710"/>
              <a:buNone/>
            </a:pPr>
            <a:r>
              <a:rPr lang="en-US" sz="3600" dirty="0"/>
              <a:t>It is also called as Recursive Relationship.</a:t>
            </a:r>
            <a:endParaRPr lang="en-US" dirty="0"/>
          </a:p>
          <a:p>
            <a:pPr marL="0" lvl="0" indent="0">
              <a:buSzPts val="1710"/>
              <a:buNone/>
            </a:pPr>
            <a:r>
              <a:rPr lang="en-US" sz="3600" b="1" dirty="0"/>
              <a:t>Unary Relationship =</a:t>
            </a:r>
            <a:r>
              <a:rPr lang="en-US" sz="3600" dirty="0"/>
              <a:t>degree 1</a:t>
            </a:r>
          </a:p>
          <a:p>
            <a:pPr marL="0" lvl="0" indent="0">
              <a:buSzPts val="1710"/>
              <a:buNone/>
            </a:pPr>
            <a:endParaRPr lang="en-US" sz="3600" b="1" dirty="0"/>
          </a:p>
          <a:p>
            <a:endParaRPr lang="en-IN" dirty="0"/>
          </a:p>
        </p:txBody>
      </p:sp>
      <p:pic>
        <p:nvPicPr>
          <p:cNvPr id="4" name="Google Shape;473;p64">
            <a:extLst>
              <a:ext uri="{FF2B5EF4-FFF2-40B4-BE49-F238E27FC236}">
                <a16:creationId xmlns:a16="http://schemas.microsoft.com/office/drawing/2014/main" id="{3D7B3A71-666F-29C2-5074-F25FE638DC56}"/>
              </a:ext>
            </a:extLst>
          </p:cNvPr>
          <p:cNvPicPr preferRelativeResize="0"/>
          <p:nvPr/>
        </p:nvPicPr>
        <p:blipFill rotWithShape="1">
          <a:blip r:embed="rId2">
            <a:alphaModFix/>
          </a:blip>
          <a:srcRect/>
          <a:stretch/>
        </p:blipFill>
        <p:spPr>
          <a:xfrm>
            <a:off x="4327514" y="5103981"/>
            <a:ext cx="5506034" cy="1581632"/>
          </a:xfrm>
          <a:prstGeom prst="rect">
            <a:avLst/>
          </a:prstGeom>
          <a:noFill/>
          <a:ln>
            <a:noFill/>
          </a:ln>
        </p:spPr>
      </p:pic>
    </p:spTree>
    <p:extLst>
      <p:ext uri="{BB962C8B-B14F-4D97-AF65-F5344CB8AC3E}">
        <p14:creationId xmlns:p14="http://schemas.microsoft.com/office/powerpoint/2010/main" val="38889986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7480EEB-4E82-7392-42DA-B2C75FE3A2A7}"/>
              </a:ext>
            </a:extLst>
          </p:cNvPr>
          <p:cNvSpPr>
            <a:spLocks noGrp="1"/>
          </p:cNvSpPr>
          <p:nvPr>
            <p:ph type="body" idx="1"/>
          </p:nvPr>
        </p:nvSpPr>
        <p:spPr>
          <a:xfrm>
            <a:off x="609600" y="344775"/>
            <a:ext cx="10972800" cy="5781390"/>
          </a:xfrm>
        </p:spPr>
        <p:txBody>
          <a:bodyPr>
            <a:normAutofit/>
          </a:bodyPr>
          <a:lstStyle/>
          <a:p>
            <a:pPr marL="0" lvl="0" indent="0">
              <a:buSzPts val="1710"/>
              <a:buNone/>
            </a:pPr>
            <a:r>
              <a:rPr lang="en-US" sz="3200" b="1" dirty="0">
                <a:latin typeface="Times New Roman" panose="02020603050405020304" pitchFamily="18" charset="0"/>
                <a:cs typeface="Times New Roman" panose="02020603050405020304" pitchFamily="18" charset="0"/>
              </a:rPr>
              <a:t>Binary relationship </a:t>
            </a:r>
            <a:r>
              <a:rPr lang="en-US" sz="3200" dirty="0">
                <a:latin typeface="Times New Roman" panose="02020603050405020304" pitchFamily="18" charset="0"/>
                <a:cs typeface="Times New Roman" panose="02020603050405020304" pitchFamily="18" charset="0"/>
              </a:rPr>
              <a:t>- relationship between instances of 1 entity class with   instances of another entity class</a:t>
            </a:r>
          </a:p>
          <a:p>
            <a:pPr marL="0" lvl="0" indent="0">
              <a:buSzPts val="1710"/>
              <a:buNone/>
            </a:pPr>
            <a:r>
              <a:rPr lang="en-US" sz="3200" b="1" dirty="0">
                <a:latin typeface="Times New Roman" panose="02020603050405020304" pitchFamily="18" charset="0"/>
                <a:cs typeface="Times New Roman" panose="02020603050405020304" pitchFamily="18" charset="0"/>
              </a:rPr>
              <a:t>Binary relationship </a:t>
            </a:r>
            <a:r>
              <a:rPr lang="en-US" sz="3200" dirty="0">
                <a:latin typeface="Times New Roman" panose="02020603050405020304" pitchFamily="18" charset="0"/>
                <a:cs typeface="Times New Roman" panose="02020603050405020304" pitchFamily="18" charset="0"/>
              </a:rPr>
              <a:t>= degree 2</a:t>
            </a:r>
          </a:p>
          <a:p>
            <a:endParaRPr lang="en-IN" sz="3200" dirty="0">
              <a:latin typeface="Times New Roman" panose="02020603050405020304" pitchFamily="18" charset="0"/>
              <a:cs typeface="Times New Roman" panose="02020603050405020304" pitchFamily="18" charset="0"/>
            </a:endParaRPr>
          </a:p>
        </p:txBody>
      </p:sp>
      <p:pic>
        <p:nvPicPr>
          <p:cNvPr id="4" name="Google Shape;472;p64">
            <a:extLst>
              <a:ext uri="{FF2B5EF4-FFF2-40B4-BE49-F238E27FC236}">
                <a16:creationId xmlns:a16="http://schemas.microsoft.com/office/drawing/2014/main" id="{8184CF0D-A1E9-083E-E904-87B3C8411D3C}"/>
              </a:ext>
            </a:extLst>
          </p:cNvPr>
          <p:cNvPicPr preferRelativeResize="0"/>
          <p:nvPr/>
        </p:nvPicPr>
        <p:blipFill rotWithShape="1">
          <a:blip r:embed="rId2">
            <a:alphaModFix/>
          </a:blip>
          <a:srcRect/>
          <a:stretch/>
        </p:blipFill>
        <p:spPr>
          <a:xfrm>
            <a:off x="3725055" y="2265567"/>
            <a:ext cx="3541970" cy="1163433"/>
          </a:xfrm>
          <a:prstGeom prst="rect">
            <a:avLst/>
          </a:prstGeom>
          <a:noFill/>
          <a:ln>
            <a:noFill/>
          </a:ln>
        </p:spPr>
      </p:pic>
      <p:sp>
        <p:nvSpPr>
          <p:cNvPr id="6" name="TextBox 5">
            <a:extLst>
              <a:ext uri="{FF2B5EF4-FFF2-40B4-BE49-F238E27FC236}">
                <a16:creationId xmlns:a16="http://schemas.microsoft.com/office/drawing/2014/main" id="{4D1C0488-3C66-D9C2-AA1B-EA168AED627C}"/>
              </a:ext>
            </a:extLst>
          </p:cNvPr>
          <p:cNvSpPr txBox="1"/>
          <p:nvPr/>
        </p:nvSpPr>
        <p:spPr>
          <a:xfrm>
            <a:off x="609601" y="3429000"/>
            <a:ext cx="10972799" cy="2708434"/>
          </a:xfrm>
          <a:prstGeom prst="rect">
            <a:avLst/>
          </a:prstGeom>
          <a:noFill/>
        </p:spPr>
        <p:txBody>
          <a:bodyPr wrap="square">
            <a:spAutoFit/>
          </a:bodyPr>
          <a:lstStyle/>
          <a:p>
            <a:pPr marL="0" lvl="0" indent="0" algn="l" rtl="0">
              <a:spcBef>
                <a:spcPts val="0"/>
              </a:spcBef>
              <a:spcAft>
                <a:spcPts val="0"/>
              </a:spcAft>
              <a:buSzPts val="1710"/>
              <a:buNone/>
            </a:pPr>
            <a:r>
              <a:rPr lang="en-US" sz="3200" b="1" dirty="0">
                <a:latin typeface="Times New Roman" panose="02020603050405020304" pitchFamily="18" charset="0"/>
                <a:cs typeface="Times New Roman" panose="02020603050405020304" pitchFamily="18" charset="0"/>
              </a:rPr>
              <a:t>Ternary relationship </a:t>
            </a:r>
            <a:r>
              <a:rPr lang="en-US" sz="3200" dirty="0">
                <a:latin typeface="Times New Roman" panose="02020603050405020304" pitchFamily="18" charset="0"/>
                <a:cs typeface="Times New Roman" panose="02020603050405020304" pitchFamily="18" charset="0"/>
              </a:rPr>
              <a:t>- relationship between instances of 3 entity class with   one another</a:t>
            </a:r>
          </a:p>
          <a:p>
            <a:pPr marL="0" lvl="0" indent="0" algn="l" rtl="0">
              <a:spcBef>
                <a:spcPts val="360"/>
              </a:spcBef>
              <a:spcAft>
                <a:spcPts val="0"/>
              </a:spcAft>
              <a:buSzPts val="1710"/>
              <a:buNone/>
            </a:pPr>
            <a:r>
              <a:rPr lang="en-US" sz="3200" b="1" dirty="0">
                <a:latin typeface="Times New Roman" panose="02020603050405020304" pitchFamily="18" charset="0"/>
                <a:cs typeface="Times New Roman" panose="02020603050405020304" pitchFamily="18" charset="0"/>
              </a:rPr>
              <a:t>Ternary relationship </a:t>
            </a:r>
            <a:r>
              <a:rPr lang="en-US" sz="3200" dirty="0">
                <a:latin typeface="Times New Roman" panose="02020603050405020304" pitchFamily="18" charset="0"/>
                <a:cs typeface="Times New Roman" panose="02020603050405020304" pitchFamily="18" charset="0"/>
              </a:rPr>
              <a:t>= degree 3</a:t>
            </a:r>
          </a:p>
          <a:p>
            <a:pPr marL="0" lvl="0" indent="0" algn="l" rtl="0">
              <a:spcBef>
                <a:spcPts val="360"/>
              </a:spcBef>
              <a:spcAft>
                <a:spcPts val="0"/>
              </a:spcAft>
              <a:buSzPts val="1710"/>
              <a:buNone/>
            </a:pPr>
            <a:endParaRPr lang="en-US" sz="3200" dirty="0">
              <a:latin typeface="Times New Roman" panose="02020603050405020304" pitchFamily="18" charset="0"/>
              <a:cs typeface="Times New Roman" panose="02020603050405020304" pitchFamily="18" charset="0"/>
            </a:endParaRPr>
          </a:p>
          <a:p>
            <a:pPr marL="0" lvl="0" indent="0" algn="l" rtl="0">
              <a:spcBef>
                <a:spcPts val="360"/>
              </a:spcBef>
              <a:spcAft>
                <a:spcPts val="0"/>
              </a:spcAft>
              <a:buSzPts val="1710"/>
              <a:buNone/>
            </a:pPr>
            <a:endParaRPr lang="en-US" sz="3200" dirty="0">
              <a:latin typeface="Times New Roman" panose="02020603050405020304" pitchFamily="18" charset="0"/>
              <a:cs typeface="Times New Roman" panose="02020603050405020304" pitchFamily="18" charset="0"/>
            </a:endParaRPr>
          </a:p>
        </p:txBody>
      </p:sp>
      <p:pic>
        <p:nvPicPr>
          <p:cNvPr id="7" name="Google Shape;481;p65">
            <a:extLst>
              <a:ext uri="{FF2B5EF4-FFF2-40B4-BE49-F238E27FC236}">
                <a16:creationId xmlns:a16="http://schemas.microsoft.com/office/drawing/2014/main" id="{F8870367-6843-56EE-5F7E-76EA24B3E121}"/>
              </a:ext>
            </a:extLst>
          </p:cNvPr>
          <p:cNvPicPr preferRelativeResize="0"/>
          <p:nvPr/>
        </p:nvPicPr>
        <p:blipFill rotWithShape="1">
          <a:blip r:embed="rId3">
            <a:alphaModFix/>
          </a:blip>
          <a:srcRect/>
          <a:stretch/>
        </p:blipFill>
        <p:spPr>
          <a:xfrm>
            <a:off x="3346480" y="5305931"/>
            <a:ext cx="5212904" cy="1207294"/>
          </a:xfrm>
          <a:prstGeom prst="rect">
            <a:avLst/>
          </a:prstGeom>
          <a:noFill/>
          <a:ln>
            <a:noFill/>
          </a:ln>
        </p:spPr>
      </p:pic>
    </p:spTree>
    <p:extLst>
      <p:ext uri="{BB962C8B-B14F-4D97-AF65-F5344CB8AC3E}">
        <p14:creationId xmlns:p14="http://schemas.microsoft.com/office/powerpoint/2010/main" val="148027689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29EFBC6E-58A1-B7FE-EAF7-126F4561FA82}"/>
              </a:ext>
            </a:extLst>
          </p:cNvPr>
          <p:cNvSpPr>
            <a:spLocks noGrp="1"/>
          </p:cNvSpPr>
          <p:nvPr>
            <p:ph type="body" idx="1"/>
          </p:nvPr>
        </p:nvSpPr>
        <p:spPr>
          <a:xfrm>
            <a:off x="609600" y="539647"/>
            <a:ext cx="10972800" cy="5586518"/>
          </a:xfrm>
        </p:spPr>
        <p:txBody>
          <a:bodyPr/>
          <a:lstStyle/>
          <a:p>
            <a:pPr marL="0" indent="0">
              <a:buSzPts val="1710"/>
              <a:buNone/>
            </a:pPr>
            <a:r>
              <a:rPr lang="en-US" sz="3600" b="1" dirty="0"/>
              <a:t>N-</a:t>
            </a:r>
            <a:r>
              <a:rPr lang="en-US" sz="3600" b="1" dirty="0" err="1"/>
              <a:t>ary</a:t>
            </a:r>
            <a:r>
              <a:rPr lang="en-US" sz="3600" b="1" dirty="0"/>
              <a:t> relationship </a:t>
            </a:r>
            <a:r>
              <a:rPr lang="en-US" sz="3600" dirty="0"/>
              <a:t>- relationship between instances of n entity class with </a:t>
            </a:r>
            <a:r>
              <a:rPr lang="en-US" sz="3200" dirty="0"/>
              <a:t>one another</a:t>
            </a:r>
            <a:endParaRPr lang="en-US" dirty="0"/>
          </a:p>
          <a:p>
            <a:pPr marL="274320" lvl="0" indent="-274320">
              <a:buSzPts val="1710"/>
              <a:buChar char="⚫"/>
            </a:pPr>
            <a:r>
              <a:rPr lang="en-US" sz="3600" dirty="0"/>
              <a:t>n-</a:t>
            </a:r>
            <a:r>
              <a:rPr lang="en-US" sz="3600" dirty="0" err="1"/>
              <a:t>ary</a:t>
            </a:r>
            <a:r>
              <a:rPr lang="en-US" sz="3600" dirty="0"/>
              <a:t> Relationship = degree n</a:t>
            </a:r>
          </a:p>
          <a:p>
            <a:pPr marL="274320" lvl="0" indent="-274320">
              <a:buSzPts val="1710"/>
              <a:buChar char="⚫"/>
            </a:pPr>
            <a:endParaRPr lang="en-US" sz="4000" dirty="0"/>
          </a:p>
          <a:p>
            <a:pPr marL="274320" lvl="0" indent="-117475">
              <a:spcBef>
                <a:spcPts val="520"/>
              </a:spcBef>
              <a:buSzPts val="2470"/>
              <a:buNone/>
            </a:pPr>
            <a:endParaRPr lang="en-US" dirty="0"/>
          </a:p>
          <a:p>
            <a:endParaRPr lang="en-IN" dirty="0"/>
          </a:p>
        </p:txBody>
      </p:sp>
      <p:pic>
        <p:nvPicPr>
          <p:cNvPr id="4" name="Google Shape;480;p65">
            <a:extLst>
              <a:ext uri="{FF2B5EF4-FFF2-40B4-BE49-F238E27FC236}">
                <a16:creationId xmlns:a16="http://schemas.microsoft.com/office/drawing/2014/main" id="{CD5A35E4-DC5A-711A-B6DF-220B9FC7BEFD}"/>
              </a:ext>
            </a:extLst>
          </p:cNvPr>
          <p:cNvPicPr preferRelativeResize="0"/>
          <p:nvPr/>
        </p:nvPicPr>
        <p:blipFill rotWithShape="1">
          <a:blip r:embed="rId2">
            <a:alphaModFix/>
          </a:blip>
          <a:srcRect/>
          <a:stretch/>
        </p:blipFill>
        <p:spPr>
          <a:xfrm>
            <a:off x="2675119" y="2966766"/>
            <a:ext cx="6841761" cy="2454860"/>
          </a:xfrm>
          <a:prstGeom prst="rect">
            <a:avLst/>
          </a:prstGeom>
          <a:noFill/>
          <a:ln>
            <a:noFill/>
          </a:ln>
        </p:spPr>
      </p:pic>
    </p:spTree>
    <p:extLst>
      <p:ext uri="{BB962C8B-B14F-4D97-AF65-F5344CB8AC3E}">
        <p14:creationId xmlns:p14="http://schemas.microsoft.com/office/powerpoint/2010/main" val="97813467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What is Cardinality?</a:t>
            </a:r>
            <a:endParaRPr lang="en-US" dirty="0"/>
          </a:p>
        </p:txBody>
      </p:sp>
      <p:sp>
        <p:nvSpPr>
          <p:cNvPr id="3" name="Text Placeholder 2"/>
          <p:cNvSpPr>
            <a:spLocks noGrp="1"/>
          </p:cNvSpPr>
          <p:nvPr>
            <p:ph type="body" idx="1"/>
          </p:nvPr>
        </p:nvSpPr>
        <p:spPr>
          <a:xfrm>
            <a:off x="609600" y="1244185"/>
            <a:ext cx="10972800" cy="4881980"/>
          </a:xfrm>
        </p:spPr>
        <p:txBody>
          <a:bodyPr>
            <a:normAutofit/>
          </a:bodyPr>
          <a:lstStyle/>
          <a:p>
            <a:r>
              <a:rPr lang="en-US" sz="3200" dirty="0">
                <a:latin typeface="Times New Roman" panose="02020603050405020304" pitchFamily="18" charset="0"/>
                <a:ea typeface="Arial"/>
                <a:cs typeface="Times New Roman" panose="02020603050405020304" pitchFamily="18" charset="0"/>
                <a:sym typeface="Arial"/>
              </a:rPr>
              <a:t>It is the no. of instances of one entity class that can be associated with each instance of another entity class.</a:t>
            </a:r>
            <a:endParaRPr lang="en-US" sz="3200" dirty="0">
              <a:latin typeface="Times New Roman" panose="02020603050405020304" pitchFamily="18" charset="0"/>
              <a:cs typeface="Times New Roman" panose="02020603050405020304" pitchFamily="18" charset="0"/>
            </a:endParaRPr>
          </a:p>
          <a:p>
            <a:pPr marL="114300" indent="0">
              <a:buNone/>
            </a:pPr>
            <a:r>
              <a:rPr lang="en-US" dirty="0"/>
              <a:t>. Cardinality can be of different types: </a:t>
            </a:r>
          </a:p>
          <a:p>
            <a:r>
              <a:rPr lang="en-US" b="1" dirty="0"/>
              <a:t>1. One-to-One</a:t>
            </a:r>
          </a:p>
          <a:p>
            <a:r>
              <a:rPr lang="en-US" b="1" dirty="0"/>
              <a:t>2. One-to-Many</a:t>
            </a:r>
          </a:p>
          <a:p>
            <a:r>
              <a:rPr lang="en-US" b="1" dirty="0"/>
              <a:t>3.Many-to-One</a:t>
            </a:r>
          </a:p>
          <a:p>
            <a:r>
              <a:rPr lang="en-US" b="1" dirty="0"/>
              <a:t>4.Many-to-Many</a:t>
            </a:r>
            <a:endParaRPr lang="en-US"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One-to-One</a:t>
            </a:r>
            <a:endParaRPr lang="en-US" dirty="0"/>
          </a:p>
        </p:txBody>
      </p:sp>
      <p:sp>
        <p:nvSpPr>
          <p:cNvPr id="3" name="Text Placeholder 2"/>
          <p:cNvSpPr>
            <a:spLocks noGrp="1"/>
          </p:cNvSpPr>
          <p:nvPr>
            <p:ph type="body" idx="1"/>
          </p:nvPr>
        </p:nvSpPr>
        <p:spPr>
          <a:xfrm>
            <a:off x="609600" y="1237957"/>
            <a:ext cx="10972800" cy="4888207"/>
          </a:xfrm>
        </p:spPr>
        <p:txBody>
          <a:bodyPr/>
          <a:lstStyle/>
          <a:p>
            <a:r>
              <a:rPr lang="en-US" b="1" dirty="0"/>
              <a:t> </a:t>
            </a:r>
            <a:r>
              <a:rPr lang="en-US" dirty="0"/>
              <a:t> When each entity in each entity set can take part only once in the relationship, the cardinality is one-to-one. Let us assume that a male can marry one female and a female can marry one male. So the relationship will be one-to-one. </a:t>
            </a:r>
          </a:p>
        </p:txBody>
      </p:sp>
      <p:pic>
        <p:nvPicPr>
          <p:cNvPr id="9218" name="Picture 2"/>
          <p:cNvPicPr>
            <a:picLocks noChangeAspect="1" noChangeArrowheads="1"/>
          </p:cNvPicPr>
          <p:nvPr/>
        </p:nvPicPr>
        <p:blipFill>
          <a:blip r:embed="rId2"/>
          <a:srcRect/>
          <a:stretch>
            <a:fillRect/>
          </a:stretch>
        </p:blipFill>
        <p:spPr bwMode="auto">
          <a:xfrm>
            <a:off x="2636519" y="3685734"/>
            <a:ext cx="6553200" cy="849777"/>
          </a:xfrm>
          <a:prstGeom prst="rect">
            <a:avLst/>
          </a:prstGeom>
          <a:noFill/>
          <a:ln w="9525">
            <a:noFill/>
            <a:miter lim="800000"/>
            <a:headEnd/>
            <a:tailEnd/>
          </a:ln>
        </p:spPr>
      </p:pic>
      <p:pic>
        <p:nvPicPr>
          <p:cNvPr id="5" name="Picture 4" descr="121.jpg"/>
          <p:cNvPicPr>
            <a:picLocks noChangeAspect="1"/>
          </p:cNvPicPr>
          <p:nvPr/>
        </p:nvPicPr>
        <p:blipFill>
          <a:blip r:embed="rId3"/>
          <a:stretch>
            <a:fillRect/>
          </a:stretch>
        </p:blipFill>
        <p:spPr>
          <a:xfrm>
            <a:off x="4844341" y="4600136"/>
            <a:ext cx="3399327" cy="1976511"/>
          </a:xfrm>
          <a:prstGeom prst="rect">
            <a:avLst/>
          </a:prstGeom>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One-to-Many</a:t>
            </a:r>
            <a:endParaRPr lang="en-US" dirty="0"/>
          </a:p>
        </p:txBody>
      </p:sp>
      <p:sp>
        <p:nvSpPr>
          <p:cNvPr id="3" name="Text Placeholder 2"/>
          <p:cNvSpPr>
            <a:spLocks noGrp="1"/>
          </p:cNvSpPr>
          <p:nvPr>
            <p:ph type="body" idx="1"/>
          </p:nvPr>
        </p:nvSpPr>
        <p:spPr>
          <a:xfrm>
            <a:off x="609600" y="1055077"/>
            <a:ext cx="10972800" cy="5071087"/>
          </a:xfrm>
        </p:spPr>
        <p:txBody>
          <a:bodyPr/>
          <a:lstStyle/>
          <a:p>
            <a:pPr fontAlgn="base"/>
            <a:r>
              <a:rPr lang="en-US" dirty="0"/>
              <a:t> In one-to-many mapping as well where each entity can be related to more than one entity.</a:t>
            </a:r>
          </a:p>
          <a:p>
            <a:pPr fontAlgn="base"/>
            <a:r>
              <a:rPr lang="en-US" dirty="0"/>
              <a:t>Let us assume that one surgeon department can accommodate many doctors. So the Cardinality will be 1 to M. </a:t>
            </a:r>
          </a:p>
          <a:p>
            <a:pPr fontAlgn="base"/>
            <a:r>
              <a:rPr lang="en-US" dirty="0"/>
              <a:t>It means one department has many Doctors.</a:t>
            </a:r>
          </a:p>
          <a:p>
            <a:pPr>
              <a:buNone/>
            </a:pPr>
            <a:endParaRPr lang="en-US" dirty="0"/>
          </a:p>
        </p:txBody>
      </p:sp>
      <p:pic>
        <p:nvPicPr>
          <p:cNvPr id="10242" name="Picture 2"/>
          <p:cNvPicPr>
            <a:picLocks noChangeAspect="1" noChangeArrowheads="1"/>
          </p:cNvPicPr>
          <p:nvPr/>
        </p:nvPicPr>
        <p:blipFill>
          <a:blip r:embed="rId2"/>
          <a:srcRect/>
          <a:stretch>
            <a:fillRect/>
          </a:stretch>
        </p:blipFill>
        <p:spPr bwMode="auto">
          <a:xfrm>
            <a:off x="2892890" y="4590610"/>
            <a:ext cx="5534025" cy="1390650"/>
          </a:xfrm>
          <a:prstGeom prst="rect">
            <a:avLst/>
          </a:prstGeom>
          <a:noFill/>
          <a:ln w="9525">
            <a:noFill/>
            <a:miter lim="800000"/>
            <a:headEnd/>
            <a:tailEnd/>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One-to-Many</a:t>
            </a:r>
            <a:endParaRPr lang="en-US" dirty="0"/>
          </a:p>
        </p:txBody>
      </p:sp>
      <p:sp>
        <p:nvSpPr>
          <p:cNvPr id="3" name="Text Placeholder 2"/>
          <p:cNvSpPr>
            <a:spLocks noGrp="1"/>
          </p:cNvSpPr>
          <p:nvPr>
            <p:ph type="body" idx="1"/>
          </p:nvPr>
        </p:nvSpPr>
        <p:spPr/>
        <p:txBody>
          <a:bodyPr/>
          <a:lstStyle/>
          <a:p>
            <a:r>
              <a:rPr lang="en-US" dirty="0"/>
              <a:t>Using sets, one-to-many cardinality can be represented as:</a:t>
            </a:r>
          </a:p>
          <a:p>
            <a:endParaRPr lang="en-US" dirty="0"/>
          </a:p>
        </p:txBody>
      </p:sp>
      <p:pic>
        <p:nvPicPr>
          <p:cNvPr id="11267" name="Picture 3"/>
          <p:cNvPicPr>
            <a:picLocks noChangeAspect="1" noChangeArrowheads="1"/>
          </p:cNvPicPr>
          <p:nvPr/>
        </p:nvPicPr>
        <p:blipFill>
          <a:blip r:embed="rId2"/>
          <a:srcRect/>
          <a:stretch>
            <a:fillRect/>
          </a:stretch>
        </p:blipFill>
        <p:spPr bwMode="auto">
          <a:xfrm>
            <a:off x="3854548" y="2475915"/>
            <a:ext cx="5509480" cy="4093698"/>
          </a:xfrm>
          <a:prstGeom prst="rect">
            <a:avLst/>
          </a:prstGeom>
          <a:noFill/>
          <a:ln w="9525">
            <a:noFill/>
            <a:miter lim="800000"/>
            <a:headEnd/>
            <a:tailEnd/>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485017"/>
          </a:xfrm>
        </p:spPr>
        <p:txBody>
          <a:bodyPr>
            <a:normAutofit fontScale="90000"/>
          </a:bodyPr>
          <a:lstStyle/>
          <a:p>
            <a:r>
              <a:rPr lang="en-US" b="1" dirty="0"/>
              <a:t>Many-to-One</a:t>
            </a:r>
            <a:endParaRPr lang="en-US" dirty="0"/>
          </a:p>
        </p:txBody>
      </p:sp>
      <p:sp>
        <p:nvSpPr>
          <p:cNvPr id="3" name="Text Placeholder 2"/>
          <p:cNvSpPr>
            <a:spLocks noGrp="1"/>
          </p:cNvSpPr>
          <p:nvPr>
            <p:ph type="body" idx="1"/>
          </p:nvPr>
        </p:nvSpPr>
        <p:spPr>
          <a:xfrm>
            <a:off x="534572" y="618978"/>
            <a:ext cx="11047828" cy="6239022"/>
          </a:xfrm>
        </p:spPr>
        <p:txBody>
          <a:bodyPr>
            <a:normAutofit/>
          </a:bodyPr>
          <a:lstStyle/>
          <a:p>
            <a:pPr fontAlgn="base">
              <a:buFont typeface="Wingdings" pitchFamily="2" charset="2"/>
              <a:buChar char="v"/>
            </a:pPr>
            <a:r>
              <a:rPr lang="en-US" dirty="0">
                <a:solidFill>
                  <a:srgbClr val="0070C0"/>
                </a:solidFill>
              </a:rPr>
              <a:t>When entities in one entity set can take part only once in the relationship set and entities in other entity sets can take part more than once in the relationship set, cardinality is many to one.</a:t>
            </a:r>
          </a:p>
          <a:p>
            <a:pPr fontAlgn="base">
              <a:buFont typeface="Wingdings" pitchFamily="2" charset="2"/>
              <a:buChar char="v"/>
            </a:pPr>
            <a:r>
              <a:rPr lang="en-US" dirty="0"/>
              <a:t> Let us assume that a student can take only one course but one course can be taken by many students. </a:t>
            </a:r>
          </a:p>
          <a:p>
            <a:pPr fontAlgn="base">
              <a:buFont typeface="Wingdings" pitchFamily="2" charset="2"/>
              <a:buChar char="v"/>
            </a:pPr>
            <a:r>
              <a:rPr lang="en-US" dirty="0"/>
              <a:t>So the cardinality will be n to 1.</a:t>
            </a:r>
          </a:p>
          <a:p>
            <a:pPr fontAlgn="base">
              <a:buFont typeface="Wingdings" pitchFamily="2" charset="2"/>
              <a:buChar char="v"/>
            </a:pPr>
            <a:r>
              <a:rPr lang="en-US" dirty="0"/>
              <a:t> It means that for one course there can be n students but for one student, there will be only one course. </a:t>
            </a:r>
          </a:p>
          <a:p>
            <a:pPr>
              <a:buNone/>
            </a:pPr>
            <a:endParaRPr lang="en-US" dirty="0"/>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710100"/>
          </a:xfrm>
        </p:spPr>
        <p:txBody>
          <a:bodyPr>
            <a:normAutofit fontScale="90000"/>
          </a:bodyPr>
          <a:lstStyle/>
          <a:p>
            <a:r>
              <a:rPr lang="en-US" b="1" dirty="0"/>
              <a:t>Many-to-One</a:t>
            </a:r>
            <a:endParaRPr lang="en-US" dirty="0"/>
          </a:p>
        </p:txBody>
      </p:sp>
      <p:sp>
        <p:nvSpPr>
          <p:cNvPr id="3" name="Text Placeholder 2"/>
          <p:cNvSpPr>
            <a:spLocks noGrp="1"/>
          </p:cNvSpPr>
          <p:nvPr>
            <p:ph type="body" idx="1"/>
          </p:nvPr>
        </p:nvSpPr>
        <p:spPr>
          <a:xfrm>
            <a:off x="609600" y="1026943"/>
            <a:ext cx="10972800" cy="5099222"/>
          </a:xfrm>
        </p:spPr>
        <p:txBody>
          <a:bodyPr/>
          <a:lstStyle/>
          <a:p>
            <a:endParaRPr lang="en-US" dirty="0"/>
          </a:p>
          <a:p>
            <a:pPr>
              <a:buNone/>
            </a:pPr>
            <a:endParaRPr lang="en-US" dirty="0"/>
          </a:p>
          <a:p>
            <a:r>
              <a:rPr lang="en-US" dirty="0"/>
              <a:t>Using Sets, it can be represented as:</a:t>
            </a:r>
          </a:p>
        </p:txBody>
      </p:sp>
      <p:pic>
        <p:nvPicPr>
          <p:cNvPr id="4" name="Picture 2"/>
          <p:cNvPicPr>
            <a:picLocks noChangeAspect="1" noChangeArrowheads="1"/>
          </p:cNvPicPr>
          <p:nvPr/>
        </p:nvPicPr>
        <p:blipFill>
          <a:blip r:embed="rId2"/>
          <a:srcRect/>
          <a:stretch>
            <a:fillRect/>
          </a:stretch>
        </p:blipFill>
        <p:spPr bwMode="auto">
          <a:xfrm>
            <a:off x="2194563" y="900332"/>
            <a:ext cx="6705600" cy="1505243"/>
          </a:xfrm>
          <a:prstGeom prst="rect">
            <a:avLst/>
          </a:prstGeom>
          <a:noFill/>
          <a:ln w="9525">
            <a:noFill/>
            <a:miter lim="800000"/>
            <a:headEnd/>
            <a:tailEnd/>
          </a:ln>
        </p:spPr>
      </p:pic>
      <p:pic>
        <p:nvPicPr>
          <p:cNvPr id="13314" name="Picture 2"/>
          <p:cNvPicPr>
            <a:picLocks noChangeAspect="1" noChangeArrowheads="1"/>
          </p:cNvPicPr>
          <p:nvPr/>
        </p:nvPicPr>
        <p:blipFill>
          <a:blip r:embed="rId3"/>
          <a:srcRect/>
          <a:stretch>
            <a:fillRect/>
          </a:stretch>
        </p:blipFill>
        <p:spPr bwMode="auto">
          <a:xfrm>
            <a:off x="3786187" y="2685392"/>
            <a:ext cx="4963918" cy="3400425"/>
          </a:xfrm>
          <a:prstGeom prst="rect">
            <a:avLst/>
          </a:prstGeom>
          <a:noFill/>
          <a:ln w="9525">
            <a:noFill/>
            <a:miter lim="800000"/>
            <a:headEnd/>
            <a:tailEnd/>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08073" y="379827"/>
            <a:ext cx="10972800" cy="759655"/>
          </a:xfrm>
        </p:spPr>
        <p:txBody>
          <a:bodyPr>
            <a:normAutofit fontScale="90000"/>
          </a:bodyPr>
          <a:lstStyle/>
          <a:p>
            <a:r>
              <a:rPr lang="en-US" b="1" dirty="0"/>
              <a:t>Many-to-Many:</a:t>
            </a:r>
            <a:endParaRPr lang="en-US" dirty="0"/>
          </a:p>
        </p:txBody>
      </p:sp>
      <p:sp>
        <p:nvSpPr>
          <p:cNvPr id="3" name="Text Placeholder 2"/>
          <p:cNvSpPr>
            <a:spLocks noGrp="1"/>
          </p:cNvSpPr>
          <p:nvPr>
            <p:ph type="body" idx="1"/>
          </p:nvPr>
        </p:nvSpPr>
        <p:spPr/>
        <p:txBody>
          <a:bodyPr/>
          <a:lstStyle/>
          <a:p>
            <a:r>
              <a:rPr lang="en-US" dirty="0"/>
              <a:t>When entities in all entity sets can take part more than once in the relationship cardinality is many to many. </a:t>
            </a:r>
          </a:p>
          <a:p>
            <a:r>
              <a:rPr lang="en-US" dirty="0"/>
              <a:t>Let us assume that a student can take more than one course and one course can be taken by many students. So the relationship will be many to many. </a:t>
            </a:r>
          </a:p>
          <a:p>
            <a:endParaRPr lang="en-US" dirty="0"/>
          </a:p>
        </p:txBody>
      </p:sp>
      <p:pic>
        <p:nvPicPr>
          <p:cNvPr id="14338" name="Picture 2"/>
          <p:cNvPicPr>
            <a:picLocks noChangeAspect="1" noChangeArrowheads="1"/>
          </p:cNvPicPr>
          <p:nvPr/>
        </p:nvPicPr>
        <p:blipFill>
          <a:blip r:embed="rId2"/>
          <a:srcRect/>
          <a:stretch>
            <a:fillRect/>
          </a:stretch>
        </p:blipFill>
        <p:spPr bwMode="auto">
          <a:xfrm>
            <a:off x="2307102" y="4670034"/>
            <a:ext cx="6705600" cy="1428750"/>
          </a:xfrm>
          <a:prstGeom prst="rect">
            <a:avLst/>
          </a:prstGeom>
          <a:noFill/>
          <a:ln w="9525">
            <a:noFill/>
            <a:miter lim="800000"/>
            <a:headEnd/>
            <a:tailEnd/>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key</a:t>
            </a:r>
          </a:p>
        </p:txBody>
      </p:sp>
      <p:sp>
        <p:nvSpPr>
          <p:cNvPr id="3" name="Text Placeholder 2"/>
          <p:cNvSpPr>
            <a:spLocks noGrp="1"/>
          </p:cNvSpPr>
          <p:nvPr>
            <p:ph type="body" idx="1"/>
          </p:nvPr>
        </p:nvSpPr>
        <p:spPr/>
        <p:txBody>
          <a:bodyPr/>
          <a:lstStyle/>
          <a:p>
            <a:r>
              <a:rPr lang="en-US" b="1" dirty="0"/>
              <a:t>Primary Key:</a:t>
            </a:r>
            <a:r>
              <a:rPr lang="en-US" dirty="0"/>
              <a:t> A unique identifier for each record in a table.   </a:t>
            </a:r>
          </a:p>
          <a:p>
            <a:r>
              <a:rPr lang="en-US" b="1" dirty="0"/>
              <a:t>Foreign Key:</a:t>
            </a:r>
            <a:r>
              <a:rPr lang="en-US" dirty="0"/>
              <a:t> A field in another table that references the primary key of the first table.</a:t>
            </a: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A9532F-C6D9-25E6-B792-7FFBC78DF0BA}"/>
              </a:ext>
            </a:extLst>
          </p:cNvPr>
          <p:cNvSpPr>
            <a:spLocks noGrp="1"/>
          </p:cNvSpPr>
          <p:nvPr>
            <p:ph type="title"/>
          </p:nvPr>
        </p:nvSpPr>
        <p:spPr>
          <a:xfrm>
            <a:off x="609600" y="274638"/>
            <a:ext cx="10972800" cy="729703"/>
          </a:xfrm>
        </p:spPr>
        <p:txBody>
          <a:bodyPr>
            <a:normAutofit/>
          </a:bodyPr>
          <a:lstStyle/>
          <a:p>
            <a:r>
              <a:rPr lang="en-US" sz="3200" b="1" dirty="0">
                <a:solidFill>
                  <a:srgbClr val="FF0000"/>
                </a:solidFill>
                <a:latin typeface="Times New Roman" panose="02020603050405020304" pitchFamily="18" charset="0"/>
                <a:cs typeface="Times New Roman" panose="02020603050405020304" pitchFamily="18" charset="0"/>
              </a:rPr>
              <a:t>ADDITIONAL FEATURES OF E-R MODEL</a:t>
            </a:r>
            <a:endParaRPr lang="en-IN" sz="3200" b="1" dirty="0">
              <a:solidFill>
                <a:srgbClr val="FF0000"/>
              </a:solidFill>
              <a:latin typeface="Times New Roman" panose="02020603050405020304" pitchFamily="18" charset="0"/>
              <a:cs typeface="Times New Roman" panose="02020603050405020304" pitchFamily="18" charset="0"/>
            </a:endParaRPr>
          </a:p>
        </p:txBody>
      </p:sp>
      <p:sp>
        <p:nvSpPr>
          <p:cNvPr id="3" name="Text Placeholder 2">
            <a:extLst>
              <a:ext uri="{FF2B5EF4-FFF2-40B4-BE49-F238E27FC236}">
                <a16:creationId xmlns:a16="http://schemas.microsoft.com/office/drawing/2014/main" id="{544D7BCF-3F9D-3BCB-7998-ED2F6F4708D5}"/>
              </a:ext>
            </a:extLst>
          </p:cNvPr>
          <p:cNvSpPr>
            <a:spLocks noGrp="1"/>
          </p:cNvSpPr>
          <p:nvPr>
            <p:ph type="body" idx="1"/>
          </p:nvPr>
        </p:nvSpPr>
        <p:spPr>
          <a:xfrm>
            <a:off x="609600" y="1004341"/>
            <a:ext cx="10972800" cy="5121823"/>
          </a:xfrm>
        </p:spPr>
        <p:txBody>
          <a:bodyPr>
            <a:normAutofit/>
          </a:bodyPr>
          <a:lstStyle/>
          <a:p>
            <a:r>
              <a:rPr lang="en-US" sz="3600" dirty="0">
                <a:latin typeface="Times New Roman" panose="02020603050405020304" pitchFamily="18" charset="0"/>
                <a:cs typeface="Times New Roman" panose="02020603050405020304" pitchFamily="18" charset="0"/>
              </a:rPr>
              <a:t>Key constraints</a:t>
            </a:r>
          </a:p>
          <a:p>
            <a:r>
              <a:rPr lang="en-US" sz="3600" dirty="0">
                <a:latin typeface="Times New Roman" panose="02020603050405020304" pitchFamily="18" charset="0"/>
                <a:cs typeface="Times New Roman" panose="02020603050405020304" pitchFamily="18" charset="0"/>
              </a:rPr>
              <a:t>Participation Constraints- will be two types</a:t>
            </a:r>
          </a:p>
          <a:p>
            <a:pPr lvl="2"/>
            <a:r>
              <a:rPr lang="en-US" sz="3600" dirty="0">
                <a:latin typeface="Times New Roman" panose="02020603050405020304" pitchFamily="18" charset="0"/>
                <a:cs typeface="Times New Roman" panose="02020603050405020304" pitchFamily="18" charset="0"/>
              </a:rPr>
              <a:t>1.Total Participation</a:t>
            </a:r>
          </a:p>
          <a:p>
            <a:pPr lvl="2"/>
            <a:r>
              <a:rPr lang="en-US" sz="3600" dirty="0">
                <a:latin typeface="Times New Roman" panose="02020603050405020304" pitchFamily="18" charset="0"/>
                <a:cs typeface="Times New Roman" panose="02020603050405020304" pitchFamily="18" charset="0"/>
              </a:rPr>
              <a:t>2.Parital Participation</a:t>
            </a:r>
          </a:p>
          <a:p>
            <a:r>
              <a:rPr lang="en-US" sz="3600" dirty="0">
                <a:latin typeface="Times New Roman" panose="02020603050405020304" pitchFamily="18" charset="0"/>
                <a:cs typeface="Times New Roman" panose="02020603050405020304" pitchFamily="18" charset="0"/>
              </a:rPr>
              <a:t>Class hierarchies –can be views in one of two ways</a:t>
            </a:r>
          </a:p>
          <a:p>
            <a:pPr lvl="2"/>
            <a:r>
              <a:rPr lang="en-US" sz="3600" dirty="0">
                <a:latin typeface="Times New Roman" panose="02020603050405020304" pitchFamily="18" charset="0"/>
                <a:cs typeface="Times New Roman" panose="02020603050405020304" pitchFamily="18" charset="0"/>
              </a:rPr>
              <a:t>1.Specialization</a:t>
            </a:r>
          </a:p>
          <a:p>
            <a:pPr lvl="2"/>
            <a:r>
              <a:rPr lang="en-US" sz="3600" dirty="0">
                <a:latin typeface="Times New Roman" panose="02020603050405020304" pitchFamily="18" charset="0"/>
                <a:cs typeface="Times New Roman" panose="02020603050405020304" pitchFamily="18" charset="0"/>
              </a:rPr>
              <a:t>2.Generalization</a:t>
            </a:r>
          </a:p>
          <a:p>
            <a:r>
              <a:rPr lang="en-US" sz="3600" dirty="0">
                <a:latin typeface="Times New Roman" panose="02020603050405020304" pitchFamily="18" charset="0"/>
                <a:cs typeface="Times New Roman" panose="02020603050405020304" pitchFamily="18" charset="0"/>
              </a:rPr>
              <a:t>Aggregation</a:t>
            </a:r>
            <a:endParaRPr lang="en-IN" sz="36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853490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E023D3D-91DB-B8A2-B634-6229B4610382}"/>
              </a:ext>
            </a:extLst>
          </p:cNvPr>
          <p:cNvSpPr>
            <a:spLocks noGrp="1"/>
          </p:cNvSpPr>
          <p:nvPr>
            <p:ph type="body" idx="1"/>
          </p:nvPr>
        </p:nvSpPr>
        <p:spPr>
          <a:xfrm>
            <a:off x="609600" y="299803"/>
            <a:ext cx="10972800" cy="5826361"/>
          </a:xfrm>
        </p:spPr>
        <p:txBody>
          <a:bodyPr/>
          <a:lstStyle/>
          <a:p>
            <a:r>
              <a:rPr lang="en-US" sz="3600" b="1" dirty="0"/>
              <a:t>Total participation</a:t>
            </a:r>
            <a:r>
              <a:rPr lang="en-US" sz="3600" dirty="0"/>
              <a:t>- in an Entity set each and every entity participating in a relationship it is called total participation else called partial participation</a:t>
            </a:r>
          </a:p>
          <a:p>
            <a:r>
              <a:rPr lang="en-US" sz="3600" dirty="0"/>
              <a:t>Total Participation		Partial Participation</a:t>
            </a:r>
          </a:p>
        </p:txBody>
      </p:sp>
      <p:cxnSp>
        <p:nvCxnSpPr>
          <p:cNvPr id="5" name="Straight Connector 4">
            <a:extLst>
              <a:ext uri="{FF2B5EF4-FFF2-40B4-BE49-F238E27FC236}">
                <a16:creationId xmlns:a16="http://schemas.microsoft.com/office/drawing/2014/main" id="{C30B426A-3F2E-52B3-4FE9-33B1D362B81E}"/>
              </a:ext>
            </a:extLst>
          </p:cNvPr>
          <p:cNvCxnSpPr/>
          <p:nvPr/>
        </p:nvCxnSpPr>
        <p:spPr>
          <a:xfrm>
            <a:off x="1738859" y="2878112"/>
            <a:ext cx="1154243" cy="0"/>
          </a:xfrm>
          <a:prstGeom prst="line">
            <a:avLst/>
          </a:prstGeom>
        </p:spPr>
        <p:style>
          <a:lnRef idx="3">
            <a:schemeClr val="dk1"/>
          </a:lnRef>
          <a:fillRef idx="0">
            <a:schemeClr val="dk1"/>
          </a:fillRef>
          <a:effectRef idx="2">
            <a:schemeClr val="dk1"/>
          </a:effectRef>
          <a:fontRef idx="minor">
            <a:schemeClr val="tx1"/>
          </a:fontRef>
        </p:style>
      </p:cxnSp>
      <p:cxnSp>
        <p:nvCxnSpPr>
          <p:cNvPr id="7" name="Straight Connector 6">
            <a:extLst>
              <a:ext uri="{FF2B5EF4-FFF2-40B4-BE49-F238E27FC236}">
                <a16:creationId xmlns:a16="http://schemas.microsoft.com/office/drawing/2014/main" id="{C3CA0BC1-5EFC-78AF-28A2-7B1BC2006AB7}"/>
              </a:ext>
            </a:extLst>
          </p:cNvPr>
          <p:cNvCxnSpPr>
            <a:cxnSpLocks/>
          </p:cNvCxnSpPr>
          <p:nvPr/>
        </p:nvCxnSpPr>
        <p:spPr>
          <a:xfrm>
            <a:off x="6685613" y="2878112"/>
            <a:ext cx="1603948" cy="0"/>
          </a:xfrm>
          <a:prstGeom prst="line">
            <a:avLst/>
          </a:prstGeom>
        </p:spPr>
        <p:style>
          <a:lnRef idx="1">
            <a:schemeClr val="accent1"/>
          </a:lnRef>
          <a:fillRef idx="0">
            <a:schemeClr val="accent1"/>
          </a:fillRef>
          <a:effectRef idx="0">
            <a:schemeClr val="accent1"/>
          </a:effectRef>
          <a:fontRef idx="minor">
            <a:schemeClr val="tx1"/>
          </a:fontRef>
        </p:style>
      </p:cxnSp>
      <p:pic>
        <p:nvPicPr>
          <p:cNvPr id="11" name="Picture 10">
            <a:extLst>
              <a:ext uri="{FF2B5EF4-FFF2-40B4-BE49-F238E27FC236}">
                <a16:creationId xmlns:a16="http://schemas.microsoft.com/office/drawing/2014/main" id="{6BCBB189-E91B-B265-D684-AC679135A15A}"/>
              </a:ext>
            </a:extLst>
          </p:cNvPr>
          <p:cNvPicPr>
            <a:picLocks noChangeAspect="1"/>
          </p:cNvPicPr>
          <p:nvPr/>
        </p:nvPicPr>
        <p:blipFill>
          <a:blip r:embed="rId2"/>
          <a:stretch>
            <a:fillRect/>
          </a:stretch>
        </p:blipFill>
        <p:spPr>
          <a:xfrm>
            <a:off x="2315980" y="3212983"/>
            <a:ext cx="6487430" cy="3743847"/>
          </a:xfrm>
          <a:prstGeom prst="rect">
            <a:avLst/>
          </a:prstGeom>
        </p:spPr>
      </p:pic>
    </p:spTree>
    <p:extLst>
      <p:ext uri="{BB962C8B-B14F-4D97-AF65-F5344CB8AC3E}">
        <p14:creationId xmlns:p14="http://schemas.microsoft.com/office/powerpoint/2010/main" val="134937819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0A89E8-3ECC-CC02-C2D7-B976FCB12023}"/>
              </a:ext>
            </a:extLst>
          </p:cNvPr>
          <p:cNvSpPr>
            <a:spLocks noGrp="1"/>
          </p:cNvSpPr>
          <p:nvPr>
            <p:ph type="title"/>
          </p:nvPr>
        </p:nvSpPr>
        <p:spPr>
          <a:xfrm>
            <a:off x="609600" y="274638"/>
            <a:ext cx="10972800" cy="457198"/>
          </a:xfrm>
        </p:spPr>
        <p:txBody>
          <a:bodyPr>
            <a:normAutofit fontScale="90000"/>
          </a:bodyPr>
          <a:lstStyle/>
          <a:p>
            <a:r>
              <a:rPr lang="en-US" sz="4800" dirty="0">
                <a:solidFill>
                  <a:srgbClr val="FFC000"/>
                </a:solidFill>
              </a:rPr>
              <a:t>Specialization</a:t>
            </a:r>
            <a:endParaRPr lang="en-IN" dirty="0">
              <a:solidFill>
                <a:srgbClr val="FFC000"/>
              </a:solidFill>
            </a:endParaRPr>
          </a:p>
        </p:txBody>
      </p:sp>
      <p:sp>
        <p:nvSpPr>
          <p:cNvPr id="3" name="Text Placeholder 2">
            <a:extLst>
              <a:ext uri="{FF2B5EF4-FFF2-40B4-BE49-F238E27FC236}">
                <a16:creationId xmlns:a16="http://schemas.microsoft.com/office/drawing/2014/main" id="{C924E814-8B20-3C13-DBF1-CF3D489AEB70}"/>
              </a:ext>
            </a:extLst>
          </p:cNvPr>
          <p:cNvSpPr>
            <a:spLocks noGrp="1"/>
          </p:cNvSpPr>
          <p:nvPr>
            <p:ph type="body" idx="1"/>
          </p:nvPr>
        </p:nvSpPr>
        <p:spPr>
          <a:xfrm>
            <a:off x="414727" y="614597"/>
            <a:ext cx="11607383" cy="5631489"/>
          </a:xfrm>
        </p:spPr>
        <p:txBody>
          <a:bodyPr>
            <a:normAutofit/>
          </a:bodyPr>
          <a:lstStyle/>
          <a:p>
            <a:r>
              <a:rPr lang="en-US" sz="3600" dirty="0">
                <a:latin typeface="Times New Roman" panose="02020603050405020304" pitchFamily="18" charset="0"/>
                <a:cs typeface="Times New Roman" panose="02020603050405020304" pitchFamily="18" charset="0"/>
              </a:rPr>
              <a:t>Specialization is a process of identifying subset of an entity that shares different Characteristics</a:t>
            </a:r>
          </a:p>
          <a:p>
            <a:r>
              <a:rPr lang="en-US" sz="3600" dirty="0">
                <a:latin typeface="Times New Roman" panose="02020603050405020304" pitchFamily="18" charset="0"/>
                <a:cs typeface="Times New Roman" panose="02020603050405020304" pitchFamily="18" charset="0"/>
              </a:rPr>
              <a:t>It breaks an entity into multiple entities from higher level to lower level.</a:t>
            </a:r>
          </a:p>
          <a:p>
            <a:r>
              <a:rPr lang="en-US" sz="3600" dirty="0">
                <a:latin typeface="Times New Roman" panose="02020603050405020304" pitchFamily="18" charset="0"/>
                <a:cs typeface="Times New Roman" panose="02020603050405020304" pitchFamily="18" charset="0"/>
              </a:rPr>
              <a:t>Here, superclass is defined first and then subclass is defined next followed by superclass specific attributes and relationship sets are added.</a:t>
            </a:r>
          </a:p>
          <a:p>
            <a:r>
              <a:rPr lang="en-US" sz="3600" dirty="0">
                <a:latin typeface="Times New Roman" panose="02020603050405020304" pitchFamily="18" charset="0"/>
                <a:cs typeface="Times New Roman" panose="02020603050405020304" pitchFamily="18" charset="0"/>
              </a:rPr>
              <a:t>it Top-down approach</a:t>
            </a:r>
          </a:p>
          <a:p>
            <a:endParaRPr lang="en-US" sz="3600" dirty="0"/>
          </a:p>
          <a:p>
            <a:endParaRPr lang="en-IN" dirty="0"/>
          </a:p>
        </p:txBody>
      </p:sp>
      <p:pic>
        <p:nvPicPr>
          <p:cNvPr id="4" name="Google Shape;567;p78" descr="img2">
            <a:extLst>
              <a:ext uri="{FF2B5EF4-FFF2-40B4-BE49-F238E27FC236}">
                <a16:creationId xmlns:a16="http://schemas.microsoft.com/office/drawing/2014/main" id="{EC104320-AD87-1E0F-CC4A-A494D23D0BF9}"/>
              </a:ext>
            </a:extLst>
          </p:cNvPr>
          <p:cNvPicPr preferRelativeResize="0">
            <a:picLocks/>
          </p:cNvPicPr>
          <p:nvPr/>
        </p:nvPicPr>
        <p:blipFill rotWithShape="1">
          <a:blip r:embed="rId2">
            <a:alphaModFix/>
          </a:blip>
          <a:srcRect/>
          <a:stretch/>
        </p:blipFill>
        <p:spPr>
          <a:xfrm>
            <a:off x="6453266" y="4054675"/>
            <a:ext cx="5129134" cy="2677202"/>
          </a:xfrm>
          <a:prstGeom prst="rect">
            <a:avLst/>
          </a:prstGeom>
          <a:noFill/>
          <a:ln>
            <a:noFill/>
          </a:ln>
        </p:spPr>
      </p:pic>
    </p:spTree>
    <p:extLst>
      <p:ext uri="{BB962C8B-B14F-4D97-AF65-F5344CB8AC3E}">
        <p14:creationId xmlns:p14="http://schemas.microsoft.com/office/powerpoint/2010/main" val="24007798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652965FD-F2DB-1F76-0659-2AFEC60F72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2056" y="661988"/>
            <a:ext cx="9372108" cy="55340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140506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C3361-7012-F9D6-C8AC-BEA0A0424BBB}"/>
              </a:ext>
            </a:extLst>
          </p:cNvPr>
          <p:cNvSpPr>
            <a:spLocks noGrp="1"/>
          </p:cNvSpPr>
          <p:nvPr>
            <p:ph type="title"/>
          </p:nvPr>
        </p:nvSpPr>
        <p:spPr>
          <a:xfrm>
            <a:off x="609600" y="173421"/>
            <a:ext cx="10972800" cy="740979"/>
          </a:xfrm>
        </p:spPr>
        <p:txBody>
          <a:bodyPr>
            <a:normAutofit fontScale="90000"/>
          </a:bodyPr>
          <a:lstStyle/>
          <a:p>
            <a:r>
              <a:rPr lang="en-US" sz="4800" dirty="0">
                <a:solidFill>
                  <a:srgbClr val="00B0F0"/>
                </a:solidFill>
              </a:rPr>
              <a:t>Generalization</a:t>
            </a:r>
            <a:endParaRPr lang="en-IN" dirty="0">
              <a:solidFill>
                <a:srgbClr val="00B0F0"/>
              </a:solidFill>
            </a:endParaRPr>
          </a:p>
        </p:txBody>
      </p:sp>
      <p:sp>
        <p:nvSpPr>
          <p:cNvPr id="3" name="Text Placeholder 2">
            <a:extLst>
              <a:ext uri="{FF2B5EF4-FFF2-40B4-BE49-F238E27FC236}">
                <a16:creationId xmlns:a16="http://schemas.microsoft.com/office/drawing/2014/main" id="{0740FA12-5D58-7884-DF0D-6522400A6A0D}"/>
              </a:ext>
            </a:extLst>
          </p:cNvPr>
          <p:cNvSpPr>
            <a:spLocks noGrp="1"/>
          </p:cNvSpPr>
          <p:nvPr>
            <p:ph type="body" idx="1"/>
          </p:nvPr>
        </p:nvSpPr>
        <p:spPr>
          <a:xfrm>
            <a:off x="609599" y="914401"/>
            <a:ext cx="11324897" cy="5770178"/>
          </a:xfrm>
        </p:spPr>
        <p:txBody>
          <a:bodyPr/>
          <a:lstStyle/>
          <a:p>
            <a:r>
              <a:rPr lang="en-US" sz="3600" dirty="0">
                <a:latin typeface="Times New Roman" panose="02020603050405020304" pitchFamily="18" charset="0"/>
                <a:cs typeface="Times New Roman" panose="02020603050405020304" pitchFamily="18" charset="0"/>
              </a:rPr>
              <a:t>identifying some common characteristics of collection of entity sets and creating a new entity set that contains entities with common characteristics.</a:t>
            </a:r>
          </a:p>
          <a:p>
            <a:r>
              <a:rPr lang="en-US" sz="3600" dirty="0">
                <a:latin typeface="Times New Roman" panose="02020603050405020304" pitchFamily="18" charset="0"/>
                <a:cs typeface="Times New Roman" panose="02020603050405020304" pitchFamily="18" charset="0"/>
              </a:rPr>
              <a:t>Here, subclass is defined first and then superclass is defined next followed by relationship that involves the superclass are then defined. it bottom-up approach</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1970940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a:extLst>
              <a:ext uri="{FF2B5EF4-FFF2-40B4-BE49-F238E27FC236}">
                <a16:creationId xmlns:a16="http://schemas.microsoft.com/office/drawing/2014/main" id="{D03E1B60-05F7-110A-2B82-0279364055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13945" y="573089"/>
            <a:ext cx="10074165" cy="5553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3044683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5AA44F-30F2-4595-F925-CEE70D082D75}"/>
              </a:ext>
            </a:extLst>
          </p:cNvPr>
          <p:cNvSpPr>
            <a:spLocks noGrp="1"/>
          </p:cNvSpPr>
          <p:nvPr>
            <p:ph type="title"/>
          </p:nvPr>
        </p:nvSpPr>
        <p:spPr>
          <a:xfrm>
            <a:off x="609600" y="148514"/>
            <a:ext cx="10972800" cy="457198"/>
          </a:xfrm>
        </p:spPr>
        <p:txBody>
          <a:bodyPr>
            <a:normAutofit fontScale="90000"/>
          </a:bodyPr>
          <a:lstStyle/>
          <a:p>
            <a:r>
              <a:rPr lang="en-US" sz="4800" dirty="0">
                <a:solidFill>
                  <a:srgbClr val="00B050"/>
                </a:solidFill>
              </a:rPr>
              <a:t>Aggregation</a:t>
            </a:r>
            <a:endParaRPr lang="en-IN" dirty="0">
              <a:solidFill>
                <a:srgbClr val="00B050"/>
              </a:solidFill>
            </a:endParaRPr>
          </a:p>
        </p:txBody>
      </p:sp>
      <p:sp>
        <p:nvSpPr>
          <p:cNvPr id="3" name="Text Placeholder 2">
            <a:extLst>
              <a:ext uri="{FF2B5EF4-FFF2-40B4-BE49-F238E27FC236}">
                <a16:creationId xmlns:a16="http://schemas.microsoft.com/office/drawing/2014/main" id="{EA711B69-E177-38D1-FA7E-FBF710DED023}"/>
              </a:ext>
            </a:extLst>
          </p:cNvPr>
          <p:cNvSpPr>
            <a:spLocks noGrp="1"/>
          </p:cNvSpPr>
          <p:nvPr>
            <p:ph type="body" idx="1"/>
          </p:nvPr>
        </p:nvSpPr>
        <p:spPr>
          <a:xfrm>
            <a:off x="609600" y="605713"/>
            <a:ext cx="10972800" cy="5520452"/>
          </a:xfrm>
        </p:spPr>
        <p:txBody>
          <a:bodyPr/>
          <a:lstStyle/>
          <a:p>
            <a:r>
              <a:rPr lang="en-US" sz="3600" dirty="0"/>
              <a:t>it is a process when relation between two entities is treated as single entity.</a:t>
            </a:r>
          </a:p>
          <a:p>
            <a:r>
              <a:rPr lang="en-US" sz="3600" dirty="0"/>
              <a:t>Relationship set participate in another relationship set.</a:t>
            </a:r>
            <a:br>
              <a:rPr lang="en-US" sz="3600" dirty="0"/>
            </a:br>
            <a:r>
              <a:rPr lang="en-US" sz="3600" dirty="0"/>
              <a:t>We can use either aggregation or ternary relationship for 3 or more entity sets . Denoted by dashed box.</a:t>
            </a:r>
          </a:p>
          <a:p>
            <a:endParaRPr lang="en-IN" dirty="0"/>
          </a:p>
        </p:txBody>
      </p:sp>
      <p:pic>
        <p:nvPicPr>
          <p:cNvPr id="4" name="Google Shape;579;p80">
            <a:extLst>
              <a:ext uri="{FF2B5EF4-FFF2-40B4-BE49-F238E27FC236}">
                <a16:creationId xmlns:a16="http://schemas.microsoft.com/office/drawing/2014/main" id="{5CF6656D-9E72-22E6-0BB0-08F33D8FE554}"/>
              </a:ext>
            </a:extLst>
          </p:cNvPr>
          <p:cNvPicPr preferRelativeResize="0">
            <a:picLocks/>
          </p:cNvPicPr>
          <p:nvPr/>
        </p:nvPicPr>
        <p:blipFill rotWithShape="1">
          <a:blip r:embed="rId2">
            <a:alphaModFix/>
          </a:blip>
          <a:srcRect/>
          <a:stretch/>
        </p:blipFill>
        <p:spPr>
          <a:xfrm>
            <a:off x="3636578" y="3540618"/>
            <a:ext cx="6740465" cy="3017837"/>
          </a:xfrm>
          <a:prstGeom prst="rect">
            <a:avLst/>
          </a:prstGeom>
          <a:noFill/>
          <a:ln>
            <a:noFill/>
          </a:ln>
        </p:spPr>
      </p:pic>
    </p:spTree>
    <p:extLst>
      <p:ext uri="{BB962C8B-B14F-4D97-AF65-F5344CB8AC3E}">
        <p14:creationId xmlns:p14="http://schemas.microsoft.com/office/powerpoint/2010/main" val="296855285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C33B25B-3923-246F-C1A2-1484BC0FBDD7}"/>
              </a:ext>
            </a:extLst>
          </p:cNvPr>
          <p:cNvSpPr>
            <a:spLocks noGrp="1"/>
          </p:cNvSpPr>
          <p:nvPr>
            <p:ph type="body" idx="1"/>
          </p:nvPr>
        </p:nvSpPr>
        <p:spPr>
          <a:xfrm>
            <a:off x="609600" y="110359"/>
            <a:ext cx="10972800" cy="6015805"/>
          </a:xfrm>
        </p:spPr>
        <p:txBody>
          <a:bodyPr/>
          <a:lstStyle/>
          <a:p>
            <a:endParaRPr lang="en-IN" dirty="0"/>
          </a:p>
        </p:txBody>
      </p:sp>
      <p:pic>
        <p:nvPicPr>
          <p:cNvPr id="4098" name="Picture 2" descr="Lightbox">
            <a:extLst>
              <a:ext uri="{FF2B5EF4-FFF2-40B4-BE49-F238E27FC236}">
                <a16:creationId xmlns:a16="http://schemas.microsoft.com/office/drawing/2014/main" id="{763706C2-7875-664B-3B57-1A97E17B4E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00" y="1019175"/>
            <a:ext cx="5334000" cy="48196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9572730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BBA4B7C-B1C4-9FB0-3AFE-34FA4946447A}"/>
              </a:ext>
            </a:extLst>
          </p:cNvPr>
          <p:cNvSpPr>
            <a:spLocks noGrp="1"/>
          </p:cNvSpPr>
          <p:nvPr>
            <p:ph type="body" idx="1"/>
          </p:nvPr>
        </p:nvSpPr>
        <p:spPr/>
        <p:txBody>
          <a:bodyPr/>
          <a:lstStyle/>
          <a:p>
            <a:endParaRPr lang="en-US" dirty="0"/>
          </a:p>
          <a:p>
            <a:endParaRPr lang="en-US" dirty="0"/>
          </a:p>
          <a:p>
            <a:endParaRPr lang="en-US" dirty="0"/>
          </a:p>
          <a:p>
            <a:endParaRPr lang="en-US" dirty="0"/>
          </a:p>
          <a:p>
            <a:endParaRPr lang="en-US" dirty="0"/>
          </a:p>
          <a:p>
            <a:r>
              <a:rPr lang="en-US" dirty="0"/>
              <a:t>A </a:t>
            </a:r>
            <a:r>
              <a:rPr lang="en-US" b="1" dirty="0"/>
              <a:t>descriptive attribute</a:t>
            </a:r>
            <a:r>
              <a:rPr lang="en-US" dirty="0"/>
              <a:t> is a non-key attribute that holds </a:t>
            </a:r>
            <a:r>
              <a:rPr lang="en-US" b="1" dirty="0"/>
              <a:t>descriptive or informational data</a:t>
            </a:r>
            <a:r>
              <a:rPr lang="en-US" dirty="0"/>
              <a:t> about an entity, without playing a role in the entity's identity.</a:t>
            </a:r>
            <a:endParaRPr lang="en-IN" dirty="0"/>
          </a:p>
        </p:txBody>
      </p:sp>
      <p:pic>
        <p:nvPicPr>
          <p:cNvPr id="4" name="Google Shape;585;p81">
            <a:extLst>
              <a:ext uri="{FF2B5EF4-FFF2-40B4-BE49-F238E27FC236}">
                <a16:creationId xmlns:a16="http://schemas.microsoft.com/office/drawing/2014/main" id="{21665D1D-C95E-8F08-F018-619E4AF8C543}"/>
              </a:ext>
            </a:extLst>
          </p:cNvPr>
          <p:cNvPicPr preferRelativeResize="0">
            <a:picLocks/>
          </p:cNvPicPr>
          <p:nvPr/>
        </p:nvPicPr>
        <p:blipFill rotWithShape="1">
          <a:blip r:embed="rId2">
            <a:alphaModFix/>
          </a:blip>
          <a:srcRect/>
          <a:stretch/>
        </p:blipFill>
        <p:spPr>
          <a:xfrm>
            <a:off x="2642686" y="0"/>
            <a:ext cx="5908145" cy="4389437"/>
          </a:xfrm>
          <a:prstGeom prst="rect">
            <a:avLst/>
          </a:prstGeom>
          <a:noFill/>
          <a:ln>
            <a:noFill/>
          </a:ln>
        </p:spPr>
      </p:pic>
    </p:spTree>
    <p:extLst>
      <p:ext uri="{BB962C8B-B14F-4D97-AF65-F5344CB8AC3E}">
        <p14:creationId xmlns:p14="http://schemas.microsoft.com/office/powerpoint/2010/main" val="1586552836"/>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D29605-D3FB-0785-BEEA-E788463D7D4A}"/>
              </a:ext>
            </a:extLst>
          </p:cNvPr>
          <p:cNvSpPr>
            <a:spLocks noGrp="1"/>
          </p:cNvSpPr>
          <p:nvPr>
            <p:ph type="title"/>
          </p:nvPr>
        </p:nvSpPr>
        <p:spPr>
          <a:xfrm>
            <a:off x="609600" y="126124"/>
            <a:ext cx="10972800" cy="605712"/>
          </a:xfrm>
        </p:spPr>
        <p:txBody>
          <a:bodyPr>
            <a:normAutofit fontScale="90000"/>
          </a:bodyPr>
          <a:lstStyle/>
          <a:p>
            <a:r>
              <a:rPr lang="en-US" dirty="0"/>
              <a:t>SQL</a:t>
            </a:r>
            <a:endParaRPr lang="en-IN" dirty="0"/>
          </a:p>
        </p:txBody>
      </p:sp>
      <p:sp>
        <p:nvSpPr>
          <p:cNvPr id="3" name="Text Placeholder 2">
            <a:extLst>
              <a:ext uri="{FF2B5EF4-FFF2-40B4-BE49-F238E27FC236}">
                <a16:creationId xmlns:a16="http://schemas.microsoft.com/office/drawing/2014/main" id="{769B8B0E-A55B-03BA-D785-6A4C870D5157}"/>
              </a:ext>
            </a:extLst>
          </p:cNvPr>
          <p:cNvSpPr>
            <a:spLocks noGrp="1"/>
          </p:cNvSpPr>
          <p:nvPr>
            <p:ph type="body" idx="1"/>
          </p:nvPr>
        </p:nvSpPr>
        <p:spPr>
          <a:xfrm>
            <a:off x="767255" y="731836"/>
            <a:ext cx="10972800" cy="5842385"/>
          </a:xfrm>
        </p:spPr>
        <p:txBody>
          <a:bodyPr>
            <a:normAutofit/>
          </a:bodyPr>
          <a:lstStyle/>
          <a:p>
            <a:pPr lvl="0" indent="-457200">
              <a:spcBef>
                <a:spcPts val="0"/>
              </a:spcBef>
              <a:buSzPct val="95000"/>
              <a:buFont typeface="Wingdings" panose="05000000000000000000" pitchFamily="2" charset="2"/>
              <a:buChar char="Ø"/>
            </a:pPr>
            <a:r>
              <a:rPr lang="en-US" dirty="0"/>
              <a:t>SQL stands for Structured Query Language or sequel</a:t>
            </a:r>
          </a:p>
          <a:p>
            <a:pPr lvl="0" indent="-457200">
              <a:spcBef>
                <a:spcPts val="481"/>
              </a:spcBef>
              <a:buSzPct val="95000"/>
              <a:buFont typeface="Wingdings" panose="05000000000000000000" pitchFamily="2" charset="2"/>
              <a:buChar char="Ø"/>
            </a:pPr>
            <a:r>
              <a:rPr lang="en-US" dirty="0"/>
              <a:t>SQL is declarative language</a:t>
            </a:r>
          </a:p>
          <a:p>
            <a:pPr lvl="0" indent="-457200">
              <a:spcBef>
                <a:spcPts val="481"/>
              </a:spcBef>
              <a:buSzPct val="95000"/>
              <a:buFont typeface="Wingdings" panose="05000000000000000000" pitchFamily="2" charset="2"/>
              <a:buChar char="Ø"/>
            </a:pPr>
            <a:r>
              <a:rPr lang="en-US" dirty="0"/>
              <a:t>It is a command-based language </a:t>
            </a:r>
          </a:p>
          <a:p>
            <a:pPr lvl="0" indent="-457200">
              <a:spcBef>
                <a:spcPts val="481"/>
              </a:spcBef>
              <a:buSzPct val="95000"/>
              <a:buFont typeface="Wingdings" panose="05000000000000000000" pitchFamily="2" charset="2"/>
              <a:buChar char="Ø"/>
            </a:pPr>
            <a:r>
              <a:rPr lang="en-US" dirty="0"/>
              <a:t>It is not case sensitive.</a:t>
            </a:r>
          </a:p>
          <a:p>
            <a:pPr lvl="0" indent="-457200">
              <a:spcBef>
                <a:spcPts val="481"/>
              </a:spcBef>
              <a:buSzPct val="95000"/>
              <a:buFont typeface="Wingdings" panose="05000000000000000000" pitchFamily="2" charset="2"/>
              <a:buChar char="Ø"/>
            </a:pPr>
            <a:r>
              <a:rPr lang="en-US" dirty="0"/>
              <a:t>Every command should end with </a:t>
            </a:r>
            <a:r>
              <a:rPr lang="en-US" dirty="0">
                <a:solidFill>
                  <a:srgbClr val="00B0F0"/>
                </a:solidFill>
              </a:rPr>
              <a:t>‘;’</a:t>
            </a:r>
          </a:p>
          <a:p>
            <a:pPr lvl="0" indent="-457200">
              <a:spcBef>
                <a:spcPts val="481"/>
              </a:spcBef>
              <a:buSzPct val="95000"/>
              <a:buFont typeface="Wingdings" panose="05000000000000000000" pitchFamily="2" charset="2"/>
              <a:buChar char="Ø"/>
            </a:pPr>
            <a:r>
              <a:rPr lang="en-US" dirty="0"/>
              <a:t>SQL is used to access &amp; manipulate data in databases</a:t>
            </a:r>
          </a:p>
          <a:p>
            <a:pPr lvl="0" indent="-457200">
              <a:spcBef>
                <a:spcPts val="481"/>
              </a:spcBef>
              <a:buSzPct val="95000"/>
              <a:buFont typeface="Wingdings" panose="05000000000000000000" pitchFamily="2" charset="2"/>
              <a:buChar char="Ø"/>
            </a:pPr>
            <a:r>
              <a:rPr lang="en-US" dirty="0"/>
              <a:t>It is similar to English. This language is developed in the year 1972 by “IBM”.</a:t>
            </a:r>
          </a:p>
          <a:p>
            <a:pPr lvl="0" indent="-457200">
              <a:spcBef>
                <a:spcPts val="481"/>
              </a:spcBef>
              <a:buSzPct val="95000"/>
              <a:buFont typeface="Wingdings" panose="05000000000000000000" pitchFamily="2" charset="2"/>
              <a:buChar char="Ø"/>
            </a:pPr>
            <a:r>
              <a:rPr lang="en-US" dirty="0"/>
              <a:t>Top SQL DBs are MS SQL Server, Oracle, DB2, and MySQL</a:t>
            </a:r>
          </a:p>
          <a:p>
            <a:endParaRPr lang="en-IN" dirty="0"/>
          </a:p>
        </p:txBody>
      </p:sp>
    </p:spTree>
    <p:extLst>
      <p:ext uri="{BB962C8B-B14F-4D97-AF65-F5344CB8AC3E}">
        <p14:creationId xmlns:p14="http://schemas.microsoft.com/office/powerpoint/2010/main" val="385536491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FDC31-A3CE-8008-2E72-1574EA130F23}"/>
              </a:ext>
            </a:extLst>
          </p:cNvPr>
          <p:cNvSpPr>
            <a:spLocks noGrp="1"/>
          </p:cNvSpPr>
          <p:nvPr>
            <p:ph type="title"/>
          </p:nvPr>
        </p:nvSpPr>
        <p:spPr/>
        <p:txBody>
          <a:bodyPr/>
          <a:lstStyle/>
          <a:p>
            <a:r>
              <a:rPr lang="en-US" dirty="0"/>
              <a:t>Database Languages</a:t>
            </a:r>
            <a:endParaRPr lang="en-IN" dirty="0"/>
          </a:p>
        </p:txBody>
      </p:sp>
      <p:sp>
        <p:nvSpPr>
          <p:cNvPr id="3" name="Text Placeholder 2">
            <a:extLst>
              <a:ext uri="{FF2B5EF4-FFF2-40B4-BE49-F238E27FC236}">
                <a16:creationId xmlns:a16="http://schemas.microsoft.com/office/drawing/2014/main" id="{5091F909-CC76-870B-48FF-6D8BC6153EF7}"/>
              </a:ext>
            </a:extLst>
          </p:cNvPr>
          <p:cNvSpPr>
            <a:spLocks noGrp="1"/>
          </p:cNvSpPr>
          <p:nvPr>
            <p:ph type="body" idx="1"/>
          </p:nvPr>
        </p:nvSpPr>
        <p:spPr/>
        <p:txBody>
          <a:bodyPr/>
          <a:lstStyle/>
          <a:p>
            <a:pPr marL="514350" lvl="0" indent="-514350">
              <a:lnSpc>
                <a:spcPct val="150000"/>
              </a:lnSpc>
              <a:spcBef>
                <a:spcPts val="0"/>
              </a:spcBef>
              <a:buSzPts val="2470"/>
              <a:buAutoNum type="arabicPeriod"/>
            </a:pPr>
            <a:r>
              <a:rPr lang="en-US" dirty="0">
                <a:solidFill>
                  <a:srgbClr val="262626"/>
                </a:solidFill>
              </a:rPr>
              <a:t>DDL (Data Definition Language)</a:t>
            </a:r>
            <a:endParaRPr lang="en-US" dirty="0"/>
          </a:p>
          <a:p>
            <a:pPr marL="514350" lvl="0" indent="-514350">
              <a:lnSpc>
                <a:spcPct val="150000"/>
              </a:lnSpc>
              <a:spcBef>
                <a:spcPts val="520"/>
              </a:spcBef>
              <a:buSzPts val="2470"/>
              <a:buAutoNum type="arabicPeriod"/>
            </a:pPr>
            <a:r>
              <a:rPr lang="en-US" dirty="0"/>
              <a:t>DML (Data Manipulation Language) </a:t>
            </a:r>
          </a:p>
          <a:p>
            <a:pPr marL="514350" lvl="0" indent="-514350">
              <a:lnSpc>
                <a:spcPct val="150000"/>
              </a:lnSpc>
              <a:spcBef>
                <a:spcPts val="520"/>
              </a:spcBef>
              <a:buSzPts val="2470"/>
              <a:buAutoNum type="arabicPeriod"/>
            </a:pPr>
            <a:r>
              <a:rPr lang="en-US" dirty="0"/>
              <a:t>TCL (Transaction Control Language) </a:t>
            </a:r>
          </a:p>
          <a:p>
            <a:pPr marL="514350" lvl="0" indent="-514350">
              <a:lnSpc>
                <a:spcPct val="150000"/>
              </a:lnSpc>
              <a:spcBef>
                <a:spcPts val="520"/>
              </a:spcBef>
              <a:buSzPts val="2470"/>
              <a:buAutoNum type="arabicPeriod"/>
            </a:pPr>
            <a:r>
              <a:rPr lang="en-US" dirty="0"/>
              <a:t>DCL (Data Control Language)</a:t>
            </a:r>
          </a:p>
          <a:p>
            <a:endParaRPr lang="en-IN" dirty="0"/>
          </a:p>
        </p:txBody>
      </p:sp>
    </p:spTree>
    <p:extLst>
      <p:ext uri="{BB962C8B-B14F-4D97-AF65-F5344CB8AC3E}">
        <p14:creationId xmlns:p14="http://schemas.microsoft.com/office/powerpoint/2010/main" val="3726891153"/>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EB7DFAAB-28EB-90E8-90AC-EA5883AA3331}"/>
              </a:ext>
            </a:extLst>
          </p:cNvPr>
          <p:cNvPicPr>
            <a:picLocks noChangeAspect="1"/>
          </p:cNvPicPr>
          <p:nvPr/>
        </p:nvPicPr>
        <p:blipFill>
          <a:blip r:embed="rId2"/>
          <a:stretch>
            <a:fillRect/>
          </a:stretch>
        </p:blipFill>
        <p:spPr>
          <a:xfrm>
            <a:off x="495300" y="268014"/>
            <a:ext cx="11201400" cy="6037536"/>
          </a:xfrm>
          <a:prstGeom prst="rect">
            <a:avLst/>
          </a:prstGeom>
        </p:spPr>
      </p:pic>
      <p:sp>
        <p:nvSpPr>
          <p:cNvPr id="6" name="AutoShape 6" descr="What are Database Systems: Key Concepts, Types &amp; Use Cases">
            <a:extLst>
              <a:ext uri="{FF2B5EF4-FFF2-40B4-BE49-F238E27FC236}">
                <a16:creationId xmlns:a16="http://schemas.microsoft.com/office/drawing/2014/main" id="{8462AFC5-848B-AA7B-1865-35B33F97BCA2}"/>
              </a:ext>
            </a:extLst>
          </p:cNvPr>
          <p:cNvSpPr>
            <a:spLocks noGrp="1" noChangeAspect="1" noChangeArrowheads="1"/>
          </p:cNvSpPr>
          <p:nvPr>
            <p:ph type="body" idx="1"/>
          </p:nvPr>
        </p:nvSpPr>
        <p:spPr bwMode="auto">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dirty="0"/>
          </a:p>
        </p:txBody>
      </p:sp>
    </p:spTree>
    <p:extLst>
      <p:ext uri="{BB962C8B-B14F-4D97-AF65-F5344CB8AC3E}">
        <p14:creationId xmlns:p14="http://schemas.microsoft.com/office/powerpoint/2010/main" val="55940998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FA6716-4465-C23A-81E4-AC950CD32B24}"/>
              </a:ext>
            </a:extLst>
          </p:cNvPr>
          <p:cNvSpPr>
            <a:spLocks noGrp="1"/>
          </p:cNvSpPr>
          <p:nvPr>
            <p:ph type="title"/>
          </p:nvPr>
        </p:nvSpPr>
        <p:spPr>
          <a:xfrm>
            <a:off x="609600" y="274638"/>
            <a:ext cx="10972800" cy="623996"/>
          </a:xfrm>
        </p:spPr>
        <p:txBody>
          <a:bodyPr>
            <a:normAutofit fontScale="90000"/>
          </a:bodyPr>
          <a:lstStyle/>
          <a:p>
            <a:r>
              <a:rPr lang="en-US" sz="4800" dirty="0"/>
              <a:t>DDL(</a:t>
            </a:r>
            <a:r>
              <a:rPr lang="en-US" sz="4800" dirty="0">
                <a:solidFill>
                  <a:srgbClr val="262626"/>
                </a:solidFill>
              </a:rPr>
              <a:t>Data Definition Language)</a:t>
            </a:r>
            <a:endParaRPr lang="en-IN" dirty="0"/>
          </a:p>
        </p:txBody>
      </p:sp>
      <p:sp>
        <p:nvSpPr>
          <p:cNvPr id="3" name="Text Placeholder 2">
            <a:extLst>
              <a:ext uri="{FF2B5EF4-FFF2-40B4-BE49-F238E27FC236}">
                <a16:creationId xmlns:a16="http://schemas.microsoft.com/office/drawing/2014/main" id="{B72A6346-30CC-72C7-12FF-2FA5C2F242A4}"/>
              </a:ext>
            </a:extLst>
          </p:cNvPr>
          <p:cNvSpPr>
            <a:spLocks noGrp="1"/>
          </p:cNvSpPr>
          <p:nvPr>
            <p:ph type="body" idx="1"/>
          </p:nvPr>
        </p:nvSpPr>
        <p:spPr>
          <a:xfrm>
            <a:off x="609600" y="1056291"/>
            <a:ext cx="10972800" cy="5069874"/>
          </a:xfrm>
        </p:spPr>
        <p:txBody>
          <a:bodyPr>
            <a:normAutofit/>
          </a:bodyPr>
          <a:lstStyle/>
          <a:p>
            <a:pPr marL="0" lvl="0" indent="0">
              <a:spcBef>
                <a:spcPts val="0"/>
              </a:spcBef>
              <a:buSzPts val="2470"/>
              <a:buNone/>
            </a:pPr>
            <a:r>
              <a:rPr lang="en-US" dirty="0"/>
              <a:t>This language is used to manage database objects such as table and view.</a:t>
            </a:r>
          </a:p>
          <a:p>
            <a:pPr marL="0" lvl="0" indent="0">
              <a:spcBef>
                <a:spcPts val="320"/>
              </a:spcBef>
              <a:buSzPts val="1520"/>
              <a:buNone/>
            </a:pPr>
            <a:endParaRPr lang="en-US" sz="2000" dirty="0"/>
          </a:p>
          <a:p>
            <a:pPr marL="514350" lvl="0" indent="-514350">
              <a:spcBef>
                <a:spcPts val="520"/>
              </a:spcBef>
              <a:buSzPts val="2470"/>
              <a:buFont typeface="Calibri"/>
              <a:buAutoNum type="arabicParenR"/>
            </a:pPr>
            <a:r>
              <a:rPr lang="en-US" dirty="0"/>
              <a:t>CREATE - creates a new table or a view of a table in database</a:t>
            </a:r>
          </a:p>
          <a:p>
            <a:pPr marL="514350" lvl="0" indent="-514350">
              <a:spcBef>
                <a:spcPts val="520"/>
              </a:spcBef>
              <a:buSzPts val="2470"/>
              <a:buFont typeface="Calibri"/>
              <a:buAutoNum type="arabicParenR"/>
            </a:pPr>
            <a:r>
              <a:rPr lang="en-US" dirty="0"/>
              <a:t>ALTER – modifies contents of a table.(COLUMN)</a:t>
            </a:r>
          </a:p>
          <a:p>
            <a:pPr marL="514350" lvl="0" indent="-514350">
              <a:spcBef>
                <a:spcPts val="520"/>
              </a:spcBef>
              <a:buSzPts val="2470"/>
              <a:buFont typeface="Calibri"/>
              <a:buAutoNum type="arabicParenR"/>
            </a:pPr>
            <a:r>
              <a:rPr lang="en-US" dirty="0"/>
              <a:t>DROP - deletes an entire table or a view of a table</a:t>
            </a:r>
          </a:p>
          <a:p>
            <a:pPr marL="514350" lvl="0" indent="-514350">
              <a:spcBef>
                <a:spcPts val="520"/>
              </a:spcBef>
              <a:buSzPts val="2470"/>
              <a:buFont typeface="Calibri"/>
              <a:buAutoNum type="arabicParenR"/>
            </a:pPr>
            <a:r>
              <a:rPr lang="en-US" dirty="0"/>
              <a:t>TRUNCATE – delete all rows(values) from table</a:t>
            </a:r>
          </a:p>
          <a:p>
            <a:pPr marL="514350" lvl="0" indent="-514350">
              <a:spcBef>
                <a:spcPts val="520"/>
              </a:spcBef>
              <a:buSzPts val="2470"/>
              <a:buFont typeface="Calibri"/>
              <a:buAutoNum type="arabicParenR"/>
            </a:pPr>
            <a:r>
              <a:rPr lang="en-US" dirty="0"/>
              <a:t>RENAME – renames the table name</a:t>
            </a:r>
          </a:p>
          <a:p>
            <a:endParaRPr lang="en-IN" dirty="0"/>
          </a:p>
        </p:txBody>
      </p:sp>
    </p:spTree>
    <p:extLst>
      <p:ext uri="{BB962C8B-B14F-4D97-AF65-F5344CB8AC3E}">
        <p14:creationId xmlns:p14="http://schemas.microsoft.com/office/powerpoint/2010/main" val="7905926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F8C80E-4D97-D1C1-53DE-9E2D3AF5AF7A}"/>
              </a:ext>
            </a:extLst>
          </p:cNvPr>
          <p:cNvSpPr>
            <a:spLocks noGrp="1"/>
          </p:cNvSpPr>
          <p:nvPr>
            <p:ph type="title"/>
          </p:nvPr>
        </p:nvSpPr>
        <p:spPr/>
        <p:txBody>
          <a:bodyPr/>
          <a:lstStyle/>
          <a:p>
            <a:r>
              <a:rPr lang="en-US" sz="4800" dirty="0"/>
              <a:t>DML(Data Manipulation Language)</a:t>
            </a:r>
            <a:endParaRPr lang="en-IN" dirty="0"/>
          </a:p>
        </p:txBody>
      </p:sp>
      <p:sp>
        <p:nvSpPr>
          <p:cNvPr id="3" name="Text Placeholder 2">
            <a:extLst>
              <a:ext uri="{FF2B5EF4-FFF2-40B4-BE49-F238E27FC236}">
                <a16:creationId xmlns:a16="http://schemas.microsoft.com/office/drawing/2014/main" id="{EE15CDDB-4C42-D570-31E2-86DC3D73029A}"/>
              </a:ext>
            </a:extLst>
          </p:cNvPr>
          <p:cNvSpPr>
            <a:spLocks noGrp="1"/>
          </p:cNvSpPr>
          <p:nvPr>
            <p:ph type="body" idx="1"/>
          </p:nvPr>
        </p:nvSpPr>
        <p:spPr/>
        <p:txBody>
          <a:bodyPr>
            <a:normAutofit fontScale="92500"/>
          </a:bodyPr>
          <a:lstStyle/>
          <a:p>
            <a:pPr marL="0" lvl="0" indent="0">
              <a:spcBef>
                <a:spcPts val="0"/>
              </a:spcBef>
              <a:buSzPts val="2470"/>
              <a:buNone/>
            </a:pPr>
            <a:r>
              <a:rPr lang="en-US" dirty="0"/>
              <a:t>This language is used to manipulate the data</a:t>
            </a:r>
            <a:r>
              <a:rPr lang="en-US" sz="2000" dirty="0"/>
              <a:t> .</a:t>
            </a:r>
            <a:endParaRPr lang="en-US" dirty="0"/>
          </a:p>
          <a:p>
            <a:pPr marL="0" lvl="0" indent="0">
              <a:spcBef>
                <a:spcPts val="320"/>
              </a:spcBef>
              <a:buSzPts val="1520"/>
              <a:buNone/>
            </a:pPr>
            <a:endParaRPr lang="en-US" sz="2000" dirty="0"/>
          </a:p>
          <a:p>
            <a:pPr marL="514350" lvl="0" indent="-514350">
              <a:spcBef>
                <a:spcPts val="520"/>
              </a:spcBef>
              <a:buSzPts val="2470"/>
              <a:buFont typeface="Calibri"/>
              <a:buAutoNum type="arabicParenR"/>
            </a:pPr>
            <a:r>
              <a:rPr lang="en-US" dirty="0"/>
              <a:t>INSERT – inserts data into table</a:t>
            </a:r>
          </a:p>
          <a:p>
            <a:pPr marL="514350" lvl="0" indent="-514350">
              <a:spcBef>
                <a:spcPts val="520"/>
              </a:spcBef>
              <a:buSzPts val="2470"/>
              <a:buFont typeface="Calibri"/>
              <a:buAutoNum type="arabicParenR"/>
            </a:pPr>
            <a:r>
              <a:rPr lang="en-US" dirty="0"/>
              <a:t>UPDATE – update/modifies data in the table(ROWS) </a:t>
            </a:r>
          </a:p>
          <a:p>
            <a:pPr marL="514350" lvl="0" indent="-514350">
              <a:spcBef>
                <a:spcPts val="520"/>
              </a:spcBef>
              <a:buSzPts val="2470"/>
              <a:buFont typeface="Calibri"/>
              <a:buAutoNum type="arabicParenR"/>
            </a:pPr>
            <a:r>
              <a:rPr lang="en-US" dirty="0"/>
              <a:t>DELETE - deletes data from table</a:t>
            </a:r>
          </a:p>
          <a:p>
            <a:pPr marL="0" indent="0">
              <a:spcBef>
                <a:spcPts val="520"/>
              </a:spcBef>
              <a:buSzPts val="2470"/>
              <a:buNone/>
            </a:pPr>
            <a:r>
              <a:rPr lang="en-US" sz="3600" dirty="0"/>
              <a:t>DQL-This language is used to retrieve the data from the table</a:t>
            </a:r>
            <a:endParaRPr lang="en-US" dirty="0"/>
          </a:p>
          <a:p>
            <a:pPr marL="0" lvl="0" indent="0">
              <a:spcBef>
                <a:spcPts val="520"/>
              </a:spcBef>
              <a:buSzPts val="2470"/>
              <a:buNone/>
            </a:pPr>
            <a:endParaRPr lang="en-US" dirty="0"/>
          </a:p>
          <a:p>
            <a:r>
              <a:rPr lang="en-US" dirty="0"/>
              <a:t>SELECT – </a:t>
            </a:r>
            <a:r>
              <a:rPr lang="en-US" sz="3600" dirty="0"/>
              <a:t>retrieve the data from the table</a:t>
            </a:r>
            <a:endParaRPr lang="en-US" dirty="0"/>
          </a:p>
          <a:p>
            <a:endParaRPr lang="en-IN" dirty="0"/>
          </a:p>
        </p:txBody>
      </p:sp>
    </p:spTree>
    <p:extLst>
      <p:ext uri="{BB962C8B-B14F-4D97-AF65-F5344CB8AC3E}">
        <p14:creationId xmlns:p14="http://schemas.microsoft.com/office/powerpoint/2010/main" val="281428221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0E03D7-CA4E-9FC5-3EEF-93FFAEE74455}"/>
              </a:ext>
            </a:extLst>
          </p:cNvPr>
          <p:cNvSpPr>
            <a:spLocks noGrp="1"/>
          </p:cNvSpPr>
          <p:nvPr>
            <p:ph type="title"/>
          </p:nvPr>
        </p:nvSpPr>
        <p:spPr/>
        <p:txBody>
          <a:bodyPr/>
          <a:lstStyle/>
          <a:p>
            <a:r>
              <a:rPr lang="en-US" sz="4800" dirty="0"/>
              <a:t>TCL(Transaction Control Language)</a:t>
            </a:r>
            <a:endParaRPr lang="en-IN" dirty="0"/>
          </a:p>
        </p:txBody>
      </p:sp>
      <p:sp>
        <p:nvSpPr>
          <p:cNvPr id="3" name="Text Placeholder 2">
            <a:extLst>
              <a:ext uri="{FF2B5EF4-FFF2-40B4-BE49-F238E27FC236}">
                <a16:creationId xmlns:a16="http://schemas.microsoft.com/office/drawing/2014/main" id="{E3254879-DF6A-5B4E-C064-473CFC38E675}"/>
              </a:ext>
            </a:extLst>
          </p:cNvPr>
          <p:cNvSpPr>
            <a:spLocks noGrp="1"/>
          </p:cNvSpPr>
          <p:nvPr>
            <p:ph type="body" idx="1"/>
          </p:nvPr>
        </p:nvSpPr>
        <p:spPr/>
        <p:txBody>
          <a:bodyPr/>
          <a:lstStyle/>
          <a:p>
            <a:pPr marL="0" lvl="0" indent="0">
              <a:spcBef>
                <a:spcPts val="560"/>
              </a:spcBef>
              <a:buSzPts val="2660"/>
              <a:buNone/>
            </a:pPr>
            <a:r>
              <a:rPr lang="en-US" sz="3600" dirty="0"/>
              <a:t>This language is used to maintain the transaction of database</a:t>
            </a:r>
            <a:endParaRPr lang="en-US" dirty="0"/>
          </a:p>
          <a:p>
            <a:pPr marL="0" lvl="0" indent="0">
              <a:buSzPts val="1710"/>
              <a:buNone/>
            </a:pPr>
            <a:endParaRPr lang="en-US" sz="2400" dirty="0"/>
          </a:p>
          <a:p>
            <a:pPr marL="514350" lvl="0" indent="-514350">
              <a:spcBef>
                <a:spcPts val="560"/>
              </a:spcBef>
              <a:buSzPts val="2660"/>
              <a:buFont typeface="Calibri"/>
              <a:buAutoNum type="arabicPeriod"/>
            </a:pPr>
            <a:r>
              <a:rPr lang="en-US" sz="3600" dirty="0"/>
              <a:t>COMMIT</a:t>
            </a:r>
            <a:endParaRPr lang="en-US" dirty="0"/>
          </a:p>
          <a:p>
            <a:pPr marL="514350" lvl="0" indent="-514350">
              <a:spcBef>
                <a:spcPts val="560"/>
              </a:spcBef>
              <a:buSzPts val="2660"/>
              <a:buFont typeface="Calibri"/>
              <a:buAutoNum type="arabicPeriod"/>
            </a:pPr>
            <a:r>
              <a:rPr lang="en-US" sz="3600" dirty="0"/>
              <a:t>ROLLBACK</a:t>
            </a:r>
            <a:endParaRPr lang="en-US" dirty="0"/>
          </a:p>
          <a:p>
            <a:pPr marL="514350" lvl="0" indent="-514350">
              <a:spcBef>
                <a:spcPts val="560"/>
              </a:spcBef>
              <a:buSzPts val="2660"/>
              <a:buFont typeface="Calibri"/>
              <a:buAutoNum type="arabicPeriod"/>
            </a:pPr>
            <a:r>
              <a:rPr lang="en-US" sz="3600" dirty="0"/>
              <a:t>SAVEPOINT</a:t>
            </a:r>
          </a:p>
          <a:p>
            <a:endParaRPr lang="en-IN" dirty="0"/>
          </a:p>
        </p:txBody>
      </p:sp>
    </p:spTree>
    <p:extLst>
      <p:ext uri="{BB962C8B-B14F-4D97-AF65-F5344CB8AC3E}">
        <p14:creationId xmlns:p14="http://schemas.microsoft.com/office/powerpoint/2010/main" val="214928418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A843B1-3D3A-A942-E97B-8125FD12CBAA}"/>
              </a:ext>
            </a:extLst>
          </p:cNvPr>
          <p:cNvSpPr>
            <a:spLocks noGrp="1"/>
          </p:cNvSpPr>
          <p:nvPr>
            <p:ph type="title"/>
          </p:nvPr>
        </p:nvSpPr>
        <p:spPr/>
        <p:txBody>
          <a:bodyPr/>
          <a:lstStyle/>
          <a:p>
            <a:r>
              <a:rPr lang="en-US" sz="4800" dirty="0"/>
              <a:t>DCL(Data Control Language)</a:t>
            </a:r>
            <a:endParaRPr lang="en-IN" dirty="0"/>
          </a:p>
        </p:txBody>
      </p:sp>
      <p:sp>
        <p:nvSpPr>
          <p:cNvPr id="3" name="Text Placeholder 2">
            <a:extLst>
              <a:ext uri="{FF2B5EF4-FFF2-40B4-BE49-F238E27FC236}">
                <a16:creationId xmlns:a16="http://schemas.microsoft.com/office/drawing/2014/main" id="{44142C12-35A9-1AF3-5535-66D7ED90E4AA}"/>
              </a:ext>
            </a:extLst>
          </p:cNvPr>
          <p:cNvSpPr>
            <a:spLocks noGrp="1"/>
          </p:cNvSpPr>
          <p:nvPr>
            <p:ph type="body" idx="1"/>
          </p:nvPr>
        </p:nvSpPr>
        <p:spPr/>
        <p:txBody>
          <a:bodyPr/>
          <a:lstStyle/>
          <a:p>
            <a:pPr marL="0" lvl="0" indent="0">
              <a:spcBef>
                <a:spcPts val="560"/>
              </a:spcBef>
              <a:buSzPts val="2660"/>
              <a:buNone/>
            </a:pPr>
            <a:r>
              <a:rPr lang="en-US" sz="3600" dirty="0"/>
              <a:t>This language is used to control the access of the data to the users</a:t>
            </a:r>
            <a:endParaRPr lang="en-US" dirty="0"/>
          </a:p>
          <a:p>
            <a:pPr marL="0" lvl="0" indent="0">
              <a:buSzPts val="1710"/>
              <a:buNone/>
            </a:pPr>
            <a:endParaRPr lang="en-US" sz="2400" dirty="0"/>
          </a:p>
          <a:p>
            <a:pPr marL="514350" lvl="0" indent="-514350">
              <a:spcBef>
                <a:spcPts val="560"/>
              </a:spcBef>
              <a:buSzPts val="2660"/>
              <a:buFont typeface="Calibri"/>
              <a:buAutoNum type="arabicPeriod"/>
            </a:pPr>
            <a:r>
              <a:rPr lang="en-US" sz="3600" dirty="0"/>
              <a:t>GRANT - assign privilege</a:t>
            </a:r>
          </a:p>
          <a:p>
            <a:pPr marL="514350" lvl="0" indent="-514350">
              <a:spcBef>
                <a:spcPts val="560"/>
              </a:spcBef>
              <a:buSzPts val="2660"/>
              <a:buFont typeface="Calibri"/>
              <a:buAutoNum type="arabicPeriod"/>
            </a:pPr>
            <a:r>
              <a:rPr lang="en-US" sz="3600" dirty="0"/>
              <a:t>REVOKE - remove privilege</a:t>
            </a:r>
          </a:p>
          <a:p>
            <a:endParaRPr lang="en-IN" dirty="0"/>
          </a:p>
        </p:txBody>
      </p:sp>
    </p:spTree>
    <p:extLst>
      <p:ext uri="{BB962C8B-B14F-4D97-AF65-F5344CB8AC3E}">
        <p14:creationId xmlns:p14="http://schemas.microsoft.com/office/powerpoint/2010/main" val="377761114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FE2D81-3ADC-F37B-CC51-6C7ED6A9ABAB}"/>
              </a:ext>
            </a:extLst>
          </p:cNvPr>
          <p:cNvSpPr>
            <a:spLocks noGrp="1"/>
          </p:cNvSpPr>
          <p:nvPr>
            <p:ph type="title"/>
          </p:nvPr>
        </p:nvSpPr>
        <p:spPr/>
        <p:txBody>
          <a:bodyPr/>
          <a:lstStyle/>
          <a:p>
            <a:r>
              <a:rPr lang="en-US" dirty="0">
                <a:solidFill>
                  <a:srgbClr val="FF0000"/>
                </a:solidFill>
                <a:latin typeface="Bodoni MT" panose="02070603080606020203" pitchFamily="18" charset="0"/>
              </a:rPr>
              <a:t>DBMS ARCHITECTURE</a:t>
            </a:r>
            <a:endParaRPr lang="en-IN" dirty="0">
              <a:solidFill>
                <a:srgbClr val="FF0000"/>
              </a:solidFill>
              <a:latin typeface="Bodoni MT" panose="02070603080606020203" pitchFamily="18" charset="0"/>
            </a:endParaRPr>
          </a:p>
        </p:txBody>
      </p:sp>
      <p:sp>
        <p:nvSpPr>
          <p:cNvPr id="3" name="Text Placeholder 2">
            <a:extLst>
              <a:ext uri="{FF2B5EF4-FFF2-40B4-BE49-F238E27FC236}">
                <a16:creationId xmlns:a16="http://schemas.microsoft.com/office/drawing/2014/main" id="{B852FE7E-3E06-6443-7618-0D834BE782D9}"/>
              </a:ext>
            </a:extLst>
          </p:cNvPr>
          <p:cNvSpPr>
            <a:spLocks noGrp="1"/>
          </p:cNvSpPr>
          <p:nvPr>
            <p:ph type="body" idx="1"/>
          </p:nvPr>
        </p:nvSpPr>
        <p:spPr/>
        <p:txBody>
          <a:bodyPr>
            <a:normAutofit/>
          </a:bodyPr>
          <a:lstStyle/>
          <a:p>
            <a:endParaRPr lang="en-US" sz="4000" dirty="0">
              <a:solidFill>
                <a:schemeClr val="bg2">
                  <a:lumMod val="60000"/>
                  <a:lumOff val="40000"/>
                </a:schemeClr>
              </a:solidFill>
            </a:endParaRPr>
          </a:p>
          <a:p>
            <a:r>
              <a:rPr lang="en-US" sz="4000" b="1" dirty="0">
                <a:solidFill>
                  <a:schemeClr val="bg2">
                    <a:lumMod val="60000"/>
                    <a:lumOff val="40000"/>
                  </a:schemeClr>
                </a:solidFill>
              </a:rPr>
              <a:t>Types of DBMS Architecture</a:t>
            </a:r>
          </a:p>
          <a:p>
            <a:r>
              <a:rPr lang="en-US" sz="4000" b="1" dirty="0">
                <a:solidFill>
                  <a:schemeClr val="bg2">
                    <a:lumMod val="60000"/>
                    <a:lumOff val="40000"/>
                  </a:schemeClr>
                </a:solidFill>
              </a:rPr>
              <a:t>Three Schema Architecture of DBMS</a:t>
            </a:r>
          </a:p>
          <a:p>
            <a:r>
              <a:rPr lang="en-US" sz="4000" b="1" dirty="0">
                <a:solidFill>
                  <a:schemeClr val="bg2">
                    <a:lumMod val="60000"/>
                    <a:lumOff val="40000"/>
                  </a:schemeClr>
                </a:solidFill>
              </a:rPr>
              <a:t>Data Independence</a:t>
            </a:r>
            <a:endParaRPr lang="en-IN" sz="4000" b="1" dirty="0">
              <a:solidFill>
                <a:schemeClr val="bg2">
                  <a:lumMod val="60000"/>
                  <a:lumOff val="40000"/>
                </a:schemeClr>
              </a:solidFill>
            </a:endParaRPr>
          </a:p>
        </p:txBody>
      </p:sp>
    </p:spTree>
    <p:extLst>
      <p:ext uri="{BB962C8B-B14F-4D97-AF65-F5344CB8AC3E}">
        <p14:creationId xmlns:p14="http://schemas.microsoft.com/office/powerpoint/2010/main" val="395507994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9FDEFC-2389-5126-EAC1-6252E0FEBA3C}"/>
              </a:ext>
            </a:extLst>
          </p:cNvPr>
          <p:cNvSpPr>
            <a:spLocks noGrp="1"/>
          </p:cNvSpPr>
          <p:nvPr>
            <p:ph type="title"/>
          </p:nvPr>
        </p:nvSpPr>
        <p:spPr/>
        <p:txBody>
          <a:bodyPr/>
          <a:lstStyle/>
          <a:p>
            <a:r>
              <a:rPr lang="en-US" dirty="0">
                <a:solidFill>
                  <a:srgbClr val="FF0000"/>
                </a:solidFill>
                <a:latin typeface="Bodoni MT" panose="02070603080606020203" pitchFamily="18" charset="0"/>
              </a:rPr>
              <a:t>DBMS ARCHITECTURE</a:t>
            </a:r>
            <a:endParaRPr lang="en-IN" dirty="0"/>
          </a:p>
        </p:txBody>
      </p:sp>
      <p:sp>
        <p:nvSpPr>
          <p:cNvPr id="3" name="Text Placeholder 2">
            <a:extLst>
              <a:ext uri="{FF2B5EF4-FFF2-40B4-BE49-F238E27FC236}">
                <a16:creationId xmlns:a16="http://schemas.microsoft.com/office/drawing/2014/main" id="{41340848-6A0F-4AD9-8837-F8E67CC208FB}"/>
              </a:ext>
            </a:extLst>
          </p:cNvPr>
          <p:cNvSpPr>
            <a:spLocks noGrp="1"/>
          </p:cNvSpPr>
          <p:nvPr>
            <p:ph type="body" idx="1"/>
          </p:nvPr>
        </p:nvSpPr>
        <p:spPr/>
        <p:txBody>
          <a:bodyPr/>
          <a:lstStyle/>
          <a:p>
            <a:r>
              <a:rPr lang="en-US" dirty="0"/>
              <a:t>DBMS Architecture refers to the </a:t>
            </a:r>
            <a:r>
              <a:rPr lang="en-US" dirty="0">
                <a:solidFill>
                  <a:schemeClr val="bg2">
                    <a:lumMod val="60000"/>
                    <a:lumOff val="40000"/>
                  </a:schemeClr>
                </a:solidFill>
              </a:rPr>
              <a:t>overall design </a:t>
            </a:r>
            <a:r>
              <a:rPr lang="en-US" dirty="0"/>
              <a:t>and </a:t>
            </a:r>
            <a:r>
              <a:rPr lang="en-US" dirty="0">
                <a:solidFill>
                  <a:schemeClr val="bg2">
                    <a:lumMod val="60000"/>
                    <a:lumOff val="40000"/>
                  </a:schemeClr>
                </a:solidFill>
              </a:rPr>
              <a:t>organization</a:t>
            </a:r>
            <a:r>
              <a:rPr lang="en-US" dirty="0"/>
              <a:t> of a database management system (DBMS), including the hardware, software, data, and personnel components. </a:t>
            </a:r>
          </a:p>
          <a:p>
            <a:r>
              <a:rPr lang="en-US" dirty="0"/>
              <a:t>It defines the way data is stored, processed, and retrieved from the database.</a:t>
            </a:r>
            <a:endParaRPr lang="en-IN" dirty="0"/>
          </a:p>
        </p:txBody>
      </p:sp>
    </p:spTree>
    <p:extLst>
      <p:ext uri="{BB962C8B-B14F-4D97-AF65-F5344CB8AC3E}">
        <p14:creationId xmlns:p14="http://schemas.microsoft.com/office/powerpoint/2010/main" val="7870919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995D1638-119B-CBC5-E5F2-2E76165634C5}"/>
              </a:ext>
            </a:extLst>
          </p:cNvPr>
          <p:cNvSpPr>
            <a:spLocks noGrp="1"/>
          </p:cNvSpPr>
          <p:nvPr>
            <p:ph type="body" idx="1"/>
          </p:nvPr>
        </p:nvSpPr>
        <p:spPr>
          <a:xfrm>
            <a:off x="609600" y="362607"/>
            <a:ext cx="10972800" cy="5763557"/>
          </a:xfrm>
        </p:spPr>
        <p:txBody>
          <a:bodyPr/>
          <a:lstStyle/>
          <a:p>
            <a:r>
              <a:rPr lang="en-US" dirty="0">
                <a:solidFill>
                  <a:schemeClr val="bg2">
                    <a:lumMod val="60000"/>
                    <a:lumOff val="40000"/>
                  </a:schemeClr>
                </a:solidFill>
              </a:rPr>
              <a:t>Types of DBMS Architecture</a:t>
            </a:r>
          </a:p>
          <a:p>
            <a:r>
              <a:rPr lang="en-US" dirty="0"/>
              <a:t>1. Single Tier Architecture (One-Tier Architecture)</a:t>
            </a:r>
          </a:p>
          <a:p>
            <a:r>
              <a:rPr lang="en-US" dirty="0"/>
              <a:t>2. Two-Tier Architecture</a:t>
            </a:r>
          </a:p>
          <a:p>
            <a:r>
              <a:rPr lang="en-US" dirty="0"/>
              <a:t>3. Three-Tier Architecture</a:t>
            </a:r>
          </a:p>
          <a:p>
            <a:endParaRPr lang="en-IN" dirty="0"/>
          </a:p>
        </p:txBody>
      </p:sp>
      <p:pic>
        <p:nvPicPr>
          <p:cNvPr id="7" name="Picture 6">
            <a:extLst>
              <a:ext uri="{FF2B5EF4-FFF2-40B4-BE49-F238E27FC236}">
                <a16:creationId xmlns:a16="http://schemas.microsoft.com/office/drawing/2014/main" id="{71B01C42-5932-2DBE-3398-B727779FD187}"/>
              </a:ext>
            </a:extLst>
          </p:cNvPr>
          <p:cNvPicPr>
            <a:picLocks noChangeAspect="1"/>
          </p:cNvPicPr>
          <p:nvPr/>
        </p:nvPicPr>
        <p:blipFill>
          <a:blip r:embed="rId2"/>
          <a:stretch>
            <a:fillRect/>
          </a:stretch>
        </p:blipFill>
        <p:spPr>
          <a:xfrm>
            <a:off x="2649756" y="2977876"/>
            <a:ext cx="6226230" cy="2965724"/>
          </a:xfrm>
          <a:prstGeom prst="rect">
            <a:avLst/>
          </a:prstGeom>
        </p:spPr>
      </p:pic>
    </p:spTree>
    <p:extLst>
      <p:ext uri="{BB962C8B-B14F-4D97-AF65-F5344CB8AC3E}">
        <p14:creationId xmlns:p14="http://schemas.microsoft.com/office/powerpoint/2010/main" val="125645464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FDF38E-F07F-A9C6-24F4-462027D7E4C9}"/>
              </a:ext>
            </a:extLst>
          </p:cNvPr>
          <p:cNvSpPr>
            <a:spLocks noGrp="1"/>
          </p:cNvSpPr>
          <p:nvPr>
            <p:ph type="title"/>
          </p:nvPr>
        </p:nvSpPr>
        <p:spPr/>
        <p:txBody>
          <a:bodyPr/>
          <a:lstStyle/>
          <a:p>
            <a:r>
              <a:rPr lang="en-US" dirty="0"/>
              <a:t>1-Tier Architecture</a:t>
            </a:r>
            <a:endParaRPr lang="en-IN" dirty="0"/>
          </a:p>
        </p:txBody>
      </p:sp>
      <p:sp>
        <p:nvSpPr>
          <p:cNvPr id="3" name="Text Placeholder 2">
            <a:extLst>
              <a:ext uri="{FF2B5EF4-FFF2-40B4-BE49-F238E27FC236}">
                <a16:creationId xmlns:a16="http://schemas.microsoft.com/office/drawing/2014/main" id="{7DAB8E2B-6D49-1259-F02A-FA5EB452BC08}"/>
              </a:ext>
            </a:extLst>
          </p:cNvPr>
          <p:cNvSpPr>
            <a:spLocks noGrp="1"/>
          </p:cNvSpPr>
          <p:nvPr>
            <p:ph type="body" idx="1"/>
          </p:nvPr>
        </p:nvSpPr>
        <p:spPr>
          <a:xfrm>
            <a:off x="609600" y="1166649"/>
            <a:ext cx="10972800" cy="4959516"/>
          </a:xfrm>
        </p:spPr>
        <p:txBody>
          <a:bodyPr>
            <a:normAutofit/>
          </a:bodyPr>
          <a:lstStyle/>
          <a:p>
            <a:r>
              <a:rPr lang="en-US" sz="3200" dirty="0">
                <a:latin typeface="Times New Roman" panose="02020603050405020304" pitchFamily="18" charset="0"/>
                <a:cs typeface="Times New Roman" panose="02020603050405020304" pitchFamily="18" charset="0"/>
              </a:rPr>
              <a:t>1-Tier Architecture in DBMS is the simplest architecture of Database in which the </a:t>
            </a:r>
            <a:r>
              <a:rPr lang="en-US" sz="3200" dirty="0">
                <a:solidFill>
                  <a:schemeClr val="bg2">
                    <a:lumMod val="60000"/>
                    <a:lumOff val="40000"/>
                  </a:schemeClr>
                </a:solidFill>
                <a:latin typeface="Times New Roman" panose="02020603050405020304" pitchFamily="18" charset="0"/>
                <a:cs typeface="Times New Roman" panose="02020603050405020304" pitchFamily="18" charset="0"/>
              </a:rPr>
              <a:t>client, server, and Database all reside on the same machine.</a:t>
            </a:r>
          </a:p>
          <a:p>
            <a:r>
              <a:rPr lang="en-US" sz="3200" dirty="0">
                <a:latin typeface="Times New Roman" panose="02020603050405020304" pitchFamily="18" charset="0"/>
                <a:cs typeface="Times New Roman" panose="02020603050405020304" pitchFamily="18" charset="0"/>
              </a:rPr>
              <a:t> A simple one tier architecture example would be anytime you install a Database in your system and access it to practice SQL queries.</a:t>
            </a:r>
            <a:endParaRPr lang="en-IN"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C7B4C9B7-6E9A-798A-1EF8-B89A2C246A32}"/>
              </a:ext>
            </a:extLst>
          </p:cNvPr>
          <p:cNvPicPr>
            <a:picLocks noChangeAspect="1"/>
          </p:cNvPicPr>
          <p:nvPr/>
        </p:nvPicPr>
        <p:blipFill>
          <a:blip r:embed="rId2"/>
          <a:stretch>
            <a:fillRect/>
          </a:stretch>
        </p:blipFill>
        <p:spPr>
          <a:xfrm>
            <a:off x="4386590" y="3956052"/>
            <a:ext cx="4599755" cy="2627310"/>
          </a:xfrm>
          <a:prstGeom prst="rect">
            <a:avLst/>
          </a:prstGeom>
        </p:spPr>
      </p:pic>
    </p:spTree>
    <p:extLst>
      <p:ext uri="{BB962C8B-B14F-4D97-AF65-F5344CB8AC3E}">
        <p14:creationId xmlns:p14="http://schemas.microsoft.com/office/powerpoint/2010/main" val="349188052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17C70-358A-CCEB-0942-9050895A3459}"/>
              </a:ext>
            </a:extLst>
          </p:cNvPr>
          <p:cNvSpPr>
            <a:spLocks noGrp="1"/>
          </p:cNvSpPr>
          <p:nvPr>
            <p:ph type="title"/>
          </p:nvPr>
        </p:nvSpPr>
        <p:spPr>
          <a:xfrm>
            <a:off x="609600" y="0"/>
            <a:ext cx="10972800" cy="731836"/>
          </a:xfrm>
        </p:spPr>
        <p:txBody>
          <a:bodyPr>
            <a:normAutofit fontScale="90000"/>
          </a:bodyPr>
          <a:lstStyle/>
          <a:p>
            <a:r>
              <a:rPr lang="en-US" dirty="0"/>
              <a:t>2-Tier Architecture</a:t>
            </a:r>
            <a:endParaRPr lang="en-IN" dirty="0"/>
          </a:p>
        </p:txBody>
      </p:sp>
      <p:sp>
        <p:nvSpPr>
          <p:cNvPr id="3" name="Text Placeholder 2">
            <a:extLst>
              <a:ext uri="{FF2B5EF4-FFF2-40B4-BE49-F238E27FC236}">
                <a16:creationId xmlns:a16="http://schemas.microsoft.com/office/drawing/2014/main" id="{0E63543A-137A-C83D-46B5-A79D94DEF795}"/>
              </a:ext>
            </a:extLst>
          </p:cNvPr>
          <p:cNvSpPr>
            <a:spLocks noGrp="1"/>
          </p:cNvSpPr>
          <p:nvPr>
            <p:ph type="body" idx="1"/>
          </p:nvPr>
        </p:nvSpPr>
        <p:spPr>
          <a:xfrm>
            <a:off x="609600" y="731837"/>
            <a:ext cx="11277600" cy="5394328"/>
          </a:xfrm>
        </p:spPr>
        <p:txBody>
          <a:bodyPr>
            <a:normAutofit/>
          </a:bodyPr>
          <a:lstStyle/>
          <a:p>
            <a:pPr algn="just"/>
            <a:r>
              <a:rPr lang="en-US" sz="3200" dirty="0">
                <a:latin typeface="Times New Roman" panose="02020603050405020304" pitchFamily="18" charset="0"/>
                <a:cs typeface="Times New Roman" panose="02020603050405020304" pitchFamily="18" charset="0"/>
              </a:rPr>
              <a:t>2-Tier Architecture in DBMS is a Database architecture where the </a:t>
            </a:r>
            <a:r>
              <a:rPr lang="en-US" sz="3200" dirty="0">
                <a:solidFill>
                  <a:schemeClr val="bg2">
                    <a:lumMod val="60000"/>
                    <a:lumOff val="40000"/>
                  </a:schemeClr>
                </a:solidFill>
                <a:latin typeface="Times New Roman" panose="02020603050405020304" pitchFamily="18" charset="0"/>
                <a:cs typeface="Times New Roman" panose="02020603050405020304" pitchFamily="18" charset="0"/>
              </a:rPr>
              <a:t>presentation layer runs on a client </a:t>
            </a:r>
            <a:r>
              <a:rPr lang="en-US" sz="3200" dirty="0">
                <a:latin typeface="Times New Roman" panose="02020603050405020304" pitchFamily="18" charset="0"/>
                <a:cs typeface="Times New Roman" panose="02020603050405020304" pitchFamily="18" charset="0"/>
              </a:rPr>
              <a:t>(PC, Mobile, Tablet, etc.), and </a:t>
            </a:r>
            <a:r>
              <a:rPr lang="en-US" sz="3200" dirty="0">
                <a:solidFill>
                  <a:schemeClr val="bg2">
                    <a:lumMod val="60000"/>
                    <a:lumOff val="40000"/>
                  </a:schemeClr>
                </a:solidFill>
                <a:latin typeface="Times New Roman" panose="02020603050405020304" pitchFamily="18" charset="0"/>
                <a:cs typeface="Times New Roman" panose="02020603050405020304" pitchFamily="18" charset="0"/>
              </a:rPr>
              <a:t>data is stored on a server </a:t>
            </a:r>
            <a:r>
              <a:rPr lang="en-US" sz="3200" dirty="0">
                <a:latin typeface="Times New Roman" panose="02020603050405020304" pitchFamily="18" charset="0"/>
                <a:cs typeface="Times New Roman" panose="02020603050405020304" pitchFamily="18" charset="0"/>
              </a:rPr>
              <a:t>called the second tier. Two tier architecture provides added security to the DBMS as it is not exposed to the end-user directly. It also provides direct and faster communication.</a:t>
            </a:r>
            <a:endParaRPr lang="en-IN" sz="3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87C14B19-A270-A2E9-ABC4-DAC00C1D5545}"/>
              </a:ext>
            </a:extLst>
          </p:cNvPr>
          <p:cNvPicPr>
            <a:picLocks noChangeAspect="1"/>
          </p:cNvPicPr>
          <p:nvPr/>
        </p:nvPicPr>
        <p:blipFill>
          <a:blip r:embed="rId2"/>
          <a:stretch>
            <a:fillRect/>
          </a:stretch>
        </p:blipFill>
        <p:spPr>
          <a:xfrm>
            <a:off x="3660228" y="3429000"/>
            <a:ext cx="6858000" cy="3429000"/>
          </a:xfrm>
          <a:prstGeom prst="rect">
            <a:avLst/>
          </a:prstGeom>
        </p:spPr>
      </p:pic>
      <p:sp>
        <p:nvSpPr>
          <p:cNvPr id="8" name="Rectangle 7">
            <a:extLst>
              <a:ext uri="{FF2B5EF4-FFF2-40B4-BE49-F238E27FC236}">
                <a16:creationId xmlns:a16="http://schemas.microsoft.com/office/drawing/2014/main" id="{7C0FA449-74A4-4119-DF8C-23E39E24C50B}"/>
              </a:ext>
            </a:extLst>
          </p:cNvPr>
          <p:cNvSpPr/>
          <p:nvPr/>
        </p:nvSpPr>
        <p:spPr>
          <a:xfrm>
            <a:off x="6369269" y="4035972"/>
            <a:ext cx="1277007" cy="315311"/>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API</a:t>
            </a:r>
            <a:endParaRPr lang="en-IN" dirty="0"/>
          </a:p>
        </p:txBody>
      </p:sp>
      <p:sp>
        <p:nvSpPr>
          <p:cNvPr id="9" name="Rectangle 8">
            <a:extLst>
              <a:ext uri="{FF2B5EF4-FFF2-40B4-BE49-F238E27FC236}">
                <a16:creationId xmlns:a16="http://schemas.microsoft.com/office/drawing/2014/main" id="{EFB44773-1D31-EE76-A941-7B3187956636}"/>
              </a:ext>
            </a:extLst>
          </p:cNvPr>
          <p:cNvSpPr/>
          <p:nvPr/>
        </p:nvSpPr>
        <p:spPr>
          <a:xfrm>
            <a:off x="6211614" y="5927835"/>
            <a:ext cx="993227" cy="513642"/>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p>
          <a:p>
            <a:pPr algn="ctr"/>
            <a:r>
              <a:rPr lang="en-US" dirty="0"/>
              <a:t>API</a:t>
            </a:r>
          </a:p>
          <a:p>
            <a:pPr algn="ctr"/>
            <a:endParaRPr lang="en-IN" dirty="0"/>
          </a:p>
        </p:txBody>
      </p:sp>
    </p:spTree>
    <p:extLst>
      <p:ext uri="{BB962C8B-B14F-4D97-AF65-F5344CB8AC3E}">
        <p14:creationId xmlns:p14="http://schemas.microsoft.com/office/powerpoint/2010/main" val="2032423732"/>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675009-74B0-AC1B-A046-D69BCC57977A}"/>
              </a:ext>
            </a:extLst>
          </p:cNvPr>
          <p:cNvSpPr>
            <a:spLocks noGrp="1"/>
          </p:cNvSpPr>
          <p:nvPr>
            <p:ph type="title"/>
          </p:nvPr>
        </p:nvSpPr>
        <p:spPr>
          <a:xfrm>
            <a:off x="609600" y="157655"/>
            <a:ext cx="10972800" cy="819807"/>
          </a:xfrm>
        </p:spPr>
        <p:txBody>
          <a:bodyPr>
            <a:normAutofit/>
          </a:bodyPr>
          <a:lstStyle/>
          <a:p>
            <a:r>
              <a:rPr lang="en-US" dirty="0"/>
              <a:t>3-Tier Architecture</a:t>
            </a:r>
            <a:endParaRPr lang="en-IN" dirty="0"/>
          </a:p>
        </p:txBody>
      </p:sp>
      <p:sp>
        <p:nvSpPr>
          <p:cNvPr id="3" name="Text Placeholder 2">
            <a:extLst>
              <a:ext uri="{FF2B5EF4-FFF2-40B4-BE49-F238E27FC236}">
                <a16:creationId xmlns:a16="http://schemas.microsoft.com/office/drawing/2014/main" id="{68F188BD-0F8A-D774-C723-A859F0C6A40D}"/>
              </a:ext>
            </a:extLst>
          </p:cNvPr>
          <p:cNvSpPr>
            <a:spLocks noGrp="1"/>
          </p:cNvSpPr>
          <p:nvPr>
            <p:ph type="body" idx="1"/>
          </p:nvPr>
        </p:nvSpPr>
        <p:spPr>
          <a:xfrm>
            <a:off x="609600" y="977463"/>
            <a:ext cx="11198772" cy="5722882"/>
          </a:xfrm>
        </p:spPr>
        <p:txBody>
          <a:bodyPr>
            <a:normAutofit/>
          </a:bodyPr>
          <a:lstStyle/>
          <a:p>
            <a:pPr marL="571500" lvl="1" indent="0" algn="just">
              <a:buNone/>
            </a:pPr>
            <a:r>
              <a:rPr lang="en-US" sz="2800" dirty="0">
                <a:latin typeface="Times New Roman" panose="02020603050405020304" pitchFamily="18" charset="0"/>
                <a:cs typeface="Times New Roman" panose="02020603050405020304" pitchFamily="18" charset="0"/>
              </a:rPr>
              <a:t>A 3 Tier Architecture in DBMS is the most popular client server architecture in DBMS in which the development and maintenance of functional processes, logic, data access, data storage, and user interface is done independently as separate modules. Three Tier architecture contains </a:t>
            </a:r>
            <a:r>
              <a:rPr lang="en-US" sz="2800" dirty="0">
                <a:solidFill>
                  <a:schemeClr val="bg2">
                    <a:lumMod val="60000"/>
                    <a:lumOff val="40000"/>
                  </a:schemeClr>
                </a:solidFill>
                <a:latin typeface="Times New Roman" panose="02020603050405020304" pitchFamily="18" charset="0"/>
                <a:cs typeface="Times New Roman" panose="02020603050405020304" pitchFamily="18" charset="0"/>
              </a:rPr>
              <a:t>a presentation layer, an application layer, and a database server.</a:t>
            </a:r>
            <a:endParaRPr lang="en-IN" sz="2800" dirty="0">
              <a:solidFill>
                <a:schemeClr val="bg2">
                  <a:lumMod val="60000"/>
                  <a:lumOff val="40000"/>
                </a:schemeClr>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5F8B31B-559E-7891-0C74-E093331E332C}"/>
              </a:ext>
            </a:extLst>
          </p:cNvPr>
          <p:cNvPicPr>
            <a:picLocks noChangeAspect="1"/>
          </p:cNvPicPr>
          <p:nvPr/>
        </p:nvPicPr>
        <p:blipFill>
          <a:blip r:embed="rId2"/>
          <a:stretch>
            <a:fillRect/>
          </a:stretch>
        </p:blipFill>
        <p:spPr>
          <a:xfrm>
            <a:off x="210207" y="3429000"/>
            <a:ext cx="11834648" cy="3080540"/>
          </a:xfrm>
          <a:prstGeom prst="rect">
            <a:avLst/>
          </a:prstGeom>
        </p:spPr>
      </p:pic>
    </p:spTree>
    <p:extLst>
      <p:ext uri="{BB962C8B-B14F-4D97-AF65-F5344CB8AC3E}">
        <p14:creationId xmlns:p14="http://schemas.microsoft.com/office/powerpoint/2010/main" val="344165882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C8D8F-2231-C9E8-19F8-5E6BA85741BC}"/>
              </a:ext>
            </a:extLst>
          </p:cNvPr>
          <p:cNvSpPr>
            <a:spLocks noGrp="1"/>
          </p:cNvSpPr>
          <p:nvPr>
            <p:ph type="title"/>
          </p:nvPr>
        </p:nvSpPr>
        <p:spPr>
          <a:xfrm>
            <a:off x="609600" y="274638"/>
            <a:ext cx="10972800" cy="750121"/>
          </a:xfrm>
        </p:spPr>
        <p:txBody>
          <a:bodyPr>
            <a:normAutofit fontScale="90000"/>
          </a:bodyPr>
          <a:lstStyle/>
          <a:p>
            <a:r>
              <a:rPr lang="en-US" dirty="0"/>
              <a:t>Levels of abstraction	</a:t>
            </a:r>
            <a:endParaRPr lang="en-IN" dirty="0"/>
          </a:p>
        </p:txBody>
      </p:sp>
      <p:sp>
        <p:nvSpPr>
          <p:cNvPr id="3" name="Text Placeholder 2">
            <a:extLst>
              <a:ext uri="{FF2B5EF4-FFF2-40B4-BE49-F238E27FC236}">
                <a16:creationId xmlns:a16="http://schemas.microsoft.com/office/drawing/2014/main" id="{65DBA116-3F9C-D080-34CE-37346A102BEA}"/>
              </a:ext>
            </a:extLst>
          </p:cNvPr>
          <p:cNvSpPr>
            <a:spLocks noGrp="1"/>
          </p:cNvSpPr>
          <p:nvPr>
            <p:ph type="body" idx="1"/>
          </p:nvPr>
        </p:nvSpPr>
        <p:spPr>
          <a:xfrm>
            <a:off x="609600" y="1213945"/>
            <a:ext cx="10972800" cy="5369417"/>
          </a:xfrm>
        </p:spPr>
        <p:txBody>
          <a:bodyPr>
            <a:normAutofit/>
          </a:bodyPr>
          <a:lstStyle/>
          <a:p>
            <a:r>
              <a:rPr lang="en-US" sz="3200" dirty="0">
                <a:solidFill>
                  <a:srgbClr val="FFC000"/>
                </a:solidFill>
                <a:latin typeface="Times New Roman" panose="02020603050405020304" pitchFamily="18" charset="0"/>
                <a:cs typeface="Times New Roman" panose="02020603050405020304" pitchFamily="18" charset="0"/>
              </a:rPr>
              <a:t>Abstraction-</a:t>
            </a:r>
            <a:r>
              <a:rPr lang="en-US" sz="3200" dirty="0">
                <a:latin typeface="Times New Roman" panose="02020603050405020304" pitchFamily="18" charset="0"/>
                <a:cs typeface="Times New Roman" panose="02020603050405020304" pitchFamily="18" charset="0"/>
              </a:rPr>
              <a:t>Hiding irrelevant data from set of user and providing abstract view of data User</a:t>
            </a:r>
          </a:p>
          <a:p>
            <a:r>
              <a:rPr lang="en-US" sz="3200" dirty="0">
                <a:latin typeface="Times New Roman" panose="02020603050405020304" pitchFamily="18" charset="0"/>
                <a:cs typeface="Times New Roman" panose="02020603050405020304" pitchFamily="18" charset="0"/>
              </a:rPr>
              <a:t>Three Levels of abstraction</a:t>
            </a:r>
          </a:p>
          <a:p>
            <a:pPr marL="571500" lvl="1" indent="0">
              <a:buNone/>
            </a:pPr>
            <a:r>
              <a:rPr lang="en-US" sz="3200" dirty="0">
                <a:solidFill>
                  <a:schemeClr val="bg2">
                    <a:lumMod val="60000"/>
                    <a:lumOff val="40000"/>
                  </a:schemeClr>
                </a:solidFill>
                <a:latin typeface="Times New Roman" panose="02020603050405020304" pitchFamily="18" charset="0"/>
                <a:cs typeface="Times New Roman" panose="02020603050405020304" pitchFamily="18" charset="0"/>
              </a:rPr>
              <a:t>1.Physical Level-</a:t>
            </a:r>
            <a:r>
              <a:rPr lang="en-US" sz="3200" dirty="0">
                <a:latin typeface="Times New Roman" panose="02020603050405020304" pitchFamily="18" charset="0"/>
                <a:cs typeface="Times New Roman" panose="02020603050405020304" pitchFamily="18" charset="0"/>
              </a:rPr>
              <a:t>(Low Level)-how data or a record  is stored in database </a:t>
            </a:r>
          </a:p>
          <a:p>
            <a:pPr marL="571500" lvl="1" indent="0">
              <a:buNone/>
            </a:pPr>
            <a:r>
              <a:rPr lang="en-US" sz="3200" dirty="0">
                <a:solidFill>
                  <a:schemeClr val="bg2">
                    <a:lumMod val="40000"/>
                    <a:lumOff val="60000"/>
                  </a:schemeClr>
                </a:solidFill>
                <a:latin typeface="Times New Roman" panose="02020603050405020304" pitchFamily="18" charset="0"/>
                <a:cs typeface="Times New Roman" panose="02020603050405020304" pitchFamily="18" charset="0"/>
              </a:rPr>
              <a:t>2.Logical Level-</a:t>
            </a:r>
            <a:r>
              <a:rPr lang="en-US" sz="3200" dirty="0">
                <a:latin typeface="Times New Roman" panose="02020603050405020304" pitchFamily="18" charset="0"/>
                <a:cs typeface="Times New Roman" panose="02020603050405020304" pitchFamily="18" charset="0"/>
              </a:rPr>
              <a:t>(Middle Level)-Describes What data stored in database </a:t>
            </a:r>
            <a:r>
              <a:rPr lang="en-US" sz="3200" dirty="0"/>
              <a:t>and the relationships among the data.</a:t>
            </a:r>
          </a:p>
          <a:p>
            <a:pPr marL="571500" lvl="1" indent="0">
              <a:buNone/>
            </a:pPr>
            <a:r>
              <a:rPr lang="en-US" sz="3200" dirty="0"/>
              <a:t> </a:t>
            </a:r>
            <a:r>
              <a:rPr lang="en-US" sz="3200" dirty="0">
                <a:solidFill>
                  <a:schemeClr val="bg2">
                    <a:lumMod val="40000"/>
                    <a:lumOff val="60000"/>
                  </a:schemeClr>
                </a:solidFill>
                <a:latin typeface="Times New Roman" panose="02020603050405020304" pitchFamily="18" charset="0"/>
                <a:cs typeface="Times New Roman" panose="02020603050405020304" pitchFamily="18" charset="0"/>
              </a:rPr>
              <a:t>3.View level-</a:t>
            </a:r>
            <a:r>
              <a:rPr lang="en-US" sz="3200" dirty="0">
                <a:latin typeface="Times New Roman" panose="02020603050405020304" pitchFamily="18" charset="0"/>
                <a:cs typeface="Times New Roman" panose="02020603050405020304" pitchFamily="18" charset="0"/>
              </a:rPr>
              <a:t>(High level)-Describes the interaction with database System</a:t>
            </a:r>
          </a:p>
        </p:txBody>
      </p:sp>
    </p:spTree>
    <p:extLst>
      <p:ext uri="{BB962C8B-B14F-4D97-AF65-F5344CB8AC3E}">
        <p14:creationId xmlns:p14="http://schemas.microsoft.com/office/powerpoint/2010/main" val="133018583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0940F6-7C49-A7B0-73CB-CB4BEA25E6E2}"/>
              </a:ext>
            </a:extLst>
          </p:cNvPr>
          <p:cNvSpPr>
            <a:spLocks noGrp="1"/>
          </p:cNvSpPr>
          <p:nvPr>
            <p:ph type="title"/>
          </p:nvPr>
        </p:nvSpPr>
        <p:spPr/>
        <p:txBody>
          <a:bodyPr/>
          <a:lstStyle/>
          <a:p>
            <a:r>
              <a:rPr lang="en-US" dirty="0"/>
              <a:t>View of Data</a:t>
            </a:r>
            <a:endParaRPr lang="en-IN" dirty="0"/>
          </a:p>
        </p:txBody>
      </p:sp>
      <p:sp>
        <p:nvSpPr>
          <p:cNvPr id="3" name="Text Placeholder 2">
            <a:extLst>
              <a:ext uri="{FF2B5EF4-FFF2-40B4-BE49-F238E27FC236}">
                <a16:creationId xmlns:a16="http://schemas.microsoft.com/office/drawing/2014/main" id="{9053E47B-C9D8-0393-7832-17BCC0D6ABFD}"/>
              </a:ext>
            </a:extLst>
          </p:cNvPr>
          <p:cNvSpPr>
            <a:spLocks noGrp="1"/>
          </p:cNvSpPr>
          <p:nvPr>
            <p:ph type="body" idx="1"/>
          </p:nvPr>
        </p:nvSpPr>
        <p:spPr>
          <a:xfrm>
            <a:off x="609600" y="1135117"/>
            <a:ext cx="10972800" cy="4975281"/>
          </a:xfrm>
        </p:spPr>
        <p:txBody>
          <a:bodyPr/>
          <a:lstStyle/>
          <a:p>
            <a:r>
              <a:rPr lang="en-US" sz="3600" dirty="0">
                <a:latin typeface="Constantia"/>
                <a:ea typeface="Constantia"/>
                <a:cs typeface="Constantia"/>
                <a:sym typeface="Constantia"/>
              </a:rPr>
              <a:t>An architecture for a database system </a:t>
            </a:r>
            <a:endParaRPr lang="en-US" dirty="0"/>
          </a:p>
          <a:p>
            <a:endParaRPr lang="en-IN" dirty="0"/>
          </a:p>
        </p:txBody>
      </p:sp>
      <p:pic>
        <p:nvPicPr>
          <p:cNvPr id="4" name="Google Shape;229;p31">
            <a:extLst>
              <a:ext uri="{FF2B5EF4-FFF2-40B4-BE49-F238E27FC236}">
                <a16:creationId xmlns:a16="http://schemas.microsoft.com/office/drawing/2014/main" id="{6E029D44-3B1E-C87A-5F22-9777F677A520}"/>
              </a:ext>
            </a:extLst>
          </p:cNvPr>
          <p:cNvPicPr preferRelativeResize="0"/>
          <p:nvPr/>
        </p:nvPicPr>
        <p:blipFill rotWithShape="1">
          <a:blip r:embed="rId2">
            <a:alphaModFix/>
          </a:blip>
          <a:srcRect/>
          <a:stretch/>
        </p:blipFill>
        <p:spPr>
          <a:xfrm>
            <a:off x="2394744" y="2293883"/>
            <a:ext cx="7402512" cy="3538537"/>
          </a:xfrm>
          <a:prstGeom prst="rect">
            <a:avLst/>
          </a:prstGeom>
          <a:noFill/>
          <a:ln>
            <a:noFill/>
          </a:ln>
        </p:spPr>
      </p:pic>
    </p:spTree>
    <p:extLst>
      <p:ext uri="{BB962C8B-B14F-4D97-AF65-F5344CB8AC3E}">
        <p14:creationId xmlns:p14="http://schemas.microsoft.com/office/powerpoint/2010/main" val="2675477393"/>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83A1D-61A7-63E9-04E7-AF9451238312}"/>
              </a:ext>
            </a:extLst>
          </p:cNvPr>
          <p:cNvSpPr>
            <a:spLocks noGrp="1"/>
          </p:cNvSpPr>
          <p:nvPr>
            <p:ph type="title"/>
          </p:nvPr>
        </p:nvSpPr>
        <p:spPr>
          <a:xfrm>
            <a:off x="609600" y="0"/>
            <a:ext cx="10972800" cy="1417638"/>
          </a:xfrm>
        </p:spPr>
        <p:txBody>
          <a:bodyPr>
            <a:noAutofit/>
          </a:bodyPr>
          <a:lstStyle/>
          <a:p>
            <a:r>
              <a:rPr lang="en-US" sz="3600" dirty="0">
                <a:solidFill>
                  <a:schemeClr val="accent3">
                    <a:lumMod val="75000"/>
                  </a:schemeClr>
                </a:solidFill>
                <a:latin typeface="Bahnschrift SemiLight" panose="020B0502040204020203" pitchFamily="34" charset="0"/>
              </a:rPr>
              <a:t>Three Schema Architecture of DBMS or </a:t>
            </a:r>
            <a:br>
              <a:rPr lang="en-US" sz="3600" dirty="0">
                <a:solidFill>
                  <a:schemeClr val="accent3">
                    <a:lumMod val="75000"/>
                  </a:schemeClr>
                </a:solidFill>
                <a:latin typeface="Bahnschrift SemiLight" panose="020B0502040204020203" pitchFamily="34" charset="0"/>
              </a:rPr>
            </a:br>
            <a:r>
              <a:rPr lang="en-US" sz="3600" dirty="0">
                <a:solidFill>
                  <a:schemeClr val="accent3">
                    <a:lumMod val="75000"/>
                  </a:schemeClr>
                </a:solidFill>
                <a:latin typeface="Bahnschrift SemiLight" panose="020B0502040204020203" pitchFamily="34" charset="0"/>
              </a:rPr>
              <a:t>logical Architecture of DBMS</a:t>
            </a:r>
            <a:endParaRPr lang="en-IN" sz="3600" dirty="0">
              <a:solidFill>
                <a:schemeClr val="accent3">
                  <a:lumMod val="75000"/>
                </a:schemeClr>
              </a:solidFill>
              <a:latin typeface="Bahnschrift SemiLight" panose="020B0502040204020203" pitchFamily="34" charset="0"/>
            </a:endParaRPr>
          </a:p>
        </p:txBody>
      </p:sp>
      <p:sp>
        <p:nvSpPr>
          <p:cNvPr id="3" name="Text Placeholder 2">
            <a:extLst>
              <a:ext uri="{FF2B5EF4-FFF2-40B4-BE49-F238E27FC236}">
                <a16:creationId xmlns:a16="http://schemas.microsoft.com/office/drawing/2014/main" id="{E72EE22C-8D3C-34A7-17F3-9E18EC25B054}"/>
              </a:ext>
            </a:extLst>
          </p:cNvPr>
          <p:cNvSpPr>
            <a:spLocks noGrp="1"/>
          </p:cNvSpPr>
          <p:nvPr>
            <p:ph type="body" idx="1"/>
          </p:nvPr>
        </p:nvSpPr>
        <p:spPr>
          <a:xfrm>
            <a:off x="609600" y="1292773"/>
            <a:ext cx="11277600" cy="5139558"/>
          </a:xfrm>
        </p:spPr>
        <p:txBody>
          <a:bodyPr>
            <a:normAutofit/>
          </a:bodyPr>
          <a:lstStyle/>
          <a:p>
            <a:pPr algn="just"/>
            <a:r>
              <a:rPr lang="en-US" sz="3000" dirty="0">
                <a:latin typeface="Times New Roman" panose="02020603050405020304" pitchFamily="18" charset="0"/>
                <a:cs typeface="Times New Roman" panose="02020603050405020304" pitchFamily="18" charset="0"/>
              </a:rPr>
              <a:t>The three-schema architecture describes how the data is represented or viewed by the user in the database. </a:t>
            </a:r>
          </a:p>
          <a:p>
            <a:pPr algn="just"/>
            <a:r>
              <a:rPr lang="en-US" sz="3000" dirty="0">
                <a:latin typeface="Times New Roman" panose="02020603050405020304" pitchFamily="18" charset="0"/>
                <a:cs typeface="Times New Roman" panose="02020603050405020304" pitchFamily="18" charset="0"/>
              </a:rPr>
              <a:t>This architecture is also known as three-level architecture or logical architecture and is sometimes called ANSI  architecture.</a:t>
            </a:r>
          </a:p>
          <a:p>
            <a:r>
              <a:rPr lang="en-US" sz="3000" dirty="0">
                <a:latin typeface="Times New Roman" panose="02020603050405020304" pitchFamily="18" charset="0"/>
                <a:cs typeface="Times New Roman" panose="02020603050405020304" pitchFamily="18" charset="0"/>
              </a:rPr>
              <a:t>This architecture contains three layers or levels of the database management system:</a:t>
            </a:r>
          </a:p>
          <a:p>
            <a:pPr marL="114300" indent="0">
              <a:buNone/>
            </a:pPr>
            <a:r>
              <a:rPr lang="en-US" sz="3000" dirty="0">
                <a:latin typeface="Times New Roman" panose="02020603050405020304" pitchFamily="18" charset="0"/>
                <a:cs typeface="Times New Roman" panose="02020603050405020304" pitchFamily="18" charset="0"/>
              </a:rPr>
              <a:t>			1.External level</a:t>
            </a:r>
          </a:p>
          <a:p>
            <a:pPr marL="114300" indent="0">
              <a:buNone/>
            </a:pPr>
            <a:r>
              <a:rPr lang="en-US" sz="3000" dirty="0">
                <a:latin typeface="Times New Roman" panose="02020603050405020304" pitchFamily="18" charset="0"/>
                <a:cs typeface="Times New Roman" panose="02020603050405020304" pitchFamily="18" charset="0"/>
              </a:rPr>
              <a:t>			2.Conceptual level</a:t>
            </a:r>
          </a:p>
          <a:p>
            <a:pPr marL="114300" indent="0">
              <a:buNone/>
            </a:pPr>
            <a:r>
              <a:rPr lang="en-US" sz="3000" dirty="0">
                <a:latin typeface="Times New Roman" panose="02020603050405020304" pitchFamily="18" charset="0"/>
                <a:cs typeface="Times New Roman" panose="02020603050405020304" pitchFamily="18" charset="0"/>
              </a:rPr>
              <a:t>			3.Internal level</a:t>
            </a:r>
            <a:endParaRPr lang="en-IN" sz="30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242339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E9F25B1-7DEB-C071-73AB-F8B026105FA6}"/>
              </a:ext>
            </a:extLst>
          </p:cNvPr>
          <p:cNvPicPr>
            <a:picLocks noChangeAspect="1"/>
          </p:cNvPicPr>
          <p:nvPr/>
        </p:nvPicPr>
        <p:blipFill>
          <a:blip r:embed="rId2"/>
          <a:stretch>
            <a:fillRect/>
          </a:stretch>
        </p:blipFill>
        <p:spPr>
          <a:xfrm>
            <a:off x="2378442" y="333549"/>
            <a:ext cx="7538068" cy="5686406"/>
          </a:xfrm>
          <a:prstGeom prst="rect">
            <a:avLst/>
          </a:prstGeom>
        </p:spPr>
      </p:pic>
    </p:spTree>
    <p:extLst>
      <p:ext uri="{BB962C8B-B14F-4D97-AF65-F5344CB8AC3E}">
        <p14:creationId xmlns:p14="http://schemas.microsoft.com/office/powerpoint/2010/main" val="898508911"/>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5CD99E5F-BD70-0ED5-2F13-E1CEA5EDB205}"/>
              </a:ext>
            </a:extLst>
          </p:cNvPr>
          <p:cNvSpPr>
            <a:spLocks noGrp="1"/>
          </p:cNvSpPr>
          <p:nvPr>
            <p:ph type="body" idx="1"/>
          </p:nvPr>
        </p:nvSpPr>
        <p:spPr>
          <a:xfrm>
            <a:off x="609600" y="236483"/>
            <a:ext cx="10972800" cy="6495393"/>
          </a:xfrm>
        </p:spPr>
        <p:txBody>
          <a:bodyPr>
            <a:normAutofit/>
          </a:bodyPr>
          <a:lstStyle/>
          <a:p>
            <a:pPr algn="just"/>
            <a:r>
              <a:rPr lang="en-US" sz="3200" dirty="0">
                <a:solidFill>
                  <a:srgbClr val="FFC000"/>
                </a:solidFill>
                <a:latin typeface="Times New Roman" panose="02020603050405020304" pitchFamily="18" charset="0"/>
                <a:cs typeface="Times New Roman" panose="02020603050405020304" pitchFamily="18" charset="0"/>
              </a:rPr>
              <a:t>1. External or View level: </a:t>
            </a:r>
            <a:r>
              <a:rPr lang="en-US" sz="3200" dirty="0">
                <a:latin typeface="Times New Roman" panose="02020603050405020304" pitchFamily="18" charset="0"/>
                <a:cs typeface="Times New Roman" panose="02020603050405020304" pitchFamily="18" charset="0"/>
              </a:rPr>
              <a:t>This is the highest level of database abstraction. External or view level describes the actual view of data that is relevant to the particular user. This level also provides different views of the same database for a specific user or a group of users.</a:t>
            </a:r>
          </a:p>
          <a:p>
            <a:pPr algn="just"/>
            <a:endParaRPr lang="en-US" sz="3200" dirty="0">
              <a:latin typeface="Times New Roman" panose="02020603050405020304" pitchFamily="18" charset="0"/>
              <a:cs typeface="Times New Roman" panose="02020603050405020304" pitchFamily="18" charset="0"/>
            </a:endParaRPr>
          </a:p>
          <a:p>
            <a:pPr algn="just"/>
            <a:r>
              <a:rPr lang="en-US" sz="3200" dirty="0">
                <a:latin typeface="Times New Roman" panose="02020603050405020304" pitchFamily="18" charset="0"/>
                <a:cs typeface="Times New Roman" panose="02020603050405020304" pitchFamily="18" charset="0"/>
              </a:rPr>
              <a:t>2</a:t>
            </a:r>
            <a:r>
              <a:rPr lang="en-US" sz="3200" dirty="0">
                <a:solidFill>
                  <a:srgbClr val="FFC000"/>
                </a:solidFill>
                <a:latin typeface="Times New Roman" panose="02020603050405020304" pitchFamily="18" charset="0"/>
                <a:cs typeface="Times New Roman" panose="02020603050405020304" pitchFamily="18" charset="0"/>
              </a:rPr>
              <a:t>. Conceptual or Logical level: </a:t>
            </a:r>
            <a:r>
              <a:rPr lang="en-US" sz="3200" dirty="0">
                <a:latin typeface="Times New Roman" panose="02020603050405020304" pitchFamily="18" charset="0"/>
                <a:cs typeface="Times New Roman" panose="02020603050405020304" pitchFamily="18" charset="0"/>
              </a:rPr>
              <a:t>This level acts as a middle layer between the physical storage and user view. It explains what data to be stored in the database, what relationship exists among those data, and what the data types are.</a:t>
            </a:r>
          </a:p>
          <a:p>
            <a:pPr marL="571500" lvl="1" indent="0" algn="just">
              <a:buNone/>
            </a:pPr>
            <a:r>
              <a:rPr lang="en-US" sz="2841" dirty="0">
                <a:latin typeface="Times New Roman" panose="02020603050405020304" pitchFamily="18" charset="0"/>
                <a:cs typeface="Times New Roman" panose="02020603050405020304" pitchFamily="18" charset="0"/>
              </a:rPr>
              <a:t>This schema hides information about the physical storage structures and focuses on describing data types, entities, relationships, </a:t>
            </a:r>
            <a:r>
              <a:rPr lang="en-US" sz="2841" dirty="0" err="1">
                <a:latin typeface="Times New Roman" panose="02020603050405020304" pitchFamily="18" charset="0"/>
                <a:cs typeface="Times New Roman" panose="02020603050405020304" pitchFamily="18" charset="0"/>
              </a:rPr>
              <a:t>etc</a:t>
            </a:r>
            <a:endParaRPr lang="en-IN" sz="284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15486792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38D4A321-B10F-D977-E0E3-666C8CE80C61}"/>
              </a:ext>
            </a:extLst>
          </p:cNvPr>
          <p:cNvSpPr>
            <a:spLocks noGrp="1"/>
          </p:cNvSpPr>
          <p:nvPr>
            <p:ph type="body" idx="1"/>
          </p:nvPr>
        </p:nvSpPr>
        <p:spPr>
          <a:xfrm>
            <a:off x="331076" y="677917"/>
            <a:ext cx="11130455" cy="4187005"/>
          </a:xfrm>
        </p:spPr>
        <p:txBody>
          <a:bodyPr>
            <a:normAutofit fontScale="92500" lnSpcReduction="10000"/>
          </a:bodyPr>
          <a:lstStyle/>
          <a:p>
            <a:pPr marL="114300" indent="0" algn="just">
              <a:buNone/>
            </a:pPr>
            <a:r>
              <a:rPr lang="en-US" sz="3200" dirty="0">
                <a:solidFill>
                  <a:srgbClr val="FFC000"/>
                </a:solidFill>
                <a:latin typeface="Times New Roman" panose="02020603050405020304" pitchFamily="18" charset="0"/>
                <a:cs typeface="Times New Roman" panose="02020603050405020304" pitchFamily="18" charset="0"/>
              </a:rPr>
              <a:t>3. Internal or Physical level: </a:t>
            </a:r>
            <a:r>
              <a:rPr lang="en-US" sz="3200" dirty="0">
                <a:latin typeface="Times New Roman" panose="02020603050405020304" pitchFamily="18" charset="0"/>
                <a:cs typeface="Times New Roman" panose="02020603050405020304" pitchFamily="18" charset="0"/>
              </a:rPr>
              <a:t>This is the lowest level of database abstraction.</a:t>
            </a:r>
          </a:p>
          <a:p>
            <a:pPr algn="just"/>
            <a:r>
              <a:rPr lang="en-US" sz="3200" dirty="0">
                <a:latin typeface="Times New Roman" panose="02020603050405020304" pitchFamily="18" charset="0"/>
                <a:cs typeface="Times New Roman" panose="02020603050405020304" pitchFamily="18" charset="0"/>
              </a:rPr>
              <a:t>It describes how the data is actually stored in the database and provides methods to access data from the database. It allows viewing the physical representation of the database on the computer system . </a:t>
            </a:r>
          </a:p>
          <a:p>
            <a:pPr algn="just"/>
            <a:r>
              <a:rPr lang="en-US" sz="3200" dirty="0">
                <a:latin typeface="Times New Roman" panose="02020603050405020304" pitchFamily="18" charset="0"/>
                <a:cs typeface="Times New Roman" panose="02020603050405020304" pitchFamily="18" charset="0"/>
              </a:rPr>
              <a:t>This level describes how the data is actually stored in the storage devices. </a:t>
            </a:r>
          </a:p>
          <a:p>
            <a:pPr algn="just"/>
            <a:r>
              <a:rPr lang="en-US" sz="3200" dirty="0">
                <a:latin typeface="Times New Roman" panose="02020603050405020304" pitchFamily="18" charset="0"/>
                <a:cs typeface="Times New Roman" panose="02020603050405020304" pitchFamily="18" charset="0"/>
              </a:rPr>
              <a:t>This level is also responsible for allocating space to the data.</a:t>
            </a:r>
          </a:p>
          <a:p>
            <a:pPr algn="just"/>
            <a:endParaRPr lang="en-IN"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F1858A6D-42E4-BCFB-15E5-ED5B886B432B}"/>
              </a:ext>
            </a:extLst>
          </p:cNvPr>
          <p:cNvPicPr>
            <a:picLocks noChangeAspect="1"/>
          </p:cNvPicPr>
          <p:nvPr/>
        </p:nvPicPr>
        <p:blipFill>
          <a:blip r:embed="rId2"/>
          <a:stretch>
            <a:fillRect/>
          </a:stretch>
        </p:blipFill>
        <p:spPr>
          <a:xfrm>
            <a:off x="4777073" y="4864922"/>
            <a:ext cx="2953162" cy="1630472"/>
          </a:xfrm>
          <a:prstGeom prst="rect">
            <a:avLst/>
          </a:prstGeom>
        </p:spPr>
      </p:pic>
    </p:spTree>
    <p:extLst>
      <p:ext uri="{BB962C8B-B14F-4D97-AF65-F5344CB8AC3E}">
        <p14:creationId xmlns:p14="http://schemas.microsoft.com/office/powerpoint/2010/main" val="1787209187"/>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290625A-8E42-B099-E494-8A229E2DC200}"/>
              </a:ext>
            </a:extLst>
          </p:cNvPr>
          <p:cNvSpPr>
            <a:spLocks noGrp="1"/>
          </p:cNvSpPr>
          <p:nvPr>
            <p:ph type="body" idx="1"/>
          </p:nvPr>
        </p:nvSpPr>
        <p:spPr>
          <a:xfrm>
            <a:off x="609600" y="472967"/>
            <a:ext cx="10972800" cy="5653198"/>
          </a:xfrm>
        </p:spPr>
        <p:txBody>
          <a:bodyPr/>
          <a:lstStyle/>
          <a:p>
            <a:r>
              <a:rPr lang="en-US" b="1" dirty="0">
                <a:solidFill>
                  <a:srgbClr val="FF0000"/>
                </a:solidFill>
              </a:rPr>
              <a:t>Need of Three Schema Architecture</a:t>
            </a:r>
          </a:p>
          <a:p>
            <a:r>
              <a:rPr lang="en-US" b="1" dirty="0">
                <a:solidFill>
                  <a:schemeClr val="bg2">
                    <a:lumMod val="60000"/>
                    <a:lumOff val="40000"/>
                  </a:schemeClr>
                </a:solidFill>
              </a:rPr>
              <a:t>Data Independence </a:t>
            </a:r>
          </a:p>
          <a:p>
            <a:r>
              <a:rPr lang="en-US" sz="3200" dirty="0">
                <a:latin typeface="Times New Roman" panose="02020603050405020304" pitchFamily="18" charset="0"/>
                <a:cs typeface="Times New Roman" panose="02020603050405020304" pitchFamily="18" charset="0"/>
              </a:rPr>
              <a:t>The ability to modify the schema definition of a DBMS at one level, without affecting the schema definition of the next higher level is called data independence.</a:t>
            </a:r>
          </a:p>
          <a:p>
            <a:pPr marL="114300" indent="0">
              <a:buNone/>
            </a:pPr>
            <a:endParaRPr lang="en-US" sz="3200"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Types of Data independence</a:t>
            </a:r>
          </a:p>
          <a:p>
            <a:pPr marL="571500" lvl="1" indent="0">
              <a:buNone/>
            </a:pPr>
            <a:r>
              <a:rPr lang="en-US" dirty="0"/>
              <a:t>	</a:t>
            </a:r>
            <a:r>
              <a:rPr lang="en-US" sz="3200" dirty="0">
                <a:latin typeface="Times New Roman" panose="02020603050405020304" pitchFamily="18" charset="0"/>
                <a:cs typeface="Times New Roman" panose="02020603050405020304" pitchFamily="18" charset="0"/>
              </a:rPr>
              <a:t>1.Physical Data Independence</a:t>
            </a:r>
          </a:p>
          <a:p>
            <a:pPr marL="571500" lvl="1" indent="0">
              <a:buNone/>
            </a:pPr>
            <a:r>
              <a:rPr lang="en-US" sz="3200" dirty="0">
                <a:latin typeface="Times New Roman" panose="02020603050405020304" pitchFamily="18" charset="0"/>
                <a:cs typeface="Times New Roman" panose="02020603050405020304" pitchFamily="18" charset="0"/>
              </a:rPr>
              <a:t>	2.Logical Data Independence</a:t>
            </a: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4417683"/>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94812-2C34-C8AF-A42B-71FA311C2082}"/>
              </a:ext>
            </a:extLst>
          </p:cNvPr>
          <p:cNvSpPr>
            <a:spLocks noGrp="1"/>
          </p:cNvSpPr>
          <p:nvPr>
            <p:ph type="title"/>
          </p:nvPr>
        </p:nvSpPr>
        <p:spPr>
          <a:xfrm>
            <a:off x="609600" y="274638"/>
            <a:ext cx="10972800" cy="701388"/>
          </a:xfrm>
        </p:spPr>
        <p:txBody>
          <a:bodyPr>
            <a:normAutofit fontScale="90000"/>
          </a:bodyPr>
          <a:lstStyle/>
          <a:p>
            <a:r>
              <a:rPr lang="en-US" dirty="0">
                <a:solidFill>
                  <a:schemeClr val="bg2">
                    <a:lumMod val="60000"/>
                    <a:lumOff val="40000"/>
                  </a:schemeClr>
                </a:solidFill>
              </a:rPr>
              <a:t>Logical Data Independence</a:t>
            </a:r>
            <a:endParaRPr lang="en-IN" dirty="0">
              <a:solidFill>
                <a:schemeClr val="bg2">
                  <a:lumMod val="60000"/>
                  <a:lumOff val="40000"/>
                </a:schemeClr>
              </a:solidFill>
            </a:endParaRPr>
          </a:p>
        </p:txBody>
      </p:sp>
      <p:sp>
        <p:nvSpPr>
          <p:cNvPr id="4" name="Text Placeholder 3">
            <a:extLst>
              <a:ext uri="{FF2B5EF4-FFF2-40B4-BE49-F238E27FC236}">
                <a16:creationId xmlns:a16="http://schemas.microsoft.com/office/drawing/2014/main" id="{BA996B35-83EA-01C6-45C5-5AC079E1D15F}"/>
              </a:ext>
            </a:extLst>
          </p:cNvPr>
          <p:cNvSpPr>
            <a:spLocks noGrp="1"/>
          </p:cNvSpPr>
          <p:nvPr>
            <p:ph type="body" idx="2"/>
          </p:nvPr>
        </p:nvSpPr>
        <p:spPr>
          <a:xfrm>
            <a:off x="607484" y="976026"/>
            <a:ext cx="6161541" cy="5881974"/>
          </a:xfrm>
        </p:spPr>
        <p:txBody>
          <a:bodyPr>
            <a:normAutofit/>
          </a:bodyPr>
          <a:lstStyle/>
          <a:p>
            <a:pPr marL="68580" indent="0" algn="just">
              <a:buNone/>
            </a:pPr>
            <a:r>
              <a:rPr lang="en-US" sz="2800" dirty="0"/>
              <a:t>Logical data independence refers characteristic of being able to change the conceptual schema without having to change the external schema.</a:t>
            </a:r>
          </a:p>
          <a:p>
            <a:pPr algn="just"/>
            <a:r>
              <a:rPr lang="en-US" sz="2800" b="1" dirty="0"/>
              <a:t>Example</a:t>
            </a:r>
          </a:p>
          <a:p>
            <a:pPr marL="68580" indent="0">
              <a:buNone/>
            </a:pPr>
            <a:r>
              <a:rPr lang="en-US" sz="2800" dirty="0"/>
              <a:t>1.Add / Modify / Delete a new attribute, entity or relationship is possible without a rewrite of existing application programs</a:t>
            </a:r>
          </a:p>
          <a:p>
            <a:pPr marL="68580" indent="0" algn="just">
              <a:buNone/>
            </a:pPr>
            <a:r>
              <a:rPr lang="en-US" sz="2800" dirty="0"/>
              <a:t>2.Merging two Records into one</a:t>
            </a:r>
          </a:p>
          <a:p>
            <a:pPr marL="68580" indent="0" algn="just">
              <a:buNone/>
            </a:pPr>
            <a:r>
              <a:rPr lang="en-US" sz="2800" dirty="0"/>
              <a:t>3.Breaking an existing record into one or more Records</a:t>
            </a:r>
          </a:p>
          <a:p>
            <a:pPr algn="just"/>
            <a:endParaRPr lang="en-IN" sz="2800" dirty="0"/>
          </a:p>
          <a:p>
            <a:pPr algn="just"/>
            <a:endParaRPr lang="en-IN" sz="2800" dirty="0"/>
          </a:p>
        </p:txBody>
      </p:sp>
      <p:pic>
        <p:nvPicPr>
          <p:cNvPr id="8" name="Picture 7">
            <a:extLst>
              <a:ext uri="{FF2B5EF4-FFF2-40B4-BE49-F238E27FC236}">
                <a16:creationId xmlns:a16="http://schemas.microsoft.com/office/drawing/2014/main" id="{C10860C5-FE3A-3BF6-1256-9724B197C808}"/>
              </a:ext>
            </a:extLst>
          </p:cNvPr>
          <p:cNvPicPr>
            <a:picLocks noChangeAspect="1"/>
          </p:cNvPicPr>
          <p:nvPr/>
        </p:nvPicPr>
        <p:blipFill>
          <a:blip r:embed="rId2"/>
          <a:stretch>
            <a:fillRect/>
          </a:stretch>
        </p:blipFill>
        <p:spPr>
          <a:xfrm>
            <a:off x="6769025" y="1169783"/>
            <a:ext cx="5181235" cy="4518433"/>
          </a:xfrm>
          <a:prstGeom prst="rect">
            <a:avLst/>
          </a:prstGeom>
        </p:spPr>
      </p:pic>
    </p:spTree>
    <p:extLst>
      <p:ext uri="{BB962C8B-B14F-4D97-AF65-F5344CB8AC3E}">
        <p14:creationId xmlns:p14="http://schemas.microsoft.com/office/powerpoint/2010/main" val="315746050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7C7A7042-4A12-4F0F-D081-7DFD5B983F5C}"/>
              </a:ext>
            </a:extLst>
          </p:cNvPr>
          <p:cNvSpPr>
            <a:spLocks noGrp="1"/>
          </p:cNvSpPr>
          <p:nvPr>
            <p:ph type="title"/>
          </p:nvPr>
        </p:nvSpPr>
        <p:spPr/>
        <p:txBody>
          <a:bodyPr>
            <a:normAutofit fontScale="90000"/>
          </a:bodyPr>
          <a:lstStyle/>
          <a:p>
            <a:r>
              <a:rPr lang="en-US" sz="4800" dirty="0">
                <a:solidFill>
                  <a:schemeClr val="bg2">
                    <a:lumMod val="60000"/>
                    <a:lumOff val="40000"/>
                  </a:schemeClr>
                </a:solidFill>
              </a:rPr>
              <a:t>Physical Data Independence</a:t>
            </a:r>
            <a:br>
              <a:rPr lang="en-US" sz="4800" dirty="0">
                <a:solidFill>
                  <a:schemeClr val="bg2">
                    <a:lumMod val="60000"/>
                    <a:lumOff val="40000"/>
                  </a:schemeClr>
                </a:solidFill>
              </a:rPr>
            </a:br>
            <a:endParaRPr lang="en-IN" dirty="0">
              <a:solidFill>
                <a:schemeClr val="bg2">
                  <a:lumMod val="60000"/>
                  <a:lumOff val="40000"/>
                </a:schemeClr>
              </a:solidFill>
            </a:endParaRPr>
          </a:p>
        </p:txBody>
      </p:sp>
      <p:sp>
        <p:nvSpPr>
          <p:cNvPr id="8" name="Text Placeholder 7">
            <a:extLst>
              <a:ext uri="{FF2B5EF4-FFF2-40B4-BE49-F238E27FC236}">
                <a16:creationId xmlns:a16="http://schemas.microsoft.com/office/drawing/2014/main" id="{09D3D653-2802-FEED-0057-EEC329A98B9F}"/>
              </a:ext>
            </a:extLst>
          </p:cNvPr>
          <p:cNvSpPr>
            <a:spLocks noGrp="1"/>
          </p:cNvSpPr>
          <p:nvPr>
            <p:ph type="body" idx="1"/>
          </p:nvPr>
        </p:nvSpPr>
        <p:spPr>
          <a:xfrm>
            <a:off x="609600" y="914401"/>
            <a:ext cx="10972800" cy="5211764"/>
          </a:xfrm>
        </p:spPr>
        <p:txBody>
          <a:bodyPr>
            <a:noAutofit/>
          </a:bodyPr>
          <a:lstStyle/>
          <a:p>
            <a:pPr marL="114300" indent="0" algn="just">
              <a:buNone/>
            </a:pPr>
            <a:r>
              <a:rPr lang="en-US" sz="3200" dirty="0"/>
              <a:t>Physical data independence can be defined as the capacity to change the internal schema without having to change the conceptual schema.</a:t>
            </a:r>
          </a:p>
          <a:p>
            <a:r>
              <a:rPr lang="en-US" sz="3200" dirty="0">
                <a:solidFill>
                  <a:schemeClr val="bg2">
                    <a:lumMod val="60000"/>
                    <a:lumOff val="40000"/>
                  </a:schemeClr>
                </a:solidFill>
              </a:rPr>
              <a:t>Example</a:t>
            </a:r>
          </a:p>
          <a:p>
            <a:pPr marL="114300" indent="0">
              <a:buNone/>
            </a:pPr>
            <a:r>
              <a:rPr lang="en-US" sz="3200" dirty="0"/>
              <a:t>1. Using a new storage device like Hard Drive or Magnetic Tapes</a:t>
            </a:r>
          </a:p>
          <a:p>
            <a:pPr marL="114300" indent="0">
              <a:buNone/>
            </a:pPr>
            <a:r>
              <a:rPr lang="en-US" sz="3200" dirty="0"/>
              <a:t>2. Modifying the file organization technique in the Database</a:t>
            </a:r>
          </a:p>
          <a:p>
            <a:pPr marL="114300" indent="0">
              <a:buNone/>
            </a:pPr>
            <a:r>
              <a:rPr lang="en-US" sz="3200" dirty="0"/>
              <a:t>3. Modifying indexes.</a:t>
            </a:r>
          </a:p>
          <a:p>
            <a:pPr marL="114300" indent="0">
              <a:buNone/>
            </a:pPr>
            <a:r>
              <a:rPr lang="en-US" sz="3200" dirty="0"/>
              <a:t>4. Change of Location of Database from say C drive to D Drive</a:t>
            </a:r>
            <a:endParaRPr lang="en-IN" sz="3200" dirty="0"/>
          </a:p>
        </p:txBody>
      </p:sp>
    </p:spTree>
    <p:extLst>
      <p:ext uri="{BB962C8B-B14F-4D97-AF65-F5344CB8AC3E}">
        <p14:creationId xmlns:p14="http://schemas.microsoft.com/office/powerpoint/2010/main" val="343475828"/>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C6B3BCD6-1FEE-9E35-8CFB-900193FFCD37}"/>
              </a:ext>
            </a:extLst>
          </p:cNvPr>
          <p:cNvPicPr>
            <a:picLocks noChangeAspect="1"/>
          </p:cNvPicPr>
          <p:nvPr/>
        </p:nvPicPr>
        <p:blipFill>
          <a:blip r:embed="rId2"/>
          <a:stretch>
            <a:fillRect/>
          </a:stretch>
        </p:blipFill>
        <p:spPr>
          <a:xfrm>
            <a:off x="1007917" y="896352"/>
            <a:ext cx="9302731" cy="4582164"/>
          </a:xfrm>
          <a:prstGeom prst="rect">
            <a:avLst/>
          </a:prstGeom>
        </p:spPr>
      </p:pic>
    </p:spTree>
    <p:extLst>
      <p:ext uri="{BB962C8B-B14F-4D97-AF65-F5344CB8AC3E}">
        <p14:creationId xmlns:p14="http://schemas.microsoft.com/office/powerpoint/2010/main" val="8467424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oogle Shape;250;p34">
            <a:extLst>
              <a:ext uri="{FF2B5EF4-FFF2-40B4-BE49-F238E27FC236}">
                <a16:creationId xmlns:a16="http://schemas.microsoft.com/office/drawing/2014/main" id="{5EB22DFE-1556-71FE-A7B2-07432E0AD4D0}"/>
              </a:ext>
            </a:extLst>
          </p:cNvPr>
          <p:cNvPicPr preferRelativeResize="0"/>
          <p:nvPr/>
        </p:nvPicPr>
        <p:blipFill rotWithShape="1">
          <a:blip r:embed="rId3">
            <a:alphaModFix/>
          </a:blip>
          <a:srcRect/>
          <a:stretch/>
        </p:blipFill>
        <p:spPr>
          <a:xfrm>
            <a:off x="1058213" y="838200"/>
            <a:ext cx="10545207" cy="5824538"/>
          </a:xfrm>
          <a:prstGeom prst="rect">
            <a:avLst/>
          </a:prstGeom>
          <a:noFill/>
          <a:ln>
            <a:noFill/>
          </a:ln>
        </p:spPr>
      </p:pic>
      <p:sp>
        <p:nvSpPr>
          <p:cNvPr id="6" name="TextBox 5">
            <a:extLst>
              <a:ext uri="{FF2B5EF4-FFF2-40B4-BE49-F238E27FC236}">
                <a16:creationId xmlns:a16="http://schemas.microsoft.com/office/drawing/2014/main" id="{FDC1CA0A-614C-4E87-5336-75467B3ED3BB}"/>
              </a:ext>
            </a:extLst>
          </p:cNvPr>
          <p:cNvSpPr txBox="1"/>
          <p:nvPr/>
        </p:nvSpPr>
        <p:spPr>
          <a:xfrm>
            <a:off x="1564727" y="326961"/>
            <a:ext cx="6093372" cy="523220"/>
          </a:xfrm>
          <a:prstGeom prst="rect">
            <a:avLst/>
          </a:prstGeom>
          <a:noFill/>
        </p:spPr>
        <p:txBody>
          <a:bodyPr wrap="square">
            <a:spAutoFit/>
          </a:bodyPr>
          <a:lstStyle/>
          <a:p>
            <a:r>
              <a:rPr lang="en-US" sz="2800" b="1" dirty="0"/>
              <a:t>Structure of DBMS</a:t>
            </a:r>
            <a:endParaRPr lang="en-IN" sz="2800" b="1" dirty="0"/>
          </a:p>
        </p:txBody>
      </p:sp>
    </p:spTree>
    <p:extLst>
      <p:ext uri="{BB962C8B-B14F-4D97-AF65-F5344CB8AC3E}">
        <p14:creationId xmlns:p14="http://schemas.microsoft.com/office/powerpoint/2010/main" val="5732456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885890-71D3-DB39-AFB6-978DEE2F4CFD}"/>
              </a:ext>
            </a:extLst>
          </p:cNvPr>
          <p:cNvSpPr>
            <a:spLocks noGrp="1"/>
          </p:cNvSpPr>
          <p:nvPr>
            <p:ph type="title"/>
          </p:nvPr>
        </p:nvSpPr>
        <p:spPr>
          <a:xfrm>
            <a:off x="609600" y="274638"/>
            <a:ext cx="10972800" cy="797417"/>
          </a:xfrm>
        </p:spPr>
        <p:txBody>
          <a:bodyPr>
            <a:normAutofit fontScale="90000"/>
          </a:bodyPr>
          <a:lstStyle/>
          <a:p>
            <a:br>
              <a:rPr lang="en-US" dirty="0"/>
            </a:br>
            <a:r>
              <a:rPr lang="en-US" sz="4800" dirty="0"/>
              <a:t> Database Users and Administrators</a:t>
            </a:r>
            <a:br>
              <a:rPr lang="en-US" dirty="0"/>
            </a:br>
            <a:endParaRPr lang="en-IN" dirty="0"/>
          </a:p>
        </p:txBody>
      </p:sp>
      <p:sp>
        <p:nvSpPr>
          <p:cNvPr id="3" name="Text Placeholder 2">
            <a:extLst>
              <a:ext uri="{FF2B5EF4-FFF2-40B4-BE49-F238E27FC236}">
                <a16:creationId xmlns:a16="http://schemas.microsoft.com/office/drawing/2014/main" id="{B06B8338-E279-E66E-7236-028C43481DFC}"/>
              </a:ext>
            </a:extLst>
          </p:cNvPr>
          <p:cNvSpPr>
            <a:spLocks noGrp="1"/>
          </p:cNvSpPr>
          <p:nvPr>
            <p:ph type="body" idx="1"/>
          </p:nvPr>
        </p:nvSpPr>
        <p:spPr>
          <a:xfrm>
            <a:off x="609600" y="1245477"/>
            <a:ext cx="10972800" cy="4524702"/>
          </a:xfrm>
        </p:spPr>
        <p:txBody>
          <a:bodyPr/>
          <a:lstStyle/>
          <a:p>
            <a:endParaRPr lang="en-US" dirty="0"/>
          </a:p>
          <a:p>
            <a:endParaRPr lang="en-IN" dirty="0"/>
          </a:p>
        </p:txBody>
      </p:sp>
      <p:pic>
        <p:nvPicPr>
          <p:cNvPr id="4" name="Google Shape;258;p35" descr="1">
            <a:extLst>
              <a:ext uri="{FF2B5EF4-FFF2-40B4-BE49-F238E27FC236}">
                <a16:creationId xmlns:a16="http://schemas.microsoft.com/office/drawing/2014/main" id="{24590E6E-E7EC-7038-FF9B-AC35FEEE31A4}"/>
              </a:ext>
            </a:extLst>
          </p:cNvPr>
          <p:cNvPicPr preferRelativeResize="0"/>
          <p:nvPr/>
        </p:nvPicPr>
        <p:blipFill rotWithShape="1">
          <a:blip r:embed="rId3">
            <a:alphaModFix/>
          </a:blip>
          <a:srcRect/>
          <a:stretch/>
        </p:blipFill>
        <p:spPr>
          <a:xfrm>
            <a:off x="1766888" y="1693863"/>
            <a:ext cx="9000960" cy="3004261"/>
          </a:xfrm>
          <a:prstGeom prst="rect">
            <a:avLst/>
          </a:prstGeom>
          <a:noFill/>
          <a:ln>
            <a:noFill/>
          </a:ln>
        </p:spPr>
      </p:pic>
      <p:sp>
        <p:nvSpPr>
          <p:cNvPr id="6" name="TextBox 5">
            <a:extLst>
              <a:ext uri="{FF2B5EF4-FFF2-40B4-BE49-F238E27FC236}">
                <a16:creationId xmlns:a16="http://schemas.microsoft.com/office/drawing/2014/main" id="{3C49C282-0E9D-BF67-3F53-790275BEB458}"/>
              </a:ext>
            </a:extLst>
          </p:cNvPr>
          <p:cNvSpPr txBox="1"/>
          <p:nvPr/>
        </p:nvSpPr>
        <p:spPr>
          <a:xfrm>
            <a:off x="3941378" y="5080263"/>
            <a:ext cx="2948153" cy="400110"/>
          </a:xfrm>
          <a:prstGeom prst="rect">
            <a:avLst/>
          </a:prstGeom>
          <a:noFill/>
        </p:spPr>
        <p:txBody>
          <a:bodyPr wrap="square">
            <a:spAutoFit/>
          </a:bodyPr>
          <a:lstStyle/>
          <a:p>
            <a:pPr marL="0" marR="0" lvl="0" indent="0" algn="ctr" rtl="0">
              <a:spcBef>
                <a:spcPts val="0"/>
              </a:spcBef>
              <a:spcAft>
                <a:spcPts val="0"/>
              </a:spcAft>
              <a:buNone/>
            </a:pPr>
            <a:r>
              <a:rPr lang="en-US" sz="2000" b="1" dirty="0">
                <a:solidFill>
                  <a:srgbClr val="000099"/>
                </a:solidFill>
                <a:latin typeface="Constantia"/>
                <a:ea typeface="Constantia"/>
                <a:cs typeface="Constantia"/>
                <a:sym typeface="Constantia"/>
              </a:rPr>
              <a:t>Database</a:t>
            </a:r>
            <a:endParaRPr lang="en-US" dirty="0"/>
          </a:p>
        </p:txBody>
      </p:sp>
    </p:spTree>
    <p:extLst>
      <p:ext uri="{BB962C8B-B14F-4D97-AF65-F5344CB8AC3E}">
        <p14:creationId xmlns:p14="http://schemas.microsoft.com/office/powerpoint/2010/main" val="4045805322"/>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D63A1-25B6-B2A6-FC2D-4B985483C0A8}"/>
              </a:ext>
            </a:extLst>
          </p:cNvPr>
          <p:cNvSpPr>
            <a:spLocks noGrp="1"/>
          </p:cNvSpPr>
          <p:nvPr>
            <p:ph type="title"/>
          </p:nvPr>
        </p:nvSpPr>
        <p:spPr>
          <a:xfrm>
            <a:off x="609600" y="274638"/>
            <a:ext cx="10972800" cy="457198"/>
          </a:xfrm>
        </p:spPr>
        <p:txBody>
          <a:bodyPr>
            <a:normAutofit fontScale="90000"/>
          </a:bodyPr>
          <a:lstStyle/>
          <a:p>
            <a:r>
              <a:rPr lang="en-US" dirty="0">
                <a:solidFill>
                  <a:schemeClr val="bg2">
                    <a:lumMod val="40000"/>
                    <a:lumOff val="60000"/>
                  </a:schemeClr>
                </a:solidFill>
              </a:rPr>
              <a:t>Database Users</a:t>
            </a:r>
            <a:endParaRPr lang="en-IN" dirty="0">
              <a:solidFill>
                <a:schemeClr val="bg2">
                  <a:lumMod val="40000"/>
                  <a:lumOff val="60000"/>
                </a:schemeClr>
              </a:solidFill>
            </a:endParaRPr>
          </a:p>
        </p:txBody>
      </p:sp>
      <p:sp>
        <p:nvSpPr>
          <p:cNvPr id="3" name="Text Placeholder 2">
            <a:extLst>
              <a:ext uri="{FF2B5EF4-FFF2-40B4-BE49-F238E27FC236}">
                <a16:creationId xmlns:a16="http://schemas.microsoft.com/office/drawing/2014/main" id="{33084FA4-DD3E-D4D5-F0AB-FC124B71F600}"/>
              </a:ext>
            </a:extLst>
          </p:cNvPr>
          <p:cNvSpPr>
            <a:spLocks noGrp="1"/>
          </p:cNvSpPr>
          <p:nvPr>
            <p:ph type="body" idx="1"/>
          </p:nvPr>
        </p:nvSpPr>
        <p:spPr>
          <a:xfrm>
            <a:off x="751490" y="870414"/>
            <a:ext cx="10972800" cy="5712948"/>
          </a:xfrm>
        </p:spPr>
        <p:txBody>
          <a:bodyPr>
            <a:normAutofit/>
          </a:bodyPr>
          <a:lstStyle/>
          <a:p>
            <a:pPr lvl="0" indent="-457200" algn="just">
              <a:spcBef>
                <a:spcPts val="0"/>
              </a:spcBef>
              <a:buSzPts val="2280"/>
              <a:buFont typeface="Wingdings" panose="05000000000000000000" pitchFamily="2" charset="2"/>
              <a:buChar char="§"/>
            </a:pPr>
            <a:r>
              <a:rPr lang="en-US" sz="3200" dirty="0">
                <a:latin typeface="Times New Roman" panose="02020603050405020304" pitchFamily="18" charset="0"/>
                <a:cs typeface="Times New Roman" panose="02020603050405020304" pitchFamily="18" charset="0"/>
              </a:rPr>
              <a:t>Users are differentiated by the way they expect to interact with the system </a:t>
            </a:r>
            <a:endParaRPr lang="en-US" sz="2800" dirty="0">
              <a:latin typeface="Times New Roman" panose="02020603050405020304" pitchFamily="18" charset="0"/>
              <a:cs typeface="Times New Roman" panose="02020603050405020304" pitchFamily="18" charset="0"/>
            </a:endParaRPr>
          </a:p>
          <a:p>
            <a:pPr lvl="0" indent="-457200" algn="just">
              <a:spcBef>
                <a:spcPts val="480"/>
              </a:spcBef>
              <a:buSzPts val="228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Application programmers </a:t>
            </a:r>
            <a:r>
              <a:rPr lang="en-US" sz="3200" dirty="0">
                <a:latin typeface="Times New Roman" panose="02020603050405020304" pitchFamily="18" charset="0"/>
                <a:cs typeface="Times New Roman" panose="02020603050405020304" pitchFamily="18" charset="0"/>
              </a:rPr>
              <a:t>– interact with system through DML calls .</a:t>
            </a:r>
            <a:endParaRPr lang="en-US" sz="2800" dirty="0">
              <a:latin typeface="Times New Roman" panose="02020603050405020304" pitchFamily="18" charset="0"/>
              <a:cs typeface="Times New Roman" panose="02020603050405020304" pitchFamily="18" charset="0"/>
            </a:endParaRPr>
          </a:p>
          <a:p>
            <a:pPr lvl="0" indent="-457200" algn="just">
              <a:spcBef>
                <a:spcPts val="480"/>
              </a:spcBef>
              <a:buSzPts val="228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Sophisticated users </a:t>
            </a:r>
            <a:r>
              <a:rPr lang="en-US" sz="3200" dirty="0">
                <a:latin typeface="Times New Roman" panose="02020603050405020304" pitchFamily="18" charset="0"/>
                <a:cs typeface="Times New Roman" panose="02020603050405020304" pitchFamily="18" charset="0"/>
              </a:rPr>
              <a:t>– form requests in a database query language </a:t>
            </a:r>
            <a:endParaRPr lang="en-US" sz="2800" dirty="0">
              <a:latin typeface="Times New Roman" panose="02020603050405020304" pitchFamily="18" charset="0"/>
              <a:cs typeface="Times New Roman" panose="02020603050405020304" pitchFamily="18" charset="0"/>
            </a:endParaRPr>
          </a:p>
          <a:p>
            <a:pPr lvl="0" indent="-457200" algn="just">
              <a:spcBef>
                <a:spcPts val="480"/>
              </a:spcBef>
              <a:buSzPts val="228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Specialized users</a:t>
            </a:r>
            <a:r>
              <a:rPr lang="en-US" sz="3200" dirty="0">
                <a:latin typeface="Times New Roman" panose="02020603050405020304" pitchFamily="18" charset="0"/>
                <a:cs typeface="Times New Roman" panose="02020603050405020304" pitchFamily="18" charset="0"/>
              </a:rPr>
              <a:t> – write specialized database applications that do not fit into the traditional data processing framework.</a:t>
            </a:r>
            <a:endParaRPr lang="en-US" sz="2800" dirty="0">
              <a:latin typeface="Times New Roman" panose="02020603050405020304" pitchFamily="18" charset="0"/>
              <a:cs typeface="Times New Roman" panose="02020603050405020304" pitchFamily="18" charset="0"/>
            </a:endParaRPr>
          </a:p>
          <a:p>
            <a:pPr lvl="0" indent="-457200" algn="just">
              <a:spcBef>
                <a:spcPts val="480"/>
              </a:spcBef>
              <a:buSzPts val="2280"/>
              <a:buFont typeface="Wingdings" panose="05000000000000000000" pitchFamily="2" charset="2"/>
              <a:buChar char="§"/>
            </a:pPr>
            <a:r>
              <a:rPr lang="en-US" sz="3200" b="1" dirty="0">
                <a:latin typeface="Times New Roman" panose="02020603050405020304" pitchFamily="18" charset="0"/>
                <a:cs typeface="Times New Roman" panose="02020603050405020304" pitchFamily="18" charset="0"/>
              </a:rPr>
              <a:t>Naïve users</a:t>
            </a:r>
            <a:r>
              <a:rPr lang="en-US" sz="3200" dirty="0">
                <a:latin typeface="Times New Roman" panose="02020603050405020304" pitchFamily="18" charset="0"/>
                <a:cs typeface="Times New Roman" panose="02020603050405020304" pitchFamily="18" charset="0"/>
              </a:rPr>
              <a:t> – invoke one of the permanent application programs that have been written previously  </a:t>
            </a:r>
          </a:p>
          <a:p>
            <a:pPr marL="740410" lvl="0" indent="-571500" algn="just">
              <a:spcBef>
                <a:spcPts val="560"/>
              </a:spcBef>
              <a:buSzPts val="2660"/>
              <a:buFont typeface="Wingdings" panose="05000000000000000000" pitchFamily="2" charset="2"/>
              <a:buChar char="§"/>
            </a:pPr>
            <a:endParaRPr lang="en-US" sz="3600" dirty="0">
              <a:latin typeface="Times New Roman" panose="02020603050405020304" pitchFamily="18" charset="0"/>
              <a:cs typeface="Times New Roman" panose="02020603050405020304" pitchFamily="18" charset="0"/>
            </a:endParaRPr>
          </a:p>
          <a:p>
            <a:pPr marL="614045" lvl="0" indent="-457200">
              <a:spcBef>
                <a:spcPts val="520"/>
              </a:spcBef>
              <a:buSzPts val="2470"/>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marL="614045" lvl="0" indent="-457200">
              <a:spcBef>
                <a:spcPts val="520"/>
              </a:spcBef>
              <a:buSzPts val="2470"/>
              <a:buFont typeface="Wingdings" panose="05000000000000000000" pitchFamily="2" charset="2"/>
              <a:buChar char="§"/>
            </a:pPr>
            <a:endParaRPr lang="en-US" sz="2800" dirty="0">
              <a:latin typeface="Times New Roman" panose="02020603050405020304" pitchFamily="18" charset="0"/>
              <a:cs typeface="Times New Roman" panose="02020603050405020304" pitchFamily="18" charset="0"/>
            </a:endParaRPr>
          </a:p>
          <a:p>
            <a:pPr>
              <a:buFont typeface="Wingdings" panose="05000000000000000000" pitchFamily="2" charset="2"/>
              <a:buChar char="§"/>
            </a:pP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77705785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61ACCA-7376-2106-8375-3D576728D730}"/>
              </a:ext>
            </a:extLst>
          </p:cNvPr>
          <p:cNvSpPr>
            <a:spLocks noGrp="1"/>
          </p:cNvSpPr>
          <p:nvPr>
            <p:ph type="title"/>
          </p:nvPr>
        </p:nvSpPr>
        <p:spPr>
          <a:xfrm>
            <a:off x="609600" y="274638"/>
            <a:ext cx="10972800" cy="457198"/>
          </a:xfrm>
        </p:spPr>
        <p:txBody>
          <a:bodyPr>
            <a:normAutofit fontScale="90000"/>
          </a:bodyPr>
          <a:lstStyle/>
          <a:p>
            <a:r>
              <a:rPr lang="en-US" dirty="0"/>
              <a:t>Query Processing</a:t>
            </a:r>
            <a:endParaRPr lang="en-IN" dirty="0"/>
          </a:p>
        </p:txBody>
      </p:sp>
      <p:sp>
        <p:nvSpPr>
          <p:cNvPr id="3" name="Text Placeholder 2">
            <a:extLst>
              <a:ext uri="{FF2B5EF4-FFF2-40B4-BE49-F238E27FC236}">
                <a16:creationId xmlns:a16="http://schemas.microsoft.com/office/drawing/2014/main" id="{17CB6A81-7FAF-15A5-9309-DE34CF3B4BCC}"/>
              </a:ext>
            </a:extLst>
          </p:cNvPr>
          <p:cNvSpPr>
            <a:spLocks noGrp="1"/>
          </p:cNvSpPr>
          <p:nvPr>
            <p:ph type="body" idx="1"/>
          </p:nvPr>
        </p:nvSpPr>
        <p:spPr>
          <a:xfrm>
            <a:off x="509752" y="731837"/>
            <a:ext cx="10972800" cy="5394328"/>
          </a:xfrm>
        </p:spPr>
        <p:txBody>
          <a:bodyPr/>
          <a:lstStyle/>
          <a:p>
            <a:pPr marL="274320" lvl="0" indent="-274320">
              <a:spcBef>
                <a:spcPts val="0"/>
              </a:spcBef>
              <a:buSzPts val="2470"/>
              <a:buNone/>
            </a:pPr>
            <a:r>
              <a:rPr lang="en-US" dirty="0"/>
              <a:t>1.	Parsing and translation</a:t>
            </a:r>
          </a:p>
          <a:p>
            <a:pPr marL="274320" lvl="0" indent="-274320">
              <a:spcBef>
                <a:spcPts val="520"/>
              </a:spcBef>
              <a:buSzPts val="2470"/>
              <a:buNone/>
            </a:pPr>
            <a:r>
              <a:rPr lang="en-US" dirty="0"/>
              <a:t>2.	Optimization</a:t>
            </a:r>
          </a:p>
          <a:p>
            <a:pPr marL="274320" lvl="0" indent="-274320">
              <a:spcBef>
                <a:spcPts val="520"/>
              </a:spcBef>
              <a:buSzPts val="2470"/>
              <a:buNone/>
            </a:pPr>
            <a:r>
              <a:rPr lang="en-US" dirty="0"/>
              <a:t>3.	Evaluation</a:t>
            </a:r>
          </a:p>
          <a:p>
            <a:endParaRPr lang="en-IN" dirty="0"/>
          </a:p>
        </p:txBody>
      </p:sp>
      <p:pic>
        <p:nvPicPr>
          <p:cNvPr id="4" name="Google Shape;278;p38">
            <a:extLst>
              <a:ext uri="{FF2B5EF4-FFF2-40B4-BE49-F238E27FC236}">
                <a16:creationId xmlns:a16="http://schemas.microsoft.com/office/drawing/2014/main" id="{74D7AB3F-1A88-5C3A-2E08-70754264292B}"/>
              </a:ext>
            </a:extLst>
          </p:cNvPr>
          <p:cNvPicPr preferRelativeResize="0"/>
          <p:nvPr/>
        </p:nvPicPr>
        <p:blipFill rotWithShape="1">
          <a:blip r:embed="rId2">
            <a:alphaModFix/>
          </a:blip>
          <a:srcRect/>
          <a:stretch/>
        </p:blipFill>
        <p:spPr>
          <a:xfrm>
            <a:off x="4208463" y="1744389"/>
            <a:ext cx="6773862" cy="4068763"/>
          </a:xfrm>
          <a:prstGeom prst="rect">
            <a:avLst/>
          </a:prstGeom>
          <a:noFill/>
          <a:ln>
            <a:noFill/>
          </a:ln>
        </p:spPr>
      </p:pic>
    </p:spTree>
    <p:extLst>
      <p:ext uri="{BB962C8B-B14F-4D97-AF65-F5344CB8AC3E}">
        <p14:creationId xmlns:p14="http://schemas.microsoft.com/office/powerpoint/2010/main" val="307860123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7EB771-3790-B578-578C-990AAC453A0D}"/>
              </a:ext>
            </a:extLst>
          </p:cNvPr>
          <p:cNvSpPr>
            <a:spLocks noGrp="1"/>
          </p:cNvSpPr>
          <p:nvPr>
            <p:ph type="title"/>
          </p:nvPr>
        </p:nvSpPr>
        <p:spPr>
          <a:xfrm>
            <a:off x="609600" y="268014"/>
            <a:ext cx="10972800" cy="463821"/>
          </a:xfrm>
        </p:spPr>
        <p:txBody>
          <a:bodyPr>
            <a:normAutofit fontScale="90000"/>
          </a:bodyPr>
          <a:lstStyle/>
          <a:p>
            <a:r>
              <a:rPr lang="en-US" dirty="0"/>
              <a:t>Storage Management</a:t>
            </a:r>
            <a:endParaRPr lang="en-IN" dirty="0"/>
          </a:p>
        </p:txBody>
      </p:sp>
      <p:sp>
        <p:nvSpPr>
          <p:cNvPr id="3" name="Text Placeholder 2">
            <a:extLst>
              <a:ext uri="{FF2B5EF4-FFF2-40B4-BE49-F238E27FC236}">
                <a16:creationId xmlns:a16="http://schemas.microsoft.com/office/drawing/2014/main" id="{865335AF-B682-70D9-5A27-981B5722C8DB}"/>
              </a:ext>
            </a:extLst>
          </p:cNvPr>
          <p:cNvSpPr>
            <a:spLocks noGrp="1"/>
          </p:cNvSpPr>
          <p:nvPr>
            <p:ph type="body" idx="1"/>
          </p:nvPr>
        </p:nvSpPr>
        <p:spPr>
          <a:xfrm>
            <a:off x="609600" y="731834"/>
            <a:ext cx="11403724" cy="6126165"/>
          </a:xfrm>
        </p:spPr>
        <p:txBody>
          <a:bodyPr>
            <a:noAutofit/>
          </a:bodyPr>
          <a:lstStyle/>
          <a:p>
            <a:pPr lvl="0" indent="-457200">
              <a:spcBef>
                <a:spcPts val="0"/>
              </a:spcBef>
              <a:buSzPts val="2470"/>
              <a:buFont typeface="Wingdings" panose="05000000000000000000" pitchFamily="2" charset="2"/>
              <a:buChar char="v"/>
            </a:pPr>
            <a:r>
              <a:rPr lang="en-US" sz="3200" b="1" dirty="0">
                <a:solidFill>
                  <a:srgbClr val="000099"/>
                </a:solidFill>
                <a:latin typeface="Times New Roman" panose="02020603050405020304" pitchFamily="18" charset="0"/>
                <a:cs typeface="Times New Roman" panose="02020603050405020304" pitchFamily="18" charset="0"/>
              </a:rPr>
              <a:t>Storage manager</a:t>
            </a:r>
            <a:r>
              <a:rPr lang="en-US" sz="3200" dirty="0">
                <a:latin typeface="Times New Roman" panose="02020603050405020304" pitchFamily="18" charset="0"/>
                <a:cs typeface="Times New Roman" panose="02020603050405020304" pitchFamily="18" charset="0"/>
              </a:rPr>
              <a:t> is a program module that provides the interface between the low-level data stored in the database and the application programs and queries submitted to the system.</a:t>
            </a:r>
          </a:p>
          <a:p>
            <a:pPr lvl="0" indent="-457200">
              <a:spcBef>
                <a:spcPts val="520"/>
              </a:spcBef>
              <a:buSzPts val="247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The storage manager is responsible to the following tasks: </a:t>
            </a:r>
          </a:p>
          <a:p>
            <a:pPr marL="850392" lvl="1" indent="-457200">
              <a:spcBef>
                <a:spcPts val="480"/>
              </a:spcBef>
              <a:buSzPts val="204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Interaction with the file manager </a:t>
            </a:r>
          </a:p>
          <a:p>
            <a:pPr marL="850392" lvl="1" indent="-457200">
              <a:spcBef>
                <a:spcPts val="480"/>
              </a:spcBef>
              <a:buSzPts val="204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Efficient storing, retrieving and updating of data</a:t>
            </a:r>
          </a:p>
          <a:p>
            <a:pPr lvl="0" indent="-457200">
              <a:spcBef>
                <a:spcPts val="520"/>
              </a:spcBef>
              <a:buSzPts val="247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Issues:</a:t>
            </a:r>
          </a:p>
          <a:p>
            <a:pPr marL="850392" lvl="1" indent="-457200">
              <a:spcBef>
                <a:spcPts val="480"/>
              </a:spcBef>
              <a:buSzPts val="204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Storage access</a:t>
            </a:r>
          </a:p>
          <a:p>
            <a:pPr marL="850392" lvl="1" indent="-457200">
              <a:spcBef>
                <a:spcPts val="480"/>
              </a:spcBef>
              <a:buSzPts val="204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File organization</a:t>
            </a:r>
          </a:p>
          <a:p>
            <a:pPr marL="850392" lvl="1" indent="-457200">
              <a:spcBef>
                <a:spcPts val="480"/>
              </a:spcBef>
              <a:buSzPts val="204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Indexing and hashing</a:t>
            </a:r>
          </a:p>
          <a:p>
            <a:pPr marL="850392" lvl="1" indent="-457200">
              <a:spcBef>
                <a:spcPts val="480"/>
              </a:spcBef>
              <a:buSzPts val="2040"/>
              <a:buFont typeface="Wingdings" panose="05000000000000000000" pitchFamily="2" charset="2"/>
              <a:buChar char="v"/>
            </a:pPr>
            <a:endParaRPr lang="en-US" sz="3200" dirty="0">
              <a:latin typeface="Times New Roman" panose="02020603050405020304" pitchFamily="18" charset="0"/>
              <a:cs typeface="Times New Roman" panose="02020603050405020304" pitchFamily="18" charset="0"/>
            </a:endParaRPr>
          </a:p>
          <a:p>
            <a:pPr>
              <a:buFont typeface="Wingdings" panose="05000000000000000000" pitchFamily="2" charset="2"/>
              <a:buChar char="v"/>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71628750"/>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8DC0B7-320E-2021-79D4-50C63C0B8E1B}"/>
              </a:ext>
            </a:extLst>
          </p:cNvPr>
          <p:cNvSpPr>
            <a:spLocks noGrp="1"/>
          </p:cNvSpPr>
          <p:nvPr>
            <p:ph type="title"/>
          </p:nvPr>
        </p:nvSpPr>
        <p:spPr>
          <a:xfrm>
            <a:off x="609600" y="274638"/>
            <a:ext cx="10972800" cy="639762"/>
          </a:xfrm>
        </p:spPr>
        <p:txBody>
          <a:bodyPr>
            <a:normAutofit fontScale="90000"/>
          </a:bodyPr>
          <a:lstStyle/>
          <a:p>
            <a:r>
              <a:rPr lang="en-US" dirty="0"/>
              <a:t>Transaction Management	</a:t>
            </a:r>
            <a:endParaRPr lang="en-IN" dirty="0"/>
          </a:p>
        </p:txBody>
      </p:sp>
      <p:sp>
        <p:nvSpPr>
          <p:cNvPr id="3" name="Text Placeholder 2">
            <a:extLst>
              <a:ext uri="{FF2B5EF4-FFF2-40B4-BE49-F238E27FC236}">
                <a16:creationId xmlns:a16="http://schemas.microsoft.com/office/drawing/2014/main" id="{D058CE70-9692-4BD8-3A35-D9B6E2F6DDC2}"/>
              </a:ext>
            </a:extLst>
          </p:cNvPr>
          <p:cNvSpPr>
            <a:spLocks noGrp="1"/>
          </p:cNvSpPr>
          <p:nvPr>
            <p:ph type="body" idx="1"/>
          </p:nvPr>
        </p:nvSpPr>
        <p:spPr>
          <a:xfrm>
            <a:off x="609600" y="914400"/>
            <a:ext cx="10972800" cy="5668961"/>
          </a:xfrm>
        </p:spPr>
        <p:txBody>
          <a:bodyPr>
            <a:normAutofit lnSpcReduction="10000"/>
          </a:bodyPr>
          <a:lstStyle/>
          <a:p>
            <a:pPr lvl="0" indent="-457200" algn="just">
              <a:spcBef>
                <a:spcPts val="0"/>
              </a:spcBef>
              <a:buSzPct val="9500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What if the system fails?</a:t>
            </a:r>
          </a:p>
          <a:p>
            <a:pPr lvl="0" indent="-457200" algn="just">
              <a:spcBef>
                <a:spcPts val="481"/>
              </a:spcBef>
              <a:buSzPct val="9500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What if more than one user is concurrently updating the same data?</a:t>
            </a:r>
          </a:p>
          <a:p>
            <a:pPr lvl="0" indent="-457200" algn="just">
              <a:spcBef>
                <a:spcPts val="481"/>
              </a:spcBef>
              <a:buSzPct val="95000"/>
              <a:buFont typeface="Wingdings" panose="05000000000000000000" pitchFamily="2" charset="2"/>
              <a:buChar char="v"/>
            </a:pPr>
            <a:r>
              <a:rPr lang="en-US" sz="3200" dirty="0">
                <a:latin typeface="Times New Roman" panose="02020603050405020304" pitchFamily="18" charset="0"/>
                <a:cs typeface="Times New Roman" panose="02020603050405020304" pitchFamily="18" charset="0"/>
              </a:rPr>
              <a:t>A </a:t>
            </a:r>
            <a:r>
              <a:rPr lang="en-US" sz="3200" b="1" dirty="0">
                <a:solidFill>
                  <a:srgbClr val="000099"/>
                </a:solidFill>
                <a:latin typeface="Times New Roman" panose="02020603050405020304" pitchFamily="18" charset="0"/>
                <a:cs typeface="Times New Roman" panose="02020603050405020304" pitchFamily="18" charset="0"/>
              </a:rPr>
              <a:t>transaction</a:t>
            </a:r>
            <a:r>
              <a:rPr lang="en-US" sz="3200" dirty="0">
                <a:latin typeface="Times New Roman" panose="02020603050405020304" pitchFamily="18" charset="0"/>
                <a:cs typeface="Times New Roman" panose="02020603050405020304" pitchFamily="18" charset="0"/>
              </a:rPr>
              <a:t> is a collection of operations that performs a single logical function in a database application</a:t>
            </a:r>
          </a:p>
          <a:p>
            <a:pPr lvl="0" indent="-457200" algn="just">
              <a:spcBef>
                <a:spcPts val="481"/>
              </a:spcBef>
              <a:buSzPct val="95000"/>
              <a:buFont typeface="Wingdings" panose="05000000000000000000" pitchFamily="2" charset="2"/>
              <a:buChar char="v"/>
            </a:pPr>
            <a:r>
              <a:rPr lang="en-US" sz="3200" b="1" dirty="0">
                <a:solidFill>
                  <a:srgbClr val="000099"/>
                </a:solidFill>
                <a:latin typeface="Times New Roman" panose="02020603050405020304" pitchFamily="18" charset="0"/>
                <a:cs typeface="Times New Roman" panose="02020603050405020304" pitchFamily="18" charset="0"/>
              </a:rPr>
              <a:t>Transaction-management component</a:t>
            </a:r>
            <a:r>
              <a:rPr lang="en-US" sz="3200" dirty="0">
                <a:latin typeface="Times New Roman" panose="02020603050405020304" pitchFamily="18" charset="0"/>
                <a:cs typeface="Times New Roman" panose="02020603050405020304" pitchFamily="18" charset="0"/>
              </a:rPr>
              <a:t> ensures that the database remains in a consistent (correct) state despite system failures (e.g., power failures and operating system crashes) and transaction failures.</a:t>
            </a:r>
          </a:p>
          <a:p>
            <a:pPr lvl="0" indent="-457200" algn="just">
              <a:spcBef>
                <a:spcPts val="481"/>
              </a:spcBef>
              <a:buSzPct val="95000"/>
              <a:buFont typeface="Wingdings" panose="05000000000000000000" pitchFamily="2" charset="2"/>
              <a:buChar char="v"/>
            </a:pPr>
            <a:r>
              <a:rPr lang="en-US" sz="3200" b="1" dirty="0">
                <a:solidFill>
                  <a:srgbClr val="000099"/>
                </a:solidFill>
                <a:latin typeface="Times New Roman" panose="02020603050405020304" pitchFamily="18" charset="0"/>
                <a:cs typeface="Times New Roman" panose="02020603050405020304" pitchFamily="18" charset="0"/>
              </a:rPr>
              <a:t>Concurrency-control manager</a:t>
            </a:r>
            <a:r>
              <a:rPr lang="en-US" sz="3200" dirty="0">
                <a:latin typeface="Times New Roman" panose="02020603050405020304" pitchFamily="18" charset="0"/>
                <a:cs typeface="Times New Roman" panose="02020603050405020304" pitchFamily="18" charset="0"/>
              </a:rPr>
              <a:t> controls the interaction among the concurrent transactions, to ensure the consistency of the database.</a:t>
            </a:r>
            <a:r>
              <a:rPr lang="en-US" sz="3200" b="1" dirty="0">
                <a:solidFill>
                  <a:schemeClr val="dk2"/>
                </a:solidFill>
                <a:latin typeface="Times New Roman" panose="02020603050405020304" pitchFamily="18" charset="0"/>
                <a:cs typeface="Times New Roman" panose="02020603050405020304" pitchFamily="18" charset="0"/>
              </a:rPr>
              <a:t> </a:t>
            </a:r>
            <a:endParaRPr lang="en-US" sz="3200" dirty="0">
              <a:latin typeface="Times New Roman" panose="02020603050405020304" pitchFamily="18" charset="0"/>
              <a:cs typeface="Times New Roman" panose="02020603050405020304" pitchFamily="18" charset="0"/>
            </a:endParaRPr>
          </a:p>
          <a:p>
            <a:pPr algn="just">
              <a:buFont typeface="Wingdings" panose="05000000000000000000" pitchFamily="2" charset="2"/>
              <a:buChar char="v"/>
            </a:pPr>
            <a:endParaRPr lang="en-IN" sz="3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307185740"/>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080B8-90C5-6DFC-BA14-5AF999AB8001}"/>
              </a:ext>
            </a:extLst>
          </p:cNvPr>
          <p:cNvSpPr>
            <a:spLocks noGrp="1"/>
          </p:cNvSpPr>
          <p:nvPr>
            <p:ph type="title"/>
          </p:nvPr>
        </p:nvSpPr>
        <p:spPr/>
        <p:txBody>
          <a:bodyPr/>
          <a:lstStyle/>
          <a:p>
            <a:r>
              <a:rPr lang="en-US" b="1" dirty="0">
                <a:solidFill>
                  <a:schemeClr val="accent2"/>
                </a:solidFill>
              </a:rPr>
              <a:t>Database Administrator(DBA)</a:t>
            </a:r>
            <a:endParaRPr lang="en-IN" b="1" dirty="0">
              <a:solidFill>
                <a:schemeClr val="accent2"/>
              </a:solidFill>
            </a:endParaRPr>
          </a:p>
        </p:txBody>
      </p:sp>
      <p:sp>
        <p:nvSpPr>
          <p:cNvPr id="3" name="Text Placeholder 2">
            <a:extLst>
              <a:ext uri="{FF2B5EF4-FFF2-40B4-BE49-F238E27FC236}">
                <a16:creationId xmlns:a16="http://schemas.microsoft.com/office/drawing/2014/main" id="{3FC4F62A-7175-7686-9327-9BF8FBE6A1B1}"/>
              </a:ext>
            </a:extLst>
          </p:cNvPr>
          <p:cNvSpPr>
            <a:spLocks noGrp="1"/>
          </p:cNvSpPr>
          <p:nvPr>
            <p:ph type="body" idx="1"/>
          </p:nvPr>
        </p:nvSpPr>
        <p:spPr/>
        <p:txBody>
          <a:bodyPr/>
          <a:lstStyle/>
          <a:p>
            <a:r>
              <a:rPr lang="en-US" dirty="0"/>
              <a:t>A Database Administrator (DBA) is an individual or person responsible </a:t>
            </a:r>
            <a:r>
              <a:rPr lang="en-US" dirty="0">
                <a:solidFill>
                  <a:schemeClr val="bg2">
                    <a:lumMod val="40000"/>
                    <a:lumOff val="60000"/>
                  </a:schemeClr>
                </a:solidFill>
              </a:rPr>
              <a:t>for controlling, maintaining, coordinating, and operating </a:t>
            </a:r>
            <a:r>
              <a:rPr lang="en-US" dirty="0"/>
              <a:t>a database management system.</a:t>
            </a:r>
          </a:p>
          <a:p>
            <a:r>
              <a:rPr lang="en-US" sz="3600" dirty="0"/>
              <a:t>Coordinates all the activities of the database system. </a:t>
            </a:r>
            <a:endParaRPr lang="en-US" dirty="0"/>
          </a:p>
          <a:p>
            <a:endParaRPr lang="en-IN" dirty="0"/>
          </a:p>
        </p:txBody>
      </p:sp>
    </p:spTree>
    <p:extLst>
      <p:ext uri="{BB962C8B-B14F-4D97-AF65-F5344CB8AC3E}">
        <p14:creationId xmlns:p14="http://schemas.microsoft.com/office/powerpoint/2010/main" val="2799417639"/>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E4FA10-E46E-49C5-1CB3-B9DD487AFADD}"/>
              </a:ext>
            </a:extLst>
          </p:cNvPr>
          <p:cNvSpPr>
            <a:spLocks noGrp="1"/>
          </p:cNvSpPr>
          <p:nvPr>
            <p:ph type="title"/>
          </p:nvPr>
        </p:nvSpPr>
        <p:spPr>
          <a:xfrm>
            <a:off x="609600" y="274638"/>
            <a:ext cx="10972800" cy="765886"/>
          </a:xfrm>
        </p:spPr>
        <p:txBody>
          <a:bodyPr>
            <a:normAutofit fontScale="90000"/>
          </a:bodyPr>
          <a:lstStyle/>
          <a:p>
            <a:r>
              <a:rPr lang="en-US" b="1" dirty="0">
                <a:solidFill>
                  <a:schemeClr val="bg2">
                    <a:lumMod val="60000"/>
                    <a:lumOff val="40000"/>
                  </a:schemeClr>
                </a:solidFill>
              </a:rPr>
              <a:t>Roles &amp; Responsibilities of DBA</a:t>
            </a:r>
            <a:endParaRPr lang="en-IN" b="1" dirty="0">
              <a:solidFill>
                <a:schemeClr val="bg2">
                  <a:lumMod val="60000"/>
                  <a:lumOff val="40000"/>
                </a:schemeClr>
              </a:solidFill>
            </a:endParaRPr>
          </a:p>
        </p:txBody>
      </p:sp>
      <p:sp>
        <p:nvSpPr>
          <p:cNvPr id="3" name="Text Placeholder 2">
            <a:extLst>
              <a:ext uri="{FF2B5EF4-FFF2-40B4-BE49-F238E27FC236}">
                <a16:creationId xmlns:a16="http://schemas.microsoft.com/office/drawing/2014/main" id="{9ADE06B3-00AE-8A05-B69C-6CF5C23B2EF9}"/>
              </a:ext>
            </a:extLst>
          </p:cNvPr>
          <p:cNvSpPr>
            <a:spLocks noGrp="1"/>
          </p:cNvSpPr>
          <p:nvPr>
            <p:ph type="body" idx="1"/>
          </p:nvPr>
        </p:nvSpPr>
        <p:spPr>
          <a:xfrm>
            <a:off x="609600" y="1040525"/>
            <a:ext cx="10972800" cy="5542838"/>
          </a:xfrm>
        </p:spPr>
        <p:txBody>
          <a:bodyPr>
            <a:normAutofit/>
          </a:bodyPr>
          <a:lstStyle/>
          <a:p>
            <a:pPr marL="857250" indent="-742950">
              <a:buFont typeface="+mj-lt"/>
              <a:buAutoNum type="arabicPeriod"/>
            </a:pPr>
            <a:r>
              <a:rPr lang="en-US" sz="3600" dirty="0"/>
              <a:t>Software Installing and configuration of db.</a:t>
            </a:r>
          </a:p>
          <a:p>
            <a:pPr marL="857250" indent="-742950">
              <a:buFont typeface="+mj-lt"/>
              <a:buAutoNum type="arabicPeriod"/>
            </a:pPr>
            <a:r>
              <a:rPr lang="en-US" sz="3600" dirty="0"/>
              <a:t>Data Extraction ,Transformation and Loading(ETL)</a:t>
            </a:r>
          </a:p>
          <a:p>
            <a:pPr marL="857250" indent="-742950">
              <a:buFont typeface="+mj-lt"/>
              <a:buAutoNum type="arabicPeriod"/>
            </a:pPr>
            <a:r>
              <a:rPr lang="en-US" sz="3600" dirty="0"/>
              <a:t>Data handling</a:t>
            </a:r>
          </a:p>
          <a:p>
            <a:pPr marL="857250" indent="-742950">
              <a:buFont typeface="+mj-lt"/>
              <a:buAutoNum type="arabicPeriod"/>
            </a:pPr>
            <a:r>
              <a:rPr lang="en-US" sz="3600" dirty="0"/>
              <a:t>Monitoring Performance</a:t>
            </a:r>
          </a:p>
          <a:p>
            <a:pPr marL="857250" indent="-742950">
              <a:buFont typeface="+mj-lt"/>
              <a:buAutoNum type="arabicPeriod"/>
            </a:pPr>
            <a:r>
              <a:rPr lang="en-US" sz="3600" dirty="0"/>
              <a:t>Database Backup and recovery</a:t>
            </a:r>
          </a:p>
          <a:p>
            <a:pPr marL="857250" indent="-742950">
              <a:buFont typeface="+mj-lt"/>
              <a:buAutoNum type="arabicPeriod"/>
            </a:pPr>
            <a:r>
              <a:rPr lang="en-US" sz="3600" dirty="0"/>
              <a:t>Database Security</a:t>
            </a:r>
          </a:p>
          <a:p>
            <a:pPr marL="857250" indent="-742950">
              <a:buFont typeface="+mj-lt"/>
              <a:buAutoNum type="arabicPeriod"/>
            </a:pPr>
            <a:r>
              <a:rPr lang="en-US" sz="3600" dirty="0"/>
              <a:t>Authentication and Access control</a:t>
            </a:r>
          </a:p>
          <a:p>
            <a:pPr marL="857250" indent="-742950">
              <a:buFont typeface="+mj-lt"/>
              <a:buAutoNum type="arabicPeriod"/>
            </a:pPr>
            <a:r>
              <a:rPr lang="en-US" sz="3600" dirty="0"/>
              <a:t>Provides help and support to user.</a:t>
            </a:r>
          </a:p>
          <a:p>
            <a:pPr marL="857250" indent="-742950">
              <a:buFont typeface="+mj-lt"/>
              <a:buAutoNum type="arabicPeriod"/>
            </a:pPr>
            <a:endParaRPr lang="en-US" sz="3600" dirty="0"/>
          </a:p>
          <a:p>
            <a:pPr marL="628650" indent="-514350">
              <a:buFont typeface="+mj-lt"/>
              <a:buAutoNum type="arabicPeriod"/>
            </a:pPr>
            <a:endParaRPr lang="en-US" dirty="0"/>
          </a:p>
          <a:p>
            <a:pPr marL="628650" indent="-514350">
              <a:buFont typeface="+mj-lt"/>
              <a:buAutoNum type="arabicPeriod"/>
            </a:pPr>
            <a:endParaRPr lang="en-IN" dirty="0"/>
          </a:p>
        </p:txBody>
      </p:sp>
    </p:spTree>
    <p:extLst>
      <p:ext uri="{BB962C8B-B14F-4D97-AF65-F5344CB8AC3E}">
        <p14:creationId xmlns:p14="http://schemas.microsoft.com/office/powerpoint/2010/main" val="14830625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552B8-4B6E-1615-248B-720C93D84C1D}"/>
              </a:ext>
            </a:extLst>
          </p:cNvPr>
          <p:cNvSpPr>
            <a:spLocks noGrp="1"/>
          </p:cNvSpPr>
          <p:nvPr>
            <p:ph type="title"/>
          </p:nvPr>
        </p:nvSpPr>
        <p:spPr>
          <a:xfrm>
            <a:off x="651641" y="204950"/>
            <a:ext cx="10972800" cy="614856"/>
          </a:xfrm>
        </p:spPr>
        <p:txBody>
          <a:bodyPr>
            <a:normAutofit fontScale="90000"/>
          </a:bodyPr>
          <a:lstStyle/>
          <a:p>
            <a:br>
              <a:rPr lang="en-US" sz="4800" dirty="0">
                <a:solidFill>
                  <a:schemeClr val="bg2">
                    <a:lumMod val="60000"/>
                    <a:lumOff val="40000"/>
                  </a:schemeClr>
                </a:solidFill>
              </a:rPr>
            </a:br>
            <a:r>
              <a:rPr lang="en-US" sz="4800" dirty="0">
                <a:solidFill>
                  <a:schemeClr val="bg2">
                    <a:lumMod val="60000"/>
                    <a:lumOff val="40000"/>
                  </a:schemeClr>
                </a:solidFill>
              </a:rPr>
              <a:t>Software Installing and configuration of db.</a:t>
            </a:r>
            <a:br>
              <a:rPr lang="en-US" sz="4800" dirty="0">
                <a:solidFill>
                  <a:schemeClr val="bg2">
                    <a:lumMod val="60000"/>
                    <a:lumOff val="40000"/>
                  </a:schemeClr>
                </a:solidFill>
              </a:rPr>
            </a:br>
            <a:endParaRPr lang="en-IN" dirty="0">
              <a:solidFill>
                <a:schemeClr val="bg2">
                  <a:lumMod val="60000"/>
                  <a:lumOff val="40000"/>
                </a:schemeClr>
              </a:solidFill>
            </a:endParaRPr>
          </a:p>
        </p:txBody>
      </p:sp>
      <p:sp>
        <p:nvSpPr>
          <p:cNvPr id="3" name="Text Placeholder 2">
            <a:extLst>
              <a:ext uri="{FF2B5EF4-FFF2-40B4-BE49-F238E27FC236}">
                <a16:creationId xmlns:a16="http://schemas.microsoft.com/office/drawing/2014/main" id="{1F33A5C2-7A70-E23B-8D9D-CAE74A55B254}"/>
              </a:ext>
            </a:extLst>
          </p:cNvPr>
          <p:cNvSpPr>
            <a:spLocks noGrp="1"/>
          </p:cNvSpPr>
          <p:nvPr>
            <p:ph type="body" idx="1"/>
          </p:nvPr>
        </p:nvSpPr>
        <p:spPr>
          <a:xfrm>
            <a:off x="609600" y="819806"/>
            <a:ext cx="10972800" cy="4872175"/>
          </a:xfrm>
        </p:spPr>
        <p:txBody>
          <a:bodyPr>
            <a:normAutofit/>
          </a:bodyPr>
          <a:lstStyle/>
          <a:p>
            <a:pPr algn="just"/>
            <a:r>
              <a:rPr lang="en-US" sz="3200" dirty="0">
                <a:latin typeface="Times New Roman" panose="02020603050405020304" pitchFamily="18" charset="0"/>
                <a:cs typeface="Times New Roman" panose="02020603050405020304" pitchFamily="18" charset="0"/>
              </a:rPr>
              <a:t>A DBA is frequently involved in the initial installation and configuration of a new Oracle, SQL Server, or other databases. The system administrator configures the database server's hardware and implements the operating system, after which the DBA installs and configures the database software.</a:t>
            </a:r>
            <a:endParaRPr lang="en-IN"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7A9F848-39FD-5032-8808-2C5597020353}"/>
              </a:ext>
            </a:extLst>
          </p:cNvPr>
          <p:cNvPicPr>
            <a:picLocks noChangeAspect="1"/>
          </p:cNvPicPr>
          <p:nvPr/>
        </p:nvPicPr>
        <p:blipFill>
          <a:blip r:embed="rId2"/>
          <a:stretch>
            <a:fillRect/>
          </a:stretch>
        </p:blipFill>
        <p:spPr>
          <a:xfrm>
            <a:off x="4020207" y="3563007"/>
            <a:ext cx="4635062" cy="2743830"/>
          </a:xfrm>
          <a:prstGeom prst="rect">
            <a:avLst/>
          </a:prstGeom>
        </p:spPr>
      </p:pic>
    </p:spTree>
    <p:extLst>
      <p:ext uri="{BB962C8B-B14F-4D97-AF65-F5344CB8AC3E}">
        <p14:creationId xmlns:p14="http://schemas.microsoft.com/office/powerpoint/2010/main" val="274429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ED2F49-13FC-E03C-3D43-FD992B215E70}"/>
              </a:ext>
            </a:extLst>
          </p:cNvPr>
          <p:cNvSpPr>
            <a:spLocks noGrp="1"/>
          </p:cNvSpPr>
          <p:nvPr>
            <p:ph type="title"/>
          </p:nvPr>
        </p:nvSpPr>
        <p:spPr>
          <a:xfrm>
            <a:off x="609599" y="274638"/>
            <a:ext cx="11387959" cy="655528"/>
          </a:xfrm>
        </p:spPr>
        <p:txBody>
          <a:bodyPr>
            <a:normAutofit fontScale="90000"/>
          </a:bodyPr>
          <a:lstStyle/>
          <a:p>
            <a:br>
              <a:rPr lang="en-US" sz="4800" dirty="0">
                <a:solidFill>
                  <a:schemeClr val="bg2">
                    <a:lumMod val="60000"/>
                    <a:lumOff val="40000"/>
                  </a:schemeClr>
                </a:solidFill>
              </a:rPr>
            </a:br>
            <a:r>
              <a:rPr lang="en-US" sz="4800" dirty="0">
                <a:solidFill>
                  <a:schemeClr val="bg2">
                    <a:lumMod val="60000"/>
                    <a:lumOff val="40000"/>
                  </a:schemeClr>
                </a:solidFill>
              </a:rPr>
              <a:t>Data Extraction ,Transformation and Loading(ETL)</a:t>
            </a:r>
            <a:br>
              <a:rPr lang="en-US" sz="4800" dirty="0">
                <a:solidFill>
                  <a:schemeClr val="bg2">
                    <a:lumMod val="60000"/>
                    <a:lumOff val="40000"/>
                  </a:schemeClr>
                </a:solidFill>
              </a:rPr>
            </a:br>
            <a:endParaRPr lang="en-IN" dirty="0">
              <a:solidFill>
                <a:schemeClr val="bg2">
                  <a:lumMod val="60000"/>
                  <a:lumOff val="40000"/>
                </a:schemeClr>
              </a:solidFill>
            </a:endParaRPr>
          </a:p>
        </p:txBody>
      </p:sp>
      <p:sp>
        <p:nvSpPr>
          <p:cNvPr id="3" name="Text Placeholder 2">
            <a:extLst>
              <a:ext uri="{FF2B5EF4-FFF2-40B4-BE49-F238E27FC236}">
                <a16:creationId xmlns:a16="http://schemas.microsoft.com/office/drawing/2014/main" id="{68ED88FE-71F9-732D-B75E-98DE5EFDEBFA}"/>
              </a:ext>
            </a:extLst>
          </p:cNvPr>
          <p:cNvSpPr>
            <a:spLocks noGrp="1"/>
          </p:cNvSpPr>
          <p:nvPr>
            <p:ph type="body" idx="1"/>
          </p:nvPr>
        </p:nvSpPr>
        <p:spPr>
          <a:xfrm>
            <a:off x="609600" y="930167"/>
            <a:ext cx="10972800" cy="5195998"/>
          </a:xfrm>
        </p:spPr>
        <p:txBody>
          <a:bodyPr>
            <a:normAutofit/>
          </a:bodyPr>
          <a:lstStyle/>
          <a:p>
            <a:pPr algn="just"/>
            <a:r>
              <a:rPr lang="en-US" sz="3200" dirty="0">
                <a:latin typeface="Times New Roman" panose="02020603050405020304" pitchFamily="18" charset="0"/>
                <a:cs typeface="Times New Roman" panose="02020603050405020304" pitchFamily="18" charset="0"/>
              </a:rPr>
              <a:t>DBAs are responsible for Data extraction, transformation, and loading, also known as (ETL), which refers to the efficient import of large amount of data extracted from multiple systems into a data warehouse environment. </a:t>
            </a:r>
          </a:p>
          <a:p>
            <a:pPr algn="just"/>
            <a:r>
              <a:rPr lang="en-US" sz="3200" dirty="0">
                <a:latin typeface="Times New Roman" panose="02020603050405020304" pitchFamily="18" charset="0"/>
                <a:cs typeface="Times New Roman" panose="02020603050405020304" pitchFamily="18" charset="0"/>
              </a:rPr>
              <a:t>The external data is cleaned and transformed to fit the required format before being imported into a central repository.</a:t>
            </a:r>
            <a:endParaRPr lang="en-IN" sz="3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D0320EC2-8CC4-85F5-7DAC-B8D5196D8B53}"/>
              </a:ext>
            </a:extLst>
          </p:cNvPr>
          <p:cNvPicPr>
            <a:picLocks noChangeAspect="1"/>
          </p:cNvPicPr>
          <p:nvPr/>
        </p:nvPicPr>
        <p:blipFill>
          <a:blip r:embed="rId2"/>
          <a:stretch>
            <a:fillRect/>
          </a:stretch>
        </p:blipFill>
        <p:spPr>
          <a:xfrm>
            <a:off x="2049518" y="4152139"/>
            <a:ext cx="8592206" cy="2595502"/>
          </a:xfrm>
          <a:prstGeom prst="rect">
            <a:avLst/>
          </a:prstGeom>
        </p:spPr>
      </p:pic>
    </p:spTree>
    <p:extLst>
      <p:ext uri="{BB962C8B-B14F-4D97-AF65-F5344CB8AC3E}">
        <p14:creationId xmlns:p14="http://schemas.microsoft.com/office/powerpoint/2010/main" val="2367245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54DF4F-6D30-8E9C-FB81-00238DB8E31D}"/>
              </a:ext>
            </a:extLst>
          </p:cNvPr>
          <p:cNvSpPr>
            <a:spLocks noGrp="1"/>
          </p:cNvSpPr>
          <p:nvPr>
            <p:ph type="title"/>
          </p:nvPr>
        </p:nvSpPr>
        <p:spPr>
          <a:xfrm>
            <a:off x="609600" y="274638"/>
            <a:ext cx="10972800" cy="457198"/>
          </a:xfrm>
        </p:spPr>
        <p:txBody>
          <a:bodyPr>
            <a:normAutofit fontScale="90000"/>
          </a:bodyPr>
          <a:lstStyle/>
          <a:p>
            <a:br>
              <a:rPr lang="en-US" sz="4800" b="1" dirty="0"/>
            </a:br>
            <a:r>
              <a:rPr lang="en-US" sz="4800" b="1" dirty="0">
                <a:solidFill>
                  <a:schemeClr val="bg2">
                    <a:lumMod val="60000"/>
                    <a:lumOff val="40000"/>
                  </a:schemeClr>
                </a:solidFill>
              </a:rPr>
              <a:t>Data Handling</a:t>
            </a:r>
            <a:br>
              <a:rPr lang="en-US" sz="4800" b="1" dirty="0"/>
            </a:br>
            <a:endParaRPr lang="en-IN" b="1" dirty="0"/>
          </a:p>
        </p:txBody>
      </p:sp>
      <p:sp>
        <p:nvSpPr>
          <p:cNvPr id="3" name="Text Placeholder 2">
            <a:extLst>
              <a:ext uri="{FF2B5EF4-FFF2-40B4-BE49-F238E27FC236}">
                <a16:creationId xmlns:a16="http://schemas.microsoft.com/office/drawing/2014/main" id="{6ACCCEF7-528D-6393-439C-E89B6B832537}"/>
              </a:ext>
            </a:extLst>
          </p:cNvPr>
          <p:cNvSpPr>
            <a:spLocks noGrp="1"/>
          </p:cNvSpPr>
          <p:nvPr>
            <p:ph type="body" idx="1"/>
          </p:nvPr>
        </p:nvSpPr>
        <p:spPr>
          <a:xfrm>
            <a:off x="609599" y="731836"/>
            <a:ext cx="11435255" cy="5394329"/>
          </a:xfrm>
        </p:spPr>
        <p:txBody>
          <a:bodyPr/>
          <a:lstStyle/>
          <a:p>
            <a:r>
              <a:rPr lang="en-US" dirty="0"/>
              <a:t>Each company's success today revolves around massive databases.</a:t>
            </a:r>
          </a:p>
          <a:p>
            <a:r>
              <a:rPr lang="en-US" dirty="0"/>
              <a:t> Companies nowadays maintain massive databases containing unstructured data types such as images, documents, or sound and video files.</a:t>
            </a:r>
          </a:p>
          <a:p>
            <a:endParaRPr lang="en-IN" dirty="0"/>
          </a:p>
        </p:txBody>
      </p:sp>
      <p:pic>
        <p:nvPicPr>
          <p:cNvPr id="5" name="Picture 4">
            <a:extLst>
              <a:ext uri="{FF2B5EF4-FFF2-40B4-BE49-F238E27FC236}">
                <a16:creationId xmlns:a16="http://schemas.microsoft.com/office/drawing/2014/main" id="{A45F54DA-4CE5-3380-D17D-9E9916015DBB}"/>
              </a:ext>
            </a:extLst>
          </p:cNvPr>
          <p:cNvPicPr>
            <a:picLocks noChangeAspect="1"/>
          </p:cNvPicPr>
          <p:nvPr/>
        </p:nvPicPr>
        <p:blipFill>
          <a:blip r:embed="rId2"/>
          <a:stretch>
            <a:fillRect/>
          </a:stretch>
        </p:blipFill>
        <p:spPr>
          <a:xfrm>
            <a:off x="609600" y="3547240"/>
            <a:ext cx="4934639" cy="3036121"/>
          </a:xfrm>
          <a:prstGeom prst="rect">
            <a:avLst/>
          </a:prstGeom>
        </p:spPr>
      </p:pic>
      <p:pic>
        <p:nvPicPr>
          <p:cNvPr id="7" name="Picture 6">
            <a:extLst>
              <a:ext uri="{FF2B5EF4-FFF2-40B4-BE49-F238E27FC236}">
                <a16:creationId xmlns:a16="http://schemas.microsoft.com/office/drawing/2014/main" id="{ABCD33F7-93ED-31EF-BA48-8BDB8D40EBCD}"/>
              </a:ext>
            </a:extLst>
          </p:cNvPr>
          <p:cNvPicPr>
            <a:picLocks noChangeAspect="1"/>
          </p:cNvPicPr>
          <p:nvPr/>
        </p:nvPicPr>
        <p:blipFill>
          <a:blip r:embed="rId3"/>
          <a:stretch>
            <a:fillRect/>
          </a:stretch>
        </p:blipFill>
        <p:spPr>
          <a:xfrm>
            <a:off x="6096000" y="3334884"/>
            <a:ext cx="5439534" cy="3248478"/>
          </a:xfrm>
          <a:prstGeom prst="rect">
            <a:avLst/>
          </a:prstGeom>
        </p:spPr>
      </p:pic>
    </p:spTree>
    <p:extLst>
      <p:ext uri="{BB962C8B-B14F-4D97-AF65-F5344CB8AC3E}">
        <p14:creationId xmlns:p14="http://schemas.microsoft.com/office/powerpoint/2010/main" val="3659617420"/>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D3548A-4A9E-83E2-2C2F-A8AC5FE4FAD3}"/>
              </a:ext>
            </a:extLst>
          </p:cNvPr>
          <p:cNvSpPr>
            <a:spLocks noGrp="1"/>
          </p:cNvSpPr>
          <p:nvPr>
            <p:ph type="title"/>
          </p:nvPr>
        </p:nvSpPr>
        <p:spPr>
          <a:xfrm>
            <a:off x="572814" y="164277"/>
            <a:ext cx="10972800" cy="685802"/>
          </a:xfrm>
        </p:spPr>
        <p:txBody>
          <a:bodyPr>
            <a:normAutofit fontScale="90000"/>
          </a:bodyPr>
          <a:lstStyle/>
          <a:p>
            <a:r>
              <a:rPr lang="en-US" sz="4800" b="1" dirty="0">
                <a:solidFill>
                  <a:schemeClr val="bg2">
                    <a:lumMod val="60000"/>
                    <a:lumOff val="40000"/>
                  </a:schemeClr>
                </a:solidFill>
              </a:rPr>
              <a:t>Monitoring Performance</a:t>
            </a:r>
            <a:endParaRPr lang="en-IN" b="1" dirty="0">
              <a:solidFill>
                <a:schemeClr val="bg2">
                  <a:lumMod val="60000"/>
                  <a:lumOff val="40000"/>
                </a:schemeClr>
              </a:solidFill>
            </a:endParaRPr>
          </a:p>
        </p:txBody>
      </p:sp>
      <p:sp>
        <p:nvSpPr>
          <p:cNvPr id="3" name="Text Placeholder 2">
            <a:extLst>
              <a:ext uri="{FF2B5EF4-FFF2-40B4-BE49-F238E27FC236}">
                <a16:creationId xmlns:a16="http://schemas.microsoft.com/office/drawing/2014/main" id="{10C80EA5-667D-43E5-B29C-3343F70A2AC4}"/>
              </a:ext>
            </a:extLst>
          </p:cNvPr>
          <p:cNvSpPr>
            <a:spLocks noGrp="1"/>
          </p:cNvSpPr>
          <p:nvPr>
            <p:ph type="body" idx="1"/>
          </p:nvPr>
        </p:nvSpPr>
        <p:spPr>
          <a:xfrm>
            <a:off x="609600" y="850079"/>
            <a:ext cx="10972800" cy="5276085"/>
          </a:xfrm>
        </p:spPr>
        <p:txBody>
          <a:bodyPr>
            <a:normAutofit/>
          </a:bodyPr>
          <a:lstStyle/>
          <a:p>
            <a:r>
              <a:rPr lang="en-US" sz="3200" dirty="0">
                <a:latin typeface="Times New Roman" panose="02020603050405020304" pitchFamily="18" charset="0"/>
                <a:cs typeface="Times New Roman" panose="02020603050405020304" pitchFamily="18" charset="0"/>
              </a:rPr>
              <a:t>Only implementing a database is not the task of the database administrator. </a:t>
            </a:r>
          </a:p>
          <a:p>
            <a:r>
              <a:rPr lang="en-US" sz="3200" dirty="0">
                <a:latin typeface="Times New Roman" panose="02020603050405020304" pitchFamily="18" charset="0"/>
                <a:cs typeface="Times New Roman" panose="02020603050405020304" pitchFamily="18" charset="0"/>
              </a:rPr>
              <a:t>Once the database is implemented, they are required to monitor databases for performance issues. If a system component slows down processing, the DBA may need to change the software configuration or add more hardware capacity.</a:t>
            </a:r>
          </a:p>
          <a:p>
            <a:endParaRPr lang="en-IN" sz="3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59952B1C-974E-7967-CD87-ED56A3A61DC9}"/>
              </a:ext>
            </a:extLst>
          </p:cNvPr>
          <p:cNvPicPr>
            <a:picLocks noChangeAspect="1"/>
          </p:cNvPicPr>
          <p:nvPr/>
        </p:nvPicPr>
        <p:blipFill>
          <a:blip r:embed="rId2"/>
          <a:stretch>
            <a:fillRect/>
          </a:stretch>
        </p:blipFill>
        <p:spPr>
          <a:xfrm>
            <a:off x="1300654" y="3988676"/>
            <a:ext cx="10244959" cy="2705047"/>
          </a:xfrm>
          <a:prstGeom prst="rect">
            <a:avLst/>
          </a:prstGeom>
        </p:spPr>
      </p:pic>
    </p:spTree>
    <p:extLst>
      <p:ext uri="{BB962C8B-B14F-4D97-AF65-F5344CB8AC3E}">
        <p14:creationId xmlns:p14="http://schemas.microsoft.com/office/powerpoint/2010/main" val="3000798973"/>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45C130-BD55-9FBF-30BF-991E2A7A1315}"/>
              </a:ext>
            </a:extLst>
          </p:cNvPr>
          <p:cNvSpPr>
            <a:spLocks noGrp="1"/>
          </p:cNvSpPr>
          <p:nvPr>
            <p:ph type="title"/>
          </p:nvPr>
        </p:nvSpPr>
        <p:spPr>
          <a:xfrm>
            <a:off x="609600" y="195808"/>
            <a:ext cx="10972800" cy="685802"/>
          </a:xfrm>
        </p:spPr>
        <p:txBody>
          <a:bodyPr>
            <a:normAutofit fontScale="90000"/>
          </a:bodyPr>
          <a:lstStyle/>
          <a:p>
            <a:br>
              <a:rPr lang="en-US" sz="4800" b="1" dirty="0">
                <a:solidFill>
                  <a:schemeClr val="bg2">
                    <a:lumMod val="60000"/>
                    <a:lumOff val="40000"/>
                  </a:schemeClr>
                </a:solidFill>
              </a:rPr>
            </a:br>
            <a:r>
              <a:rPr lang="en-US" sz="4800" b="1" dirty="0">
                <a:solidFill>
                  <a:schemeClr val="bg2">
                    <a:lumMod val="60000"/>
                    <a:lumOff val="40000"/>
                  </a:schemeClr>
                </a:solidFill>
              </a:rPr>
              <a:t>Database Backup and recovery</a:t>
            </a:r>
            <a:br>
              <a:rPr lang="en-US" sz="4800" b="1" dirty="0">
                <a:solidFill>
                  <a:schemeClr val="bg2">
                    <a:lumMod val="60000"/>
                    <a:lumOff val="40000"/>
                  </a:schemeClr>
                </a:solidFill>
              </a:rPr>
            </a:br>
            <a:endParaRPr lang="en-IN" b="1" dirty="0">
              <a:solidFill>
                <a:schemeClr val="bg2">
                  <a:lumMod val="60000"/>
                  <a:lumOff val="40000"/>
                </a:schemeClr>
              </a:solidFill>
            </a:endParaRPr>
          </a:p>
        </p:txBody>
      </p:sp>
      <p:sp>
        <p:nvSpPr>
          <p:cNvPr id="3" name="Text Placeholder 2">
            <a:extLst>
              <a:ext uri="{FF2B5EF4-FFF2-40B4-BE49-F238E27FC236}">
                <a16:creationId xmlns:a16="http://schemas.microsoft.com/office/drawing/2014/main" id="{5D29805A-460A-872C-FC06-6419F935553C}"/>
              </a:ext>
            </a:extLst>
          </p:cNvPr>
          <p:cNvSpPr>
            <a:spLocks noGrp="1"/>
          </p:cNvSpPr>
          <p:nvPr>
            <p:ph type="body" idx="1"/>
          </p:nvPr>
        </p:nvSpPr>
        <p:spPr>
          <a:xfrm>
            <a:off x="609600" y="881611"/>
            <a:ext cx="10972800" cy="5244554"/>
          </a:xfrm>
        </p:spPr>
        <p:txBody>
          <a:bodyPr>
            <a:normAutofit/>
          </a:bodyPr>
          <a:lstStyle/>
          <a:p>
            <a:r>
              <a:rPr lang="en-US" sz="3200" dirty="0">
                <a:latin typeface="Times New Roman" panose="02020603050405020304" pitchFamily="18" charset="0"/>
                <a:cs typeface="Times New Roman" panose="02020603050405020304" pitchFamily="18" charset="0"/>
              </a:rPr>
              <a:t>DBAs create backup and recovery plans and procedures as per the industry standards. Not only that, but DBAS make certain that all necessary steps are taken. DBAs are responsible for ensuring that everything is completed on time, in addition to taking the required precautions to keep data safe.</a:t>
            </a:r>
            <a:endParaRPr lang="en-IN" sz="3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E6130FDB-F84B-658B-6232-AD1F52BB69D9}"/>
              </a:ext>
            </a:extLst>
          </p:cNvPr>
          <p:cNvPicPr>
            <a:picLocks noChangeAspect="1"/>
          </p:cNvPicPr>
          <p:nvPr/>
        </p:nvPicPr>
        <p:blipFill>
          <a:blip r:embed="rId2"/>
          <a:stretch>
            <a:fillRect/>
          </a:stretch>
        </p:blipFill>
        <p:spPr>
          <a:xfrm>
            <a:off x="3216824" y="3657601"/>
            <a:ext cx="5312322" cy="2711668"/>
          </a:xfrm>
          <a:prstGeom prst="rect">
            <a:avLst/>
          </a:prstGeom>
        </p:spPr>
      </p:pic>
    </p:spTree>
    <p:extLst>
      <p:ext uri="{BB962C8B-B14F-4D97-AF65-F5344CB8AC3E}">
        <p14:creationId xmlns:p14="http://schemas.microsoft.com/office/powerpoint/2010/main" val="4195698840"/>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EB7219-8F12-EC01-83FD-D160551FF17D}"/>
              </a:ext>
            </a:extLst>
          </p:cNvPr>
          <p:cNvSpPr>
            <a:spLocks noGrp="1"/>
          </p:cNvSpPr>
          <p:nvPr>
            <p:ph type="title"/>
          </p:nvPr>
        </p:nvSpPr>
        <p:spPr>
          <a:xfrm>
            <a:off x="609600" y="388935"/>
            <a:ext cx="10972800" cy="685802"/>
          </a:xfrm>
        </p:spPr>
        <p:txBody>
          <a:bodyPr>
            <a:normAutofit fontScale="90000"/>
          </a:bodyPr>
          <a:lstStyle/>
          <a:p>
            <a:r>
              <a:rPr lang="en-IN" b="1" dirty="0">
                <a:solidFill>
                  <a:schemeClr val="bg2">
                    <a:lumMod val="60000"/>
                    <a:lumOff val="40000"/>
                  </a:schemeClr>
                </a:solidFill>
              </a:rPr>
              <a:t>Database Security</a:t>
            </a:r>
          </a:p>
        </p:txBody>
      </p:sp>
      <p:sp>
        <p:nvSpPr>
          <p:cNvPr id="3" name="Text Placeholder 2">
            <a:extLst>
              <a:ext uri="{FF2B5EF4-FFF2-40B4-BE49-F238E27FC236}">
                <a16:creationId xmlns:a16="http://schemas.microsoft.com/office/drawing/2014/main" id="{CD629579-6B99-A18A-B3C0-95BE2D9214DE}"/>
              </a:ext>
            </a:extLst>
          </p:cNvPr>
          <p:cNvSpPr>
            <a:spLocks noGrp="1"/>
          </p:cNvSpPr>
          <p:nvPr>
            <p:ph type="body" idx="1"/>
          </p:nvPr>
        </p:nvSpPr>
        <p:spPr>
          <a:xfrm>
            <a:off x="609600" y="1261241"/>
            <a:ext cx="10972800" cy="4864923"/>
          </a:xfrm>
        </p:spPr>
        <p:txBody>
          <a:bodyPr>
            <a:normAutofit/>
          </a:bodyPr>
          <a:lstStyle/>
          <a:p>
            <a:r>
              <a:rPr lang="en-US" sz="3200" dirty="0">
                <a:latin typeface="Times New Roman" panose="02020603050405020304" pitchFamily="18" charset="0"/>
                <a:cs typeface="Times New Roman" panose="02020603050405020304" pitchFamily="18" charset="0"/>
              </a:rPr>
              <a:t>One of the most critical responsibilities of a DBA is identifying and correcting any flaws in the database software. No system is entirely secure; however, DBAs mitigate risks by implementing best practices.</a:t>
            </a:r>
            <a:endParaRPr lang="en-IN" sz="3200"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901CD46E-D68B-EF9C-33BA-99015038833D}"/>
              </a:ext>
            </a:extLst>
          </p:cNvPr>
          <p:cNvPicPr>
            <a:picLocks noChangeAspect="1"/>
          </p:cNvPicPr>
          <p:nvPr/>
        </p:nvPicPr>
        <p:blipFill>
          <a:blip r:embed="rId2"/>
          <a:stretch>
            <a:fillRect/>
          </a:stretch>
        </p:blipFill>
        <p:spPr>
          <a:xfrm>
            <a:off x="4585135" y="3429000"/>
            <a:ext cx="4338148" cy="2883667"/>
          </a:xfrm>
          <a:prstGeom prst="rect">
            <a:avLst/>
          </a:prstGeom>
        </p:spPr>
      </p:pic>
    </p:spTree>
    <p:extLst>
      <p:ext uri="{BB962C8B-B14F-4D97-AF65-F5344CB8AC3E}">
        <p14:creationId xmlns:p14="http://schemas.microsoft.com/office/powerpoint/2010/main" val="1063354252"/>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6E75C-F554-E37C-96EC-E4D181EE642B}"/>
              </a:ext>
            </a:extLst>
          </p:cNvPr>
          <p:cNvSpPr>
            <a:spLocks noGrp="1"/>
          </p:cNvSpPr>
          <p:nvPr>
            <p:ph type="title"/>
          </p:nvPr>
        </p:nvSpPr>
        <p:spPr>
          <a:xfrm>
            <a:off x="609600" y="268014"/>
            <a:ext cx="10972800" cy="646386"/>
          </a:xfrm>
        </p:spPr>
        <p:txBody>
          <a:bodyPr>
            <a:normAutofit fontScale="90000"/>
          </a:bodyPr>
          <a:lstStyle/>
          <a:p>
            <a:r>
              <a:rPr lang="en-US" sz="4800" b="1" dirty="0">
                <a:solidFill>
                  <a:schemeClr val="bg2">
                    <a:lumMod val="60000"/>
                    <a:lumOff val="40000"/>
                  </a:schemeClr>
                </a:solidFill>
              </a:rPr>
              <a:t>Authentication and Access control</a:t>
            </a:r>
            <a:endParaRPr lang="en-IN" b="1" dirty="0">
              <a:solidFill>
                <a:schemeClr val="bg2">
                  <a:lumMod val="60000"/>
                  <a:lumOff val="40000"/>
                </a:schemeClr>
              </a:solidFill>
            </a:endParaRPr>
          </a:p>
        </p:txBody>
      </p:sp>
      <p:sp>
        <p:nvSpPr>
          <p:cNvPr id="3" name="Text Placeholder 2">
            <a:extLst>
              <a:ext uri="{FF2B5EF4-FFF2-40B4-BE49-F238E27FC236}">
                <a16:creationId xmlns:a16="http://schemas.microsoft.com/office/drawing/2014/main" id="{64FDF7A4-72D1-B1D7-7F1D-6DF76944AC67}"/>
              </a:ext>
            </a:extLst>
          </p:cNvPr>
          <p:cNvSpPr>
            <a:spLocks noGrp="1"/>
          </p:cNvSpPr>
          <p:nvPr>
            <p:ph type="body" idx="1"/>
          </p:nvPr>
        </p:nvSpPr>
        <p:spPr>
          <a:xfrm>
            <a:off x="609600" y="914401"/>
            <a:ext cx="10972800" cy="5211764"/>
          </a:xfrm>
        </p:spPr>
        <p:txBody>
          <a:bodyPr>
            <a:normAutofit/>
          </a:bodyPr>
          <a:lstStyle/>
          <a:p>
            <a:pPr algn="just"/>
            <a:r>
              <a:rPr lang="en-US" sz="3200" dirty="0">
                <a:latin typeface="Times New Roman" panose="02020603050405020304" pitchFamily="18" charset="0"/>
                <a:cs typeface="Times New Roman" panose="02020603050405020304" pitchFamily="18" charset="0"/>
              </a:rPr>
              <a:t>Setting up client access is an important aspect of database security. DBAS control who has access and what type of access they are allowed. For instance, a user may have permission to see only certain pieces of information, or they may be denied the ability to make changes to the system.</a:t>
            </a:r>
            <a:endParaRPr lang="en-IN" sz="32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6C13A9A7-DC14-3FF2-0754-BD4EEEF7F240}"/>
              </a:ext>
            </a:extLst>
          </p:cNvPr>
          <p:cNvPicPr>
            <a:picLocks noChangeAspect="1"/>
          </p:cNvPicPr>
          <p:nvPr/>
        </p:nvPicPr>
        <p:blipFill>
          <a:blip r:embed="rId2"/>
          <a:stretch>
            <a:fillRect/>
          </a:stretch>
        </p:blipFill>
        <p:spPr>
          <a:xfrm>
            <a:off x="1661223" y="3578772"/>
            <a:ext cx="8049748" cy="2890276"/>
          </a:xfrm>
          <a:prstGeom prst="rect">
            <a:avLst/>
          </a:prstGeom>
        </p:spPr>
      </p:pic>
    </p:spTree>
    <p:extLst>
      <p:ext uri="{BB962C8B-B14F-4D97-AF65-F5344CB8AC3E}">
        <p14:creationId xmlns:p14="http://schemas.microsoft.com/office/powerpoint/2010/main" val="2929391673"/>
      </p:ext>
    </p:extLst>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13354</TotalTime>
  <Words>5063</Words>
  <Application>Microsoft Office PowerPoint</Application>
  <PresentationFormat>Widescreen</PresentationFormat>
  <Paragraphs>516</Paragraphs>
  <Slides>100</Slides>
  <Notes>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100</vt:i4>
      </vt:variant>
    </vt:vector>
  </HeadingPairs>
  <TitlesOfParts>
    <vt:vector size="110" baseType="lpstr">
      <vt:lpstr>Arial</vt:lpstr>
      <vt:lpstr>Bahnschrift SemiLight</vt:lpstr>
      <vt:lpstr>Bodoni MT</vt:lpstr>
      <vt:lpstr>Calibri</vt:lpstr>
      <vt:lpstr>Constantia</vt:lpstr>
      <vt:lpstr>Noto Sans Symbols</vt:lpstr>
      <vt:lpstr>Stencil</vt:lpstr>
      <vt:lpstr>Times New Roman</vt:lpstr>
      <vt:lpstr>Wingdings</vt:lpstr>
      <vt:lpstr>Office Theme</vt:lpstr>
      <vt:lpstr>DBMS UNIT-1</vt:lpstr>
      <vt:lpstr>DBMS </vt:lpstr>
      <vt:lpstr>DBMS </vt:lpstr>
      <vt:lpstr>DBMS definition</vt:lpstr>
      <vt:lpstr>A Historical Perspective or History of Data base Systems</vt:lpstr>
      <vt:lpstr>A Historical Perspective or History of Data base Systems</vt:lpstr>
      <vt:lpstr>DBMS APPLICATIONS</vt:lpstr>
      <vt:lpstr>What is a File System?</vt:lpstr>
      <vt:lpstr>Drawbacks of using file systems to store data</vt:lpstr>
      <vt:lpstr>Cont…</vt:lpstr>
      <vt:lpstr>PowerPoint Presentation</vt:lpstr>
      <vt:lpstr>PowerPoint Presentation</vt:lpstr>
      <vt:lpstr>Data Models</vt:lpstr>
      <vt:lpstr>Hierarchical Model </vt:lpstr>
      <vt:lpstr>Network Model </vt:lpstr>
      <vt:lpstr>Entity-Relationship Data Model</vt:lpstr>
      <vt:lpstr>Cont..</vt:lpstr>
      <vt:lpstr>Relational Data Model</vt:lpstr>
      <vt:lpstr> Object-based Data Model</vt:lpstr>
      <vt:lpstr>PowerPoint Presentation</vt:lpstr>
      <vt:lpstr>Database Design</vt:lpstr>
      <vt:lpstr> Requirement Analysis </vt:lpstr>
      <vt:lpstr> Conceptual database design </vt:lpstr>
      <vt:lpstr> Logical database design </vt:lpstr>
      <vt:lpstr>Schema refinement </vt:lpstr>
      <vt:lpstr>Physical database design </vt:lpstr>
      <vt:lpstr>Security</vt:lpstr>
      <vt:lpstr>PowerPoint Presentation</vt:lpstr>
      <vt:lpstr>ER (Entity Relationship) Model</vt:lpstr>
      <vt:lpstr>Components of ER Diagram </vt:lpstr>
      <vt:lpstr>E-R Model</vt:lpstr>
      <vt:lpstr>PowerPoint Presentation</vt:lpstr>
      <vt:lpstr>PowerPoint Presentation</vt:lpstr>
      <vt:lpstr>Weak Entity Example</vt:lpstr>
      <vt:lpstr>    Attribute </vt:lpstr>
      <vt:lpstr>  Key Attribute </vt:lpstr>
      <vt:lpstr>PowerPoint Presentation</vt:lpstr>
      <vt:lpstr>PowerPoint Presentation</vt:lpstr>
      <vt:lpstr>PowerPoint Presentation</vt:lpstr>
      <vt:lpstr>Symbols Used in ER Model</vt:lpstr>
      <vt:lpstr>PowerPoint Presentation</vt:lpstr>
      <vt:lpstr> Relationships and Relationship sets </vt:lpstr>
      <vt:lpstr>Degree of Relationship </vt:lpstr>
      <vt:lpstr>PowerPoint Presentation</vt:lpstr>
      <vt:lpstr>PowerPoint Presentation</vt:lpstr>
      <vt:lpstr>What is Cardinality?</vt:lpstr>
      <vt:lpstr>One-to-One</vt:lpstr>
      <vt:lpstr>One-to-Many</vt:lpstr>
      <vt:lpstr>One-to-Many</vt:lpstr>
      <vt:lpstr>Many-to-One</vt:lpstr>
      <vt:lpstr>Many-to-One</vt:lpstr>
      <vt:lpstr>Many-to-Many:</vt:lpstr>
      <vt:lpstr>key</vt:lpstr>
      <vt:lpstr>ADDITIONAL FEATURES OF E-R MODEL</vt:lpstr>
      <vt:lpstr>PowerPoint Presentation</vt:lpstr>
      <vt:lpstr>Specialization</vt:lpstr>
      <vt:lpstr>PowerPoint Presentation</vt:lpstr>
      <vt:lpstr>Generalization</vt:lpstr>
      <vt:lpstr>PowerPoint Presentation</vt:lpstr>
      <vt:lpstr>Aggregation</vt:lpstr>
      <vt:lpstr>PowerPoint Presentation</vt:lpstr>
      <vt:lpstr>PowerPoint Presentation</vt:lpstr>
      <vt:lpstr>SQL</vt:lpstr>
      <vt:lpstr>Database Languages</vt:lpstr>
      <vt:lpstr>PowerPoint Presentation</vt:lpstr>
      <vt:lpstr>DDL(Data Definition Language)</vt:lpstr>
      <vt:lpstr>DML(Data Manipulation Language)</vt:lpstr>
      <vt:lpstr>TCL(Transaction Control Language)</vt:lpstr>
      <vt:lpstr>DCL(Data Control Language)</vt:lpstr>
      <vt:lpstr>DBMS ARCHITECTURE</vt:lpstr>
      <vt:lpstr>DBMS ARCHITECTURE</vt:lpstr>
      <vt:lpstr>PowerPoint Presentation</vt:lpstr>
      <vt:lpstr>1-Tier Architecture</vt:lpstr>
      <vt:lpstr>2-Tier Architecture</vt:lpstr>
      <vt:lpstr>3-Tier Architecture</vt:lpstr>
      <vt:lpstr>Levels of abstraction </vt:lpstr>
      <vt:lpstr>View of Data</vt:lpstr>
      <vt:lpstr>Three Schema Architecture of DBMS or  logical Architecture of DBMS</vt:lpstr>
      <vt:lpstr>PowerPoint Presentation</vt:lpstr>
      <vt:lpstr>PowerPoint Presentation</vt:lpstr>
      <vt:lpstr>PowerPoint Presentation</vt:lpstr>
      <vt:lpstr>PowerPoint Presentation</vt:lpstr>
      <vt:lpstr>Logical Data Independence</vt:lpstr>
      <vt:lpstr>Physical Data Independence </vt:lpstr>
      <vt:lpstr>PowerPoint Presentation</vt:lpstr>
      <vt:lpstr>PowerPoint Presentation</vt:lpstr>
      <vt:lpstr>  Database Users and Administrators </vt:lpstr>
      <vt:lpstr>Database Users</vt:lpstr>
      <vt:lpstr>Query Processing</vt:lpstr>
      <vt:lpstr>Storage Management</vt:lpstr>
      <vt:lpstr>Transaction Management </vt:lpstr>
      <vt:lpstr>Database Administrator(DBA)</vt:lpstr>
      <vt:lpstr>Roles &amp; Responsibilities of DBA</vt:lpstr>
      <vt:lpstr> Software Installing and configuration of db. </vt:lpstr>
      <vt:lpstr> Data Extraction ,Transformation and Loading(ETL) </vt:lpstr>
      <vt:lpstr> Data Handling </vt:lpstr>
      <vt:lpstr>Monitoring Performance</vt:lpstr>
      <vt:lpstr> Database Backup and recovery </vt:lpstr>
      <vt:lpstr>Database Security</vt:lpstr>
      <vt:lpstr>Authentication and Access control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NoSQL databases and MongoDB Unit - 5</dc:title>
  <dc:creator>VENU THUMMA</dc:creator>
  <cp:lastModifiedBy>VENU THUMMA</cp:lastModifiedBy>
  <cp:revision>189</cp:revision>
  <dcterms:created xsi:type="dcterms:W3CDTF">2006-08-16T00:00:00Z</dcterms:created>
  <dcterms:modified xsi:type="dcterms:W3CDTF">2025-09-04T08:16:09Z</dcterms:modified>
</cp:coreProperties>
</file>