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9" r:id="rId6"/>
    <p:sldId id="270" r:id="rId7"/>
    <p:sldId id="261" r:id="rId8"/>
    <p:sldId id="262" r:id="rId9"/>
    <p:sldId id="263"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7" r:id="rId67"/>
    <p:sldId id="328" r:id="rId68"/>
    <p:sldId id="329" r:id="rId69"/>
    <p:sldId id="330" r:id="rId70"/>
    <p:sldId id="331" r:id="rId71"/>
    <p:sldId id="332"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9" d="100"/>
          <a:sy n="89" d="100"/>
        </p:scale>
        <p:origin x="-1258" y="2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F66FE8B-8BDE-4778-8069-57026405FCA0}"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2332741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F66FE8B-8BDE-4778-8069-57026405FCA0}"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2785144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F66FE8B-8BDE-4778-8069-57026405FCA0}"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3319078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F66FE8B-8BDE-4778-8069-57026405FCA0}"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1239529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F66FE8B-8BDE-4778-8069-57026405FCA0}"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1321056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F66FE8B-8BDE-4778-8069-57026405FCA0}" type="datetimeFigureOut">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132048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66FE8B-8BDE-4778-8069-57026405FCA0}" type="datetimeFigureOut">
              <a:rPr lang="en-IN" smtClean="0"/>
              <a:t>14-10-2025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3865676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66FE8B-8BDE-4778-8069-57026405FCA0}"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1941214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66FE8B-8BDE-4778-8069-57026405FCA0}"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1415173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F66FE8B-8BDE-4778-8069-57026405FCA0}"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3879925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F66FE8B-8BDE-4778-8069-57026405FCA0}"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CFFA4D-EB1B-48E3-9E72-22EB5AE1A6C8}" type="slidenum">
              <a:rPr lang="en-IN" smtClean="0"/>
              <a:t>‹#›</a:t>
            </a:fld>
            <a:endParaRPr lang="en-IN"/>
          </a:p>
        </p:txBody>
      </p:sp>
    </p:spTree>
    <p:extLst>
      <p:ext uri="{BB962C8B-B14F-4D97-AF65-F5344CB8AC3E}">
        <p14:creationId xmlns:p14="http://schemas.microsoft.com/office/powerpoint/2010/main" val="534267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66FE8B-8BDE-4778-8069-57026405FCA0}" type="datetimeFigureOut">
              <a:rPr lang="en-IN" smtClean="0"/>
              <a:t>14-10-2025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CFFA4D-EB1B-48E3-9E72-22EB5AE1A6C8}" type="slidenum">
              <a:rPr lang="en-IN" smtClean="0"/>
              <a:t>‹#›</a:t>
            </a:fld>
            <a:endParaRPr lang="en-IN"/>
          </a:p>
        </p:txBody>
      </p:sp>
    </p:spTree>
    <p:extLst>
      <p:ext uri="{BB962C8B-B14F-4D97-AF65-F5344CB8AC3E}">
        <p14:creationId xmlns:p14="http://schemas.microsoft.com/office/powerpoint/2010/main" val="322214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beginnersbook.com/2014/05/sql-drop-database-statement/" TargetMode="External"/><Relationship Id="rId2" Type="http://schemas.openxmlformats.org/officeDocument/2006/relationships/hyperlink" Target="https://beginnersbook.com/2014/05/sql-create-database-statemen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beginnersbook.com/2014/05/update-query-in-sql/" TargetMode="External"/><Relationship Id="rId2" Type="http://schemas.openxmlformats.org/officeDocument/2006/relationships/hyperlink" Target="https://beginnersbook.com/2014/05/sql-select-query/" TargetMode="External"/><Relationship Id="rId1" Type="http://schemas.openxmlformats.org/officeDocument/2006/relationships/slideLayout" Target="../slideLayouts/slideLayout2.xml"/><Relationship Id="rId4" Type="http://schemas.openxmlformats.org/officeDocument/2006/relationships/hyperlink" Target="https://beginnersbook.com/2014/05/delete-query-in-sq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32656"/>
            <a:ext cx="7772400" cy="1470025"/>
          </a:xfrm>
        </p:spPr>
        <p:txBody>
          <a:bodyPr/>
          <a:lstStyle/>
          <a:p>
            <a:r>
              <a:rPr lang="en-IN" dirty="0" smtClean="0"/>
              <a:t>Introduction to DBMS</a:t>
            </a:r>
            <a:endParaRPr lang="en-IN" dirty="0"/>
          </a:p>
        </p:txBody>
      </p:sp>
      <p:sp>
        <p:nvSpPr>
          <p:cNvPr id="3" name="Subtitle 2"/>
          <p:cNvSpPr>
            <a:spLocks noGrp="1"/>
          </p:cNvSpPr>
          <p:nvPr>
            <p:ph type="subTitle" idx="1"/>
          </p:nvPr>
        </p:nvSpPr>
        <p:spPr>
          <a:xfrm>
            <a:off x="1043608" y="1628800"/>
            <a:ext cx="6728792" cy="4010000"/>
          </a:xfrm>
        </p:spPr>
        <p:txBody>
          <a:bodyPr>
            <a:normAutofit fontScale="85000" lnSpcReduction="20000"/>
          </a:bodyPr>
          <a:lstStyle/>
          <a:p>
            <a:pPr algn="l"/>
            <a:r>
              <a:rPr lang="en-IN" dirty="0">
                <a:solidFill>
                  <a:schemeClr val="tx1"/>
                </a:solidFill>
              </a:rPr>
              <a:t>Data Base</a:t>
            </a:r>
            <a:r>
              <a:rPr lang="en-IN" dirty="0" smtClean="0">
                <a:solidFill>
                  <a:schemeClr val="tx1"/>
                </a:solidFill>
              </a:rPr>
              <a:t>:</a:t>
            </a:r>
          </a:p>
          <a:p>
            <a:pPr algn="l"/>
            <a:r>
              <a:rPr lang="en-IN" dirty="0" smtClean="0">
                <a:solidFill>
                  <a:schemeClr val="tx1"/>
                </a:solidFill>
              </a:rPr>
              <a:t>Collection </a:t>
            </a:r>
            <a:r>
              <a:rPr lang="en-IN" dirty="0">
                <a:solidFill>
                  <a:schemeClr val="tx1"/>
                </a:solidFill>
              </a:rPr>
              <a:t>of related </a:t>
            </a:r>
            <a:r>
              <a:rPr lang="en-IN" dirty="0" smtClean="0">
                <a:solidFill>
                  <a:schemeClr val="tx1"/>
                </a:solidFill>
              </a:rPr>
              <a:t>data</a:t>
            </a:r>
          </a:p>
          <a:p>
            <a:pPr algn="l"/>
            <a:r>
              <a:rPr lang="en-IN" dirty="0" smtClean="0">
                <a:solidFill>
                  <a:schemeClr val="tx1"/>
                </a:solidFill>
              </a:rPr>
              <a:t>Ex. the </a:t>
            </a:r>
            <a:r>
              <a:rPr lang="en-IN" dirty="0">
                <a:solidFill>
                  <a:schemeClr val="tx1"/>
                </a:solidFill>
              </a:rPr>
              <a:t>names, telephone numbers and addresses of all the people you </a:t>
            </a:r>
            <a:r>
              <a:rPr lang="en-IN" dirty="0" smtClean="0">
                <a:solidFill>
                  <a:schemeClr val="tx1"/>
                </a:solidFill>
              </a:rPr>
              <a:t>know.</a:t>
            </a:r>
          </a:p>
          <a:p>
            <a:pPr algn="l"/>
            <a:r>
              <a:rPr lang="en-IN" dirty="0" smtClean="0">
                <a:solidFill>
                  <a:schemeClr val="tx1"/>
                </a:solidFill>
              </a:rPr>
              <a:t>DBMS:</a:t>
            </a:r>
          </a:p>
          <a:p>
            <a:pPr algn="l"/>
            <a:r>
              <a:rPr lang="en-IN" dirty="0" smtClean="0">
                <a:solidFill>
                  <a:schemeClr val="tx1"/>
                </a:solidFill>
              </a:rPr>
              <a:t>A </a:t>
            </a:r>
            <a:r>
              <a:rPr lang="en-IN" dirty="0">
                <a:solidFill>
                  <a:schemeClr val="tx1"/>
                </a:solidFill>
              </a:rPr>
              <a:t>DBMS is a set of programs that controls creation, storage, management, and retrieval of data in a database. </a:t>
            </a:r>
            <a:endParaRPr lang="en-IN" dirty="0" smtClean="0">
              <a:solidFill>
                <a:schemeClr val="tx1"/>
              </a:solidFill>
            </a:endParaRPr>
          </a:p>
          <a:p>
            <a:pPr algn="l"/>
            <a:r>
              <a:rPr lang="en-IN" dirty="0" smtClean="0">
                <a:solidFill>
                  <a:schemeClr val="tx1"/>
                </a:solidFill>
              </a:rPr>
              <a:t>Ex</a:t>
            </a:r>
            <a:r>
              <a:rPr lang="en-IN" dirty="0">
                <a:solidFill>
                  <a:schemeClr val="tx1"/>
                </a:solidFill>
              </a:rPr>
              <a:t>: MS-Access, Oracle, MY SQL, Sybase, IBM DB2, Ingres </a:t>
            </a:r>
            <a:r>
              <a:rPr lang="en-IN" dirty="0" err="1">
                <a:solidFill>
                  <a:schemeClr val="tx1"/>
                </a:solidFill>
              </a:rPr>
              <a:t>etc</a:t>
            </a:r>
            <a:endParaRPr lang="en-IN" dirty="0">
              <a:solidFill>
                <a:schemeClr val="tx1"/>
              </a:solidFill>
            </a:endParaRPr>
          </a:p>
        </p:txBody>
      </p:sp>
    </p:spTree>
    <p:extLst>
      <p:ext uri="{BB962C8B-B14F-4D97-AF65-F5344CB8AC3E}">
        <p14:creationId xmlns:p14="http://schemas.microsoft.com/office/powerpoint/2010/main" val="681218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116632"/>
            <a:ext cx="7772400" cy="1470025"/>
          </a:xfrm>
        </p:spPr>
        <p:txBody>
          <a:bodyPr>
            <a:normAutofit/>
          </a:bodyPr>
          <a:lstStyle/>
          <a:p>
            <a:r>
              <a:rPr lang="en-IN" sz="2800" b="1" dirty="0" smtClean="0"/>
              <a:t>Popular DBMS Software</a:t>
            </a:r>
            <a:br>
              <a:rPr lang="en-IN" sz="2800" b="1" dirty="0" smtClean="0"/>
            </a:br>
            <a:r>
              <a:rPr lang="en-IN" sz="2800" dirty="0" smtClean="0"/>
              <a:t>Here, is the list of some popular DBMS system:</a:t>
            </a:r>
            <a:br>
              <a:rPr lang="en-IN" sz="2800" dirty="0" smtClean="0"/>
            </a:br>
            <a:endParaRPr lang="en-IN" sz="2800" dirty="0"/>
          </a:p>
        </p:txBody>
      </p:sp>
      <p:sp>
        <p:nvSpPr>
          <p:cNvPr id="3" name="Subtitle 2"/>
          <p:cNvSpPr>
            <a:spLocks noGrp="1"/>
          </p:cNvSpPr>
          <p:nvPr>
            <p:ph type="subTitle" idx="1"/>
          </p:nvPr>
        </p:nvSpPr>
        <p:spPr>
          <a:xfrm>
            <a:off x="1043608" y="1772816"/>
            <a:ext cx="7776864" cy="3865984"/>
          </a:xfrm>
        </p:spPr>
        <p:txBody>
          <a:bodyPr>
            <a:normAutofit fontScale="70000" lnSpcReduction="20000"/>
          </a:bodyPr>
          <a:lstStyle/>
          <a:p>
            <a:pPr algn="l"/>
            <a:r>
              <a:rPr lang="en-IN" dirty="0" smtClean="0">
                <a:solidFill>
                  <a:schemeClr val="tx1"/>
                </a:solidFill>
              </a:rPr>
              <a:t>MySQL</a:t>
            </a:r>
            <a:endParaRPr lang="en-IN" dirty="0">
              <a:solidFill>
                <a:schemeClr val="tx1"/>
              </a:solidFill>
            </a:endParaRPr>
          </a:p>
          <a:p>
            <a:pPr algn="l"/>
            <a:r>
              <a:rPr lang="en-IN" dirty="0">
                <a:solidFill>
                  <a:schemeClr val="tx1"/>
                </a:solidFill>
              </a:rPr>
              <a:t>Microsoft Access</a:t>
            </a:r>
          </a:p>
          <a:p>
            <a:pPr algn="l"/>
            <a:r>
              <a:rPr lang="en-IN" dirty="0">
                <a:solidFill>
                  <a:schemeClr val="tx1"/>
                </a:solidFill>
              </a:rPr>
              <a:t>Oracle</a:t>
            </a:r>
          </a:p>
          <a:p>
            <a:pPr algn="l"/>
            <a:r>
              <a:rPr lang="en-IN" dirty="0" err="1">
                <a:solidFill>
                  <a:schemeClr val="tx1"/>
                </a:solidFill>
              </a:rPr>
              <a:t>PostgreSQL</a:t>
            </a:r>
            <a:endParaRPr lang="en-IN" dirty="0">
              <a:solidFill>
                <a:schemeClr val="tx1"/>
              </a:solidFill>
            </a:endParaRPr>
          </a:p>
          <a:p>
            <a:pPr algn="l"/>
            <a:r>
              <a:rPr lang="en-IN" dirty="0" err="1">
                <a:solidFill>
                  <a:schemeClr val="tx1"/>
                </a:solidFill>
              </a:rPr>
              <a:t>dBASE</a:t>
            </a:r>
            <a:endParaRPr lang="en-IN" dirty="0">
              <a:solidFill>
                <a:schemeClr val="tx1"/>
              </a:solidFill>
            </a:endParaRPr>
          </a:p>
          <a:p>
            <a:pPr algn="l"/>
            <a:r>
              <a:rPr lang="en-IN" dirty="0">
                <a:solidFill>
                  <a:schemeClr val="tx1"/>
                </a:solidFill>
              </a:rPr>
              <a:t>FoxPro</a:t>
            </a:r>
          </a:p>
          <a:p>
            <a:pPr algn="l"/>
            <a:r>
              <a:rPr lang="en-IN" dirty="0">
                <a:solidFill>
                  <a:schemeClr val="tx1"/>
                </a:solidFill>
              </a:rPr>
              <a:t>SQLite</a:t>
            </a:r>
          </a:p>
          <a:p>
            <a:pPr algn="l"/>
            <a:r>
              <a:rPr lang="en-IN" dirty="0">
                <a:solidFill>
                  <a:schemeClr val="tx1"/>
                </a:solidFill>
              </a:rPr>
              <a:t>IBM DB2</a:t>
            </a:r>
          </a:p>
          <a:p>
            <a:pPr algn="l"/>
            <a:r>
              <a:rPr lang="en-IN" dirty="0" err="1">
                <a:solidFill>
                  <a:schemeClr val="tx1"/>
                </a:solidFill>
              </a:rPr>
              <a:t>LibreOffice</a:t>
            </a:r>
            <a:r>
              <a:rPr lang="en-IN" dirty="0">
                <a:solidFill>
                  <a:schemeClr val="tx1"/>
                </a:solidFill>
              </a:rPr>
              <a:t> Base</a:t>
            </a:r>
          </a:p>
          <a:p>
            <a:pPr algn="l"/>
            <a:r>
              <a:rPr lang="en-IN" dirty="0" err="1">
                <a:solidFill>
                  <a:schemeClr val="tx1"/>
                </a:solidFill>
              </a:rPr>
              <a:t>MariaDB</a:t>
            </a:r>
            <a:endParaRPr lang="en-IN" dirty="0">
              <a:solidFill>
                <a:schemeClr val="tx1"/>
              </a:solidFill>
            </a:endParaRPr>
          </a:p>
          <a:p>
            <a:pPr algn="l"/>
            <a:r>
              <a:rPr lang="en-IN" dirty="0">
                <a:solidFill>
                  <a:schemeClr val="tx1"/>
                </a:solidFill>
              </a:rPr>
              <a:t>Microsoft SQL Server etc.</a:t>
            </a:r>
          </a:p>
          <a:p>
            <a:endParaRPr lang="en-IN" dirty="0"/>
          </a:p>
        </p:txBody>
      </p:sp>
    </p:spTree>
    <p:extLst>
      <p:ext uri="{BB962C8B-B14F-4D97-AF65-F5344CB8AC3E}">
        <p14:creationId xmlns:p14="http://schemas.microsoft.com/office/powerpoint/2010/main" val="1790829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Application of DBMS</a:t>
            </a:r>
            <a:r>
              <a:rPr lang="en-IN" dirty="0" smtClean="0"/>
              <a:t/>
            </a:r>
            <a:br>
              <a:rPr lang="en-IN" dirty="0" smtClean="0"/>
            </a:b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239160423"/>
              </p:ext>
            </p:extLst>
          </p:nvPr>
        </p:nvGraphicFramePr>
        <p:xfrm>
          <a:off x="827584" y="1628801"/>
          <a:ext cx="7920880" cy="4392486"/>
        </p:xfrm>
        <a:graphic>
          <a:graphicData uri="http://schemas.openxmlformats.org/drawingml/2006/table">
            <a:tbl>
              <a:tblPr/>
              <a:tblGrid>
                <a:gridCol w="3960440"/>
                <a:gridCol w="3960440"/>
              </a:tblGrid>
              <a:tr h="1239984">
                <a:tc>
                  <a:txBody>
                    <a:bodyPr/>
                    <a:lstStyle/>
                    <a:p>
                      <a:pPr algn="l" fontAlgn="t"/>
                      <a:r>
                        <a:rPr lang="en-IN">
                          <a:effectLst/>
                        </a:rPr>
                        <a:t>Banking</a:t>
                      </a:r>
                    </a:p>
                  </a:txBody>
                  <a:tcPr marL="50800" marR="50800" marT="50800" marB="50800">
                    <a:lnL w="12700" cap="flat" cmpd="sng" algn="ctr">
                      <a:solidFill>
                        <a:srgbClr val="F04B97"/>
                      </a:solidFill>
                      <a:prstDash val="solid"/>
                      <a:round/>
                      <a:headEnd type="none" w="med" len="med"/>
                      <a:tailEnd type="none" w="med" len="med"/>
                    </a:lnL>
                    <a:lnR w="12700" cap="flat" cmpd="sng" algn="ctr">
                      <a:solidFill>
                        <a:srgbClr val="E0BAC2"/>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For customer information, account activities, payments, deposits, loans, etc.</a:t>
                      </a:r>
                    </a:p>
                  </a:txBody>
                  <a:tcPr marL="50800" marR="50800" marT="50800" marB="50800">
                    <a:lnL w="12700" cap="flat" cmpd="sng" algn="ctr">
                      <a:solidFill>
                        <a:srgbClr val="E0BAC2"/>
                      </a:solidFill>
                      <a:prstDash val="solid"/>
                      <a:round/>
                      <a:headEnd type="none" w="med" len="med"/>
                      <a:tailEnd type="none" w="med" len="med"/>
                    </a:lnL>
                    <a:lnR w="12700" cap="flat" cmpd="sng" algn="ctr">
                      <a:solidFill>
                        <a:srgbClr val="F0E2F9"/>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72534">
                <a:tc>
                  <a:txBody>
                    <a:bodyPr/>
                    <a:lstStyle/>
                    <a:p>
                      <a:pPr algn="l" fontAlgn="t"/>
                      <a:r>
                        <a:rPr lang="en-IN" dirty="0">
                          <a:effectLst/>
                        </a:rPr>
                        <a:t>Airlines</a:t>
                      </a:r>
                    </a:p>
                  </a:txBody>
                  <a:tcPr marL="50800" marR="50800" marT="50800" marB="50800">
                    <a:lnL w="12700" cap="flat" cmpd="sng" algn="ctr">
                      <a:solidFill>
                        <a:srgbClr val="30CA5D"/>
                      </a:solidFill>
                      <a:prstDash val="solid"/>
                      <a:round/>
                      <a:headEnd type="none" w="med" len="med"/>
                      <a:tailEnd type="none" w="med" len="med"/>
                    </a:lnL>
                    <a:lnR w="12700" cap="flat" cmpd="sng" algn="ctr">
                      <a:solidFill>
                        <a:srgbClr val="00FBC3"/>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IN">
                          <a:effectLst/>
                        </a:rPr>
                        <a:t>For reservations and schedule information.</a:t>
                      </a:r>
                    </a:p>
                  </a:txBody>
                  <a:tcPr marL="50800" marR="50800" marT="50800" marB="50800">
                    <a:lnL w="12700" cap="flat" cmpd="sng" algn="ctr">
                      <a:solidFill>
                        <a:srgbClr val="00FBC3"/>
                      </a:solidFill>
                      <a:prstDash val="solid"/>
                      <a:round/>
                      <a:headEnd type="none" w="med" len="med"/>
                      <a:tailEnd type="none" w="med" len="med"/>
                    </a:lnL>
                    <a:lnR w="12700" cap="flat" cmpd="sng" algn="ctr">
                      <a:solidFill>
                        <a:srgbClr val="F0E2F9"/>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r>
              <a:tr h="1239984">
                <a:tc>
                  <a:txBody>
                    <a:bodyPr/>
                    <a:lstStyle/>
                    <a:p>
                      <a:pPr algn="l" fontAlgn="t"/>
                      <a:r>
                        <a:rPr lang="en-IN" dirty="0">
                          <a:effectLst/>
                        </a:rPr>
                        <a:t>Universities</a:t>
                      </a:r>
                    </a:p>
                  </a:txBody>
                  <a:tcPr marL="50800" marR="50800" marT="50800" marB="50800">
                    <a:lnL w="12700" cap="flat" cmpd="sng" algn="ctr">
                      <a:solidFill>
                        <a:srgbClr val="B0B495"/>
                      </a:solidFill>
                      <a:prstDash val="solid"/>
                      <a:round/>
                      <a:headEnd type="none" w="med" len="med"/>
                      <a:tailEnd type="none" w="med" len="med"/>
                    </a:lnL>
                    <a:lnR w="12700" cap="flat" cmpd="sng" algn="ctr">
                      <a:solidFill>
                        <a:srgbClr val="6000C5"/>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For student information, course registrations, colleges and grades.</a:t>
                      </a:r>
                    </a:p>
                  </a:txBody>
                  <a:tcPr marL="50800" marR="50800" marT="50800" marB="50800">
                    <a:lnL w="12700" cap="flat" cmpd="sng" algn="ctr">
                      <a:solidFill>
                        <a:srgbClr val="6000C5"/>
                      </a:solidFill>
                      <a:prstDash val="solid"/>
                      <a:round/>
                      <a:headEnd type="none" w="med" len="med"/>
                      <a:tailEnd type="none" w="med" len="med"/>
                    </a:lnL>
                    <a:lnR w="12700" cap="flat" cmpd="sng" algn="ctr">
                      <a:solidFill>
                        <a:srgbClr val="F0E2F9"/>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239984">
                <a:tc>
                  <a:txBody>
                    <a:bodyPr/>
                    <a:lstStyle/>
                    <a:p>
                      <a:pPr algn="l" fontAlgn="t"/>
                      <a:r>
                        <a:rPr lang="en-IN">
                          <a:effectLst/>
                        </a:rPr>
                        <a:t>Telecommunication</a:t>
                      </a:r>
                    </a:p>
                  </a:txBody>
                  <a:tcPr marL="50800" marR="50800" marT="50800" marB="50800">
                    <a:lnL w="12700" cap="flat" cmpd="sng" algn="ctr">
                      <a:solidFill>
                        <a:srgbClr val="C0E4F9"/>
                      </a:solidFill>
                      <a:prstDash val="solid"/>
                      <a:round/>
                      <a:headEnd type="none" w="med" len="med"/>
                      <a:tailEnd type="none" w="med" len="med"/>
                    </a:lnL>
                    <a:lnR w="12700" cap="flat" cmpd="sng" algn="ctr">
                      <a:solidFill>
                        <a:srgbClr val="704197"/>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70F6C3"/>
                      </a:solidFill>
                      <a:prstDash val="solid"/>
                      <a:round/>
                      <a:headEnd type="none" w="med" len="med"/>
                      <a:tailEnd type="none" w="med" len="med"/>
                    </a:lnB>
                    <a:solidFill>
                      <a:srgbClr val="F9F9F9"/>
                    </a:solidFill>
                  </a:tcPr>
                </a:tc>
                <a:tc>
                  <a:txBody>
                    <a:bodyPr/>
                    <a:lstStyle/>
                    <a:p>
                      <a:pPr algn="l" fontAlgn="t"/>
                      <a:r>
                        <a:rPr lang="en-IN" dirty="0">
                          <a:effectLst/>
                        </a:rPr>
                        <a:t>It helps to keep call records, monthly bills, maintaining balances, etc.</a:t>
                      </a:r>
                    </a:p>
                  </a:txBody>
                  <a:tcPr marL="50800" marR="50800" marT="50800" marB="50800">
                    <a:lnL w="12700" cap="flat" cmpd="sng" algn="ctr">
                      <a:solidFill>
                        <a:srgbClr val="704197"/>
                      </a:solidFill>
                      <a:prstDash val="solid"/>
                      <a:round/>
                      <a:headEnd type="none" w="med" len="med"/>
                      <a:tailEnd type="none" w="med" len="med"/>
                    </a:lnL>
                    <a:lnR w="12700" cap="flat" cmpd="sng" algn="ctr">
                      <a:solidFill>
                        <a:srgbClr val="F0E2F9"/>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E0BAC2"/>
                      </a:solidFill>
                      <a:prstDash val="solid"/>
                      <a:round/>
                      <a:headEnd type="none" w="med" len="med"/>
                      <a:tailEnd type="none" w="med" len="med"/>
                    </a:lnB>
                    <a:solidFill>
                      <a:srgbClr val="F9F9F9"/>
                    </a:solidFill>
                  </a:tcPr>
                </a:tc>
              </a:tr>
            </a:tbl>
          </a:graphicData>
        </a:graphic>
      </p:graphicFrame>
    </p:spTree>
    <p:extLst>
      <p:ext uri="{BB962C8B-B14F-4D97-AF65-F5344CB8AC3E}">
        <p14:creationId xmlns:p14="http://schemas.microsoft.com/office/powerpoint/2010/main" val="642245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39403074"/>
              </p:ext>
            </p:extLst>
          </p:nvPr>
        </p:nvGraphicFramePr>
        <p:xfrm>
          <a:off x="611560" y="1844825"/>
          <a:ext cx="8208912" cy="4090996"/>
        </p:xfrm>
        <a:graphic>
          <a:graphicData uri="http://schemas.openxmlformats.org/drawingml/2006/table">
            <a:tbl>
              <a:tblPr/>
              <a:tblGrid>
                <a:gridCol w="4104456"/>
                <a:gridCol w="4104456"/>
              </a:tblGrid>
              <a:tr h="912452">
                <a:tc>
                  <a:txBody>
                    <a:bodyPr/>
                    <a:lstStyle/>
                    <a:p>
                      <a:pPr algn="l" fontAlgn="t"/>
                      <a:r>
                        <a:rPr lang="en-IN">
                          <a:effectLst/>
                        </a:rPr>
                        <a:t>Sales</a:t>
                      </a:r>
                    </a:p>
                  </a:txBody>
                  <a:tcPr marL="50800" marR="50800" marT="50800" marB="50800">
                    <a:lnL w="12700" cap="flat" cmpd="sng" algn="ctr">
                      <a:solidFill>
                        <a:srgbClr val="D0E5F9"/>
                      </a:solidFill>
                      <a:prstDash val="solid"/>
                      <a:round/>
                      <a:headEnd type="none" w="med" len="med"/>
                      <a:tailEnd type="none" w="med" len="med"/>
                    </a:lnL>
                    <a:lnR w="12700" cap="flat" cmpd="sng" algn="ctr">
                      <a:solidFill>
                        <a:srgbClr val="D0E5F9"/>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IN">
                          <a:effectLst/>
                        </a:rPr>
                        <a:t>Use for storing customer, product &amp; sales information.</a:t>
                      </a:r>
                    </a:p>
                  </a:txBody>
                  <a:tcPr marL="50800" marR="50800" marT="50800" marB="50800">
                    <a:lnL w="12700" cap="flat" cmpd="sng" algn="ctr">
                      <a:solidFill>
                        <a:srgbClr val="D0E5F9"/>
                      </a:solidFill>
                      <a:prstDash val="solid"/>
                      <a:round/>
                      <a:headEnd type="none" w="med" len="med"/>
                      <a:tailEnd type="none" w="med" len="med"/>
                    </a:lnL>
                    <a:lnR w="12700" cap="flat" cmpd="sng" algn="ctr">
                      <a:solidFill>
                        <a:srgbClr val="0028C3"/>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r>
              <a:tr h="1724636">
                <a:tc>
                  <a:txBody>
                    <a:bodyPr/>
                    <a:lstStyle/>
                    <a:p>
                      <a:pPr algn="l" fontAlgn="t"/>
                      <a:r>
                        <a:rPr lang="en-IN">
                          <a:effectLst/>
                        </a:rPr>
                        <a:t>Manufacturing</a:t>
                      </a:r>
                    </a:p>
                  </a:txBody>
                  <a:tcPr marL="50800" marR="50800" marT="50800" marB="50800">
                    <a:lnL w="12700" cap="flat" cmpd="sng" algn="ctr">
                      <a:solidFill>
                        <a:srgbClr val="D0E5F9"/>
                      </a:solidFill>
                      <a:prstDash val="solid"/>
                      <a:round/>
                      <a:headEnd type="none" w="med" len="med"/>
                      <a:tailEnd type="none" w="med" len="med"/>
                    </a:lnL>
                    <a:lnR w="12700" cap="flat" cmpd="sng" algn="ctr">
                      <a:solidFill>
                        <a:srgbClr val="D0E5F9"/>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It is used for the management of supply chain and for tracking production of items. Inventories status in warehouses.</a:t>
                      </a:r>
                    </a:p>
                  </a:txBody>
                  <a:tcPr marL="50800" marR="50800" marT="50800" marB="50800">
                    <a:lnL w="12700" cap="flat" cmpd="sng" algn="ctr">
                      <a:solidFill>
                        <a:srgbClr val="D0E5F9"/>
                      </a:solidFill>
                      <a:prstDash val="solid"/>
                      <a:round/>
                      <a:headEnd type="none" w="med" len="med"/>
                      <a:tailEnd type="none" w="med" len="med"/>
                    </a:lnL>
                    <a:lnR w="12700" cap="flat" cmpd="sng" algn="ctr">
                      <a:solidFill>
                        <a:srgbClr val="20575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453908">
                <a:tc>
                  <a:txBody>
                    <a:bodyPr/>
                    <a:lstStyle/>
                    <a:p>
                      <a:pPr algn="l" fontAlgn="t"/>
                      <a:r>
                        <a:rPr lang="en-IN">
                          <a:effectLst/>
                        </a:rPr>
                        <a:t>HR Management</a:t>
                      </a:r>
                    </a:p>
                  </a:txBody>
                  <a:tcPr marL="50800" marR="50800" marT="50800" marB="50800">
                    <a:lnL w="12700" cap="flat" cmpd="sng" algn="ctr">
                      <a:solidFill>
                        <a:srgbClr val="D0E5F9"/>
                      </a:solidFill>
                      <a:prstDash val="solid"/>
                      <a:round/>
                      <a:headEnd type="none" w="med" len="med"/>
                      <a:tailEnd type="none" w="med" len="med"/>
                    </a:lnL>
                    <a:lnR w="12700" cap="flat" cmpd="sng" algn="ctr">
                      <a:solidFill>
                        <a:srgbClr val="D0E5F9"/>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704097"/>
                      </a:solidFill>
                      <a:prstDash val="solid"/>
                      <a:round/>
                      <a:headEnd type="none" w="med" len="med"/>
                      <a:tailEnd type="none" w="med" len="med"/>
                    </a:lnB>
                    <a:solidFill>
                      <a:srgbClr val="F9F9F9"/>
                    </a:solidFill>
                  </a:tcPr>
                </a:tc>
                <a:tc>
                  <a:txBody>
                    <a:bodyPr/>
                    <a:lstStyle/>
                    <a:p>
                      <a:pPr algn="l" fontAlgn="t"/>
                      <a:r>
                        <a:rPr lang="en-IN" dirty="0">
                          <a:effectLst/>
                        </a:rPr>
                        <a:t>For information about employees, salaries, payroll, deduction, generation of </a:t>
                      </a:r>
                      <a:r>
                        <a:rPr lang="en-IN" dirty="0" err="1">
                          <a:effectLst/>
                        </a:rPr>
                        <a:t>paychecks</a:t>
                      </a:r>
                      <a:r>
                        <a:rPr lang="en-IN" dirty="0">
                          <a:effectLst/>
                        </a:rPr>
                        <a:t>, etc.</a:t>
                      </a:r>
                    </a:p>
                  </a:txBody>
                  <a:tcPr marL="50800" marR="50800" marT="50800" marB="50800">
                    <a:lnL w="12700" cap="flat" cmpd="sng" algn="ctr">
                      <a:solidFill>
                        <a:srgbClr val="D0E5F9"/>
                      </a:solidFill>
                      <a:prstDash val="solid"/>
                      <a:round/>
                      <a:headEnd type="none" w="med" len="med"/>
                      <a:tailEnd type="none" w="med" len="med"/>
                    </a:lnL>
                    <a:lnR w="12700" cap="flat" cmpd="sng" algn="ctr">
                      <a:solidFill>
                        <a:srgbClr val="30E0E7"/>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30BE95"/>
                      </a:solidFill>
                      <a:prstDash val="solid"/>
                      <a:round/>
                      <a:headEnd type="none" w="med" len="med"/>
                      <a:tailEnd type="none" w="med" len="med"/>
                    </a:lnB>
                    <a:solidFill>
                      <a:srgbClr val="F9F9F9"/>
                    </a:solidFill>
                  </a:tcPr>
                </a:tc>
              </a:tr>
            </a:tbl>
          </a:graphicData>
        </a:graphic>
      </p:graphicFrame>
    </p:spTree>
    <p:extLst>
      <p:ext uri="{BB962C8B-B14F-4D97-AF65-F5344CB8AC3E}">
        <p14:creationId xmlns:p14="http://schemas.microsoft.com/office/powerpoint/2010/main" val="2188753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Database System</a:t>
            </a:r>
            <a:endParaRPr lang="en-IN" dirty="0"/>
          </a:p>
        </p:txBody>
      </p:sp>
      <p:sp>
        <p:nvSpPr>
          <p:cNvPr id="3" name="Content Placeholder 2"/>
          <p:cNvSpPr>
            <a:spLocks noGrp="1"/>
          </p:cNvSpPr>
          <p:nvPr>
            <p:ph idx="1"/>
          </p:nvPr>
        </p:nvSpPr>
        <p:spPr>
          <a:xfrm>
            <a:off x="457200" y="1340768"/>
            <a:ext cx="8229600" cy="4785395"/>
          </a:xfrm>
        </p:spPr>
        <p:txBody>
          <a:bodyPr>
            <a:normAutofit fontScale="62500" lnSpcReduction="20000"/>
          </a:bodyPr>
          <a:lstStyle/>
          <a:p>
            <a:pPr>
              <a:buFont typeface="Wingdings" pitchFamily="2" charset="2"/>
              <a:buChar char="Ø"/>
            </a:pPr>
            <a:r>
              <a:rPr lang="en-US" dirty="0"/>
              <a:t>In the early days, database applications were built on top of file systems</a:t>
            </a:r>
          </a:p>
          <a:p>
            <a:pPr>
              <a:buNone/>
            </a:pPr>
            <a:endParaRPr lang="en-US" dirty="0"/>
          </a:p>
          <a:p>
            <a:pPr>
              <a:buFont typeface="Wingdings" pitchFamily="2" charset="2"/>
              <a:buChar char="Ø"/>
            </a:pPr>
            <a:r>
              <a:rPr lang="en-US" b="1" dirty="0"/>
              <a:t>Drawbacks</a:t>
            </a:r>
            <a:r>
              <a:rPr lang="en-US" dirty="0"/>
              <a:t> of using file systems to store data</a:t>
            </a:r>
            <a:r>
              <a:rPr lang="en-US" b="1" dirty="0"/>
              <a:t>:</a:t>
            </a:r>
          </a:p>
          <a:p>
            <a:pPr>
              <a:buNone/>
            </a:pPr>
            <a:endParaRPr lang="en-US" dirty="0"/>
          </a:p>
          <a:p>
            <a:r>
              <a:rPr lang="en-US" dirty="0"/>
              <a:t>Data redundancy and inconsistency</a:t>
            </a:r>
          </a:p>
          <a:p>
            <a:pPr>
              <a:buNone/>
            </a:pPr>
            <a:r>
              <a:rPr lang="en-US" dirty="0"/>
              <a:t>              ✔Multiple file formats, duplication of information in different</a:t>
            </a:r>
          </a:p>
          <a:p>
            <a:pPr>
              <a:buNone/>
            </a:pPr>
            <a:r>
              <a:rPr lang="en-US" dirty="0"/>
              <a:t>                  files</a:t>
            </a:r>
          </a:p>
          <a:p>
            <a:r>
              <a:rPr lang="en-US" dirty="0"/>
              <a:t>Difficulty in accessing data</a:t>
            </a:r>
          </a:p>
          <a:p>
            <a:pPr>
              <a:buNone/>
            </a:pPr>
            <a:r>
              <a:rPr lang="en-US" dirty="0"/>
              <a:t>             ✔Need to write a new program to carry out each new task</a:t>
            </a:r>
          </a:p>
          <a:p>
            <a:r>
              <a:rPr lang="en-US" dirty="0"/>
              <a:t>Data isolation — multiple files and formats</a:t>
            </a:r>
          </a:p>
          <a:p>
            <a:r>
              <a:rPr lang="en-US" dirty="0"/>
              <a:t>Integrity problems</a:t>
            </a:r>
          </a:p>
          <a:p>
            <a:pPr>
              <a:buNone/>
            </a:pPr>
            <a:r>
              <a:rPr lang="en-US" dirty="0"/>
              <a:t>            ✔Integrity constraints (e.g. account balance &gt; 0) become part of</a:t>
            </a:r>
          </a:p>
          <a:p>
            <a:pPr>
              <a:buNone/>
            </a:pPr>
            <a:r>
              <a:rPr lang="en-US" dirty="0"/>
              <a:t>                program code</a:t>
            </a:r>
          </a:p>
          <a:p>
            <a:pPr>
              <a:buNone/>
            </a:pPr>
            <a:r>
              <a:rPr lang="en-US" dirty="0"/>
              <a:t>           ✔Hard to add new constraints or change existing ones</a:t>
            </a:r>
          </a:p>
          <a:p>
            <a:pPr marL="0" indent="0">
              <a:buNone/>
            </a:pPr>
            <a:endParaRPr lang="en-US" dirty="0"/>
          </a:p>
        </p:txBody>
      </p:sp>
    </p:spTree>
    <p:extLst>
      <p:ext uri="{BB962C8B-B14F-4D97-AF65-F5344CB8AC3E}">
        <p14:creationId xmlns:p14="http://schemas.microsoft.com/office/powerpoint/2010/main" val="842402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Drawbacks of using file systems (cont.)</a:t>
            </a:r>
            <a:br>
              <a:rPr lang="en-US" sz="3200" b="1" dirty="0"/>
            </a:br>
            <a:endParaRPr lang="en-IN" sz="3200" dirty="0"/>
          </a:p>
        </p:txBody>
      </p:sp>
      <p:sp>
        <p:nvSpPr>
          <p:cNvPr id="3" name="Content Placeholder 2"/>
          <p:cNvSpPr>
            <a:spLocks noGrp="1"/>
          </p:cNvSpPr>
          <p:nvPr>
            <p:ph idx="1"/>
          </p:nvPr>
        </p:nvSpPr>
        <p:spPr>
          <a:xfrm>
            <a:off x="457200" y="1124744"/>
            <a:ext cx="8229600" cy="5001419"/>
          </a:xfrm>
        </p:spPr>
        <p:txBody>
          <a:bodyPr>
            <a:normAutofit fontScale="62500" lnSpcReduction="20000"/>
          </a:bodyPr>
          <a:lstStyle/>
          <a:p>
            <a:endParaRPr lang="en-IN" dirty="0" smtClean="0"/>
          </a:p>
          <a:p>
            <a:r>
              <a:rPr lang="en-IN" dirty="0" smtClean="0"/>
              <a:t>Atomicity </a:t>
            </a:r>
            <a:r>
              <a:rPr lang="en-IN" dirty="0"/>
              <a:t>of updates.</a:t>
            </a:r>
          </a:p>
          <a:p>
            <a:pPr>
              <a:buNone/>
            </a:pPr>
            <a:r>
              <a:rPr lang="en-IN" dirty="0"/>
              <a:t>                   ✔Failures may leave database in an inconsistent state with partial </a:t>
            </a:r>
          </a:p>
          <a:p>
            <a:pPr>
              <a:buNone/>
            </a:pPr>
            <a:r>
              <a:rPr lang="en-IN" dirty="0"/>
              <a:t>                        updates carried out .</a:t>
            </a:r>
          </a:p>
          <a:p>
            <a:pPr>
              <a:buNone/>
            </a:pPr>
            <a:r>
              <a:rPr lang="en-IN" dirty="0"/>
              <a:t>                          – </a:t>
            </a:r>
            <a:r>
              <a:rPr lang="en-IN" u="sng" dirty="0"/>
              <a:t>E.g.:</a:t>
            </a:r>
            <a:r>
              <a:rPr lang="en-IN" dirty="0"/>
              <a:t>  Transfer of funds from one account to another should</a:t>
            </a:r>
          </a:p>
          <a:p>
            <a:pPr>
              <a:buNone/>
            </a:pPr>
            <a:r>
              <a:rPr lang="en-IN" dirty="0"/>
              <a:t>                                        either complete or not happen at all.</a:t>
            </a:r>
          </a:p>
          <a:p>
            <a:r>
              <a:rPr lang="en-IN" dirty="0"/>
              <a:t>Concurrent access by multiple users.</a:t>
            </a:r>
          </a:p>
          <a:p>
            <a:pPr>
              <a:buNone/>
            </a:pPr>
            <a:r>
              <a:rPr lang="en-IN" dirty="0"/>
              <a:t>                  ✔Concurrent accessed needed for performance.</a:t>
            </a:r>
          </a:p>
          <a:p>
            <a:pPr>
              <a:buNone/>
            </a:pPr>
            <a:r>
              <a:rPr lang="en-IN" dirty="0"/>
              <a:t>                  ✔Uncontrolled concurrent accesses can lead to inconsistencies.</a:t>
            </a:r>
          </a:p>
          <a:p>
            <a:pPr>
              <a:buNone/>
            </a:pPr>
            <a:r>
              <a:rPr lang="en-IN" dirty="0"/>
              <a:t>                         – </a:t>
            </a:r>
            <a:r>
              <a:rPr lang="en-IN" u="sng" dirty="0"/>
              <a:t>E.g.:</a:t>
            </a:r>
            <a:r>
              <a:rPr lang="en-IN" dirty="0"/>
              <a:t> </a:t>
            </a:r>
            <a:r>
              <a:rPr lang="en-IN" dirty="0">
                <a:ea typeface="ＭＳ Ｐゴシック" pitchFamily="34" charset="-128"/>
              </a:rPr>
              <a:t>Two people reading a balance (say 100) and updating it</a:t>
            </a:r>
          </a:p>
          <a:p>
            <a:pPr>
              <a:buNone/>
            </a:pPr>
            <a:r>
              <a:rPr lang="en-IN" dirty="0">
                <a:ea typeface="ＭＳ Ｐゴシック" pitchFamily="34" charset="-128"/>
              </a:rPr>
              <a:t>                                     by withdrawing money (say 50 each) at the same time </a:t>
            </a:r>
          </a:p>
          <a:p>
            <a:pPr>
              <a:buNone/>
            </a:pPr>
            <a:r>
              <a:rPr lang="en-IN" dirty="0">
                <a:ea typeface="ＭＳ Ｐゴシック" pitchFamily="34" charset="-128"/>
              </a:rPr>
              <a:t>                                     </a:t>
            </a:r>
            <a:r>
              <a:rPr lang="en-IN" dirty="0"/>
              <a:t>Security problems.</a:t>
            </a:r>
          </a:p>
          <a:p>
            <a:pPr>
              <a:buNone/>
            </a:pPr>
            <a:endParaRPr lang="en-IN" dirty="0"/>
          </a:p>
          <a:p>
            <a:pPr>
              <a:buFont typeface="Wingdings" pitchFamily="2" charset="2"/>
              <a:buChar char="Ø"/>
            </a:pPr>
            <a:r>
              <a:rPr lang="en-IN" dirty="0"/>
              <a:t>Database systems offer solutions to all the above problems</a:t>
            </a:r>
          </a:p>
        </p:txBody>
      </p:sp>
    </p:spTree>
    <p:extLst>
      <p:ext uri="{BB962C8B-B14F-4D97-AF65-F5344CB8AC3E}">
        <p14:creationId xmlns:p14="http://schemas.microsoft.com/office/powerpoint/2010/main" val="3097709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Languages</a:t>
            </a:r>
            <a:endParaRPr lang="en-IN" dirty="0"/>
          </a:p>
        </p:txBody>
      </p:sp>
      <p:sp>
        <p:nvSpPr>
          <p:cNvPr id="3" name="Content Placeholder 2"/>
          <p:cNvSpPr>
            <a:spLocks noGrp="1"/>
          </p:cNvSpPr>
          <p:nvPr>
            <p:ph idx="1"/>
          </p:nvPr>
        </p:nvSpPr>
        <p:spPr>
          <a:xfrm>
            <a:off x="457200" y="1268760"/>
            <a:ext cx="8229600" cy="4857403"/>
          </a:xfrm>
        </p:spPr>
        <p:txBody>
          <a:bodyPr>
            <a:normAutofit fontScale="85000" lnSpcReduction="20000"/>
          </a:bodyPr>
          <a:lstStyle/>
          <a:p>
            <a:r>
              <a:rPr lang="en-US" dirty="0"/>
              <a:t>Database languages are used for read, update and store data in a database.</a:t>
            </a:r>
          </a:p>
          <a:p>
            <a:r>
              <a:rPr lang="en-US" b="1" dirty="0"/>
              <a:t>Types of DBMS languages:</a:t>
            </a:r>
          </a:p>
          <a:p>
            <a:r>
              <a:rPr lang="en-US" b="1" dirty="0"/>
              <a:t>Data Definition Language (DDL)</a:t>
            </a:r>
            <a:r>
              <a:rPr lang="en-US" dirty="0"/>
              <a:t>: DDL is used for specifying the database schema. Let’s take SQL for instance to categorize the statements that comes under DDL.</a:t>
            </a:r>
          </a:p>
          <a:p>
            <a:r>
              <a:rPr lang="en-US" dirty="0"/>
              <a:t>To create the database instance – </a:t>
            </a:r>
            <a:r>
              <a:rPr lang="en-US" dirty="0">
                <a:hlinkClick r:id="rId2" tooltip="SQL – CREATE DATABASE Statement"/>
              </a:rPr>
              <a:t>CREATE</a:t>
            </a:r>
            <a:endParaRPr lang="en-US" dirty="0"/>
          </a:p>
          <a:p>
            <a:r>
              <a:rPr lang="en-US" dirty="0"/>
              <a:t>To alter the structure of database – </a:t>
            </a:r>
            <a:r>
              <a:rPr lang="en-US" b="1" dirty="0"/>
              <a:t>ALTER</a:t>
            </a:r>
            <a:endParaRPr lang="en-US" dirty="0"/>
          </a:p>
          <a:p>
            <a:r>
              <a:rPr lang="en-US" dirty="0"/>
              <a:t>To drop database instances – </a:t>
            </a:r>
            <a:r>
              <a:rPr lang="en-US" dirty="0">
                <a:hlinkClick r:id="rId3" tooltip="SQL – DROP DATABASE statement"/>
              </a:rPr>
              <a:t>DROP</a:t>
            </a:r>
            <a:endParaRPr lang="en-US" dirty="0"/>
          </a:p>
          <a:p>
            <a:r>
              <a:rPr lang="en-US" dirty="0"/>
              <a:t>To delete tables in a database instance – </a:t>
            </a:r>
            <a:r>
              <a:rPr lang="en-US" b="1" dirty="0"/>
              <a:t>TRUNCATE</a:t>
            </a:r>
            <a:endParaRPr lang="en-US" dirty="0"/>
          </a:p>
          <a:p>
            <a:r>
              <a:rPr lang="en-US" dirty="0"/>
              <a:t>To rename database instances – </a:t>
            </a:r>
            <a:r>
              <a:rPr lang="en-US" b="1" dirty="0"/>
              <a:t>RENAME</a:t>
            </a:r>
            <a:endParaRPr lang="en-US" dirty="0"/>
          </a:p>
          <a:p>
            <a:endParaRPr lang="en-IN" dirty="0"/>
          </a:p>
        </p:txBody>
      </p:sp>
    </p:spTree>
    <p:extLst>
      <p:ext uri="{BB962C8B-B14F-4D97-AF65-F5344CB8AC3E}">
        <p14:creationId xmlns:p14="http://schemas.microsoft.com/office/powerpoint/2010/main" val="1811863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Languages Continued</a:t>
            </a:r>
            <a:endParaRPr lang="en-IN" dirty="0"/>
          </a:p>
        </p:txBody>
      </p:sp>
      <p:sp>
        <p:nvSpPr>
          <p:cNvPr id="3" name="Content Placeholder 2"/>
          <p:cNvSpPr>
            <a:spLocks noGrp="1"/>
          </p:cNvSpPr>
          <p:nvPr>
            <p:ph idx="1"/>
          </p:nvPr>
        </p:nvSpPr>
        <p:spPr/>
        <p:txBody>
          <a:bodyPr/>
          <a:lstStyle/>
          <a:p>
            <a:r>
              <a:rPr lang="en-US" b="1" dirty="0"/>
              <a:t>Data Manipulation Language (DML)</a:t>
            </a:r>
            <a:r>
              <a:rPr lang="en-US" dirty="0"/>
              <a:t>: DML is used for accessing and manipulating data in a database.</a:t>
            </a:r>
          </a:p>
          <a:p>
            <a:r>
              <a:rPr lang="en-US" dirty="0"/>
              <a:t>To read records from table(s) – </a:t>
            </a:r>
            <a:r>
              <a:rPr lang="en-US" dirty="0">
                <a:hlinkClick r:id="rId2" tooltip="SQL – SELECT Query"/>
              </a:rPr>
              <a:t>SELECT</a:t>
            </a:r>
            <a:endParaRPr lang="en-US" dirty="0"/>
          </a:p>
          <a:p>
            <a:r>
              <a:rPr lang="en-US" dirty="0"/>
              <a:t>To insert record(s) into the table(s) – </a:t>
            </a:r>
            <a:r>
              <a:rPr lang="en-US" b="1" dirty="0"/>
              <a:t>INSERT</a:t>
            </a:r>
            <a:endParaRPr lang="en-US" dirty="0"/>
          </a:p>
          <a:p>
            <a:r>
              <a:rPr lang="en-US" dirty="0"/>
              <a:t>Update the data in table(s) – </a:t>
            </a:r>
            <a:r>
              <a:rPr lang="en-US" dirty="0">
                <a:hlinkClick r:id="rId3" tooltip="UPDATE Query in SQL"/>
              </a:rPr>
              <a:t>UPDATE</a:t>
            </a:r>
            <a:endParaRPr lang="en-US" dirty="0"/>
          </a:p>
          <a:p>
            <a:r>
              <a:rPr lang="en-US" dirty="0"/>
              <a:t>Delete all the records from the table – </a:t>
            </a:r>
            <a:r>
              <a:rPr lang="en-US" dirty="0">
                <a:hlinkClick r:id="rId4" tooltip="DELETE Query in SQL"/>
              </a:rPr>
              <a:t>DELETE</a:t>
            </a:r>
            <a:endParaRPr lang="en-US" dirty="0"/>
          </a:p>
          <a:p>
            <a:endParaRPr lang="en-IN" dirty="0"/>
          </a:p>
        </p:txBody>
      </p:sp>
    </p:spTree>
    <p:extLst>
      <p:ext uri="{BB962C8B-B14F-4D97-AF65-F5344CB8AC3E}">
        <p14:creationId xmlns:p14="http://schemas.microsoft.com/office/powerpoint/2010/main" val="3361611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Languages Continued</a:t>
            </a:r>
            <a:endParaRPr lang="en-IN" dirty="0"/>
          </a:p>
        </p:txBody>
      </p:sp>
      <p:sp>
        <p:nvSpPr>
          <p:cNvPr id="3" name="Content Placeholder 2"/>
          <p:cNvSpPr>
            <a:spLocks noGrp="1"/>
          </p:cNvSpPr>
          <p:nvPr>
            <p:ph idx="1"/>
          </p:nvPr>
        </p:nvSpPr>
        <p:spPr/>
        <p:txBody>
          <a:bodyPr/>
          <a:lstStyle/>
          <a:p>
            <a:r>
              <a:rPr lang="en-US" b="1" dirty="0"/>
              <a:t>Data Control language (DCL)</a:t>
            </a:r>
            <a:r>
              <a:rPr lang="en-US" dirty="0"/>
              <a:t>: DCL is used for granting and revoking user access on a database –</a:t>
            </a:r>
          </a:p>
          <a:p>
            <a:r>
              <a:rPr lang="en-US" dirty="0"/>
              <a:t>To grant access to user – GRANT</a:t>
            </a:r>
          </a:p>
          <a:p>
            <a:r>
              <a:rPr lang="en-US" dirty="0"/>
              <a:t>To revoke access from user – REVOKE</a:t>
            </a:r>
          </a:p>
          <a:p>
            <a:endParaRPr lang="en-IN" dirty="0" smtClean="0"/>
          </a:p>
          <a:p>
            <a:endParaRPr lang="en-IN" dirty="0"/>
          </a:p>
          <a:p>
            <a:endParaRPr lang="en-IN" dirty="0" smtClean="0"/>
          </a:p>
          <a:p>
            <a:endParaRPr lang="en-IN" dirty="0"/>
          </a:p>
        </p:txBody>
      </p:sp>
    </p:spTree>
    <p:extLst>
      <p:ext uri="{BB962C8B-B14F-4D97-AF65-F5344CB8AC3E}">
        <p14:creationId xmlns:p14="http://schemas.microsoft.com/office/powerpoint/2010/main" val="2431434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US" dirty="0" smtClean="0"/>
              <a:t>Data Models </a:t>
            </a:r>
            <a:endParaRPr lang="en-US" dirty="0"/>
          </a:p>
        </p:txBody>
      </p:sp>
      <p:sp>
        <p:nvSpPr>
          <p:cNvPr id="3" name="Content Placeholder 2"/>
          <p:cNvSpPr>
            <a:spLocks noGrp="1"/>
          </p:cNvSpPr>
          <p:nvPr>
            <p:ph idx="1"/>
          </p:nvPr>
        </p:nvSpPr>
        <p:spPr>
          <a:xfrm>
            <a:off x="457200" y="1196752"/>
            <a:ext cx="8229600" cy="4929411"/>
          </a:xfrm>
        </p:spPr>
        <p:txBody>
          <a:bodyPr>
            <a:normAutofit/>
          </a:bodyPr>
          <a:lstStyle/>
          <a:p>
            <a:r>
              <a:rPr lang="en-US" sz="2400" dirty="0" smtClean="0">
                <a:ea typeface="ＭＳ Ｐゴシック" pitchFamily="34" charset="-128"/>
              </a:rPr>
              <a:t>A collection of tools for describing </a:t>
            </a:r>
          </a:p>
          <a:p>
            <a:pPr lvl="1">
              <a:lnSpc>
                <a:spcPct val="80000"/>
              </a:lnSpc>
            </a:pPr>
            <a:r>
              <a:rPr lang="en-US" sz="2400" dirty="0" smtClean="0">
                <a:ea typeface="ＭＳ Ｐゴシック" pitchFamily="34" charset="-128"/>
              </a:rPr>
              <a:t>Data </a:t>
            </a:r>
          </a:p>
          <a:p>
            <a:pPr lvl="1">
              <a:lnSpc>
                <a:spcPct val="80000"/>
              </a:lnSpc>
            </a:pPr>
            <a:r>
              <a:rPr lang="en-US" sz="2400" dirty="0" smtClean="0">
                <a:ea typeface="ＭＳ Ｐゴシック" pitchFamily="34" charset="-128"/>
              </a:rPr>
              <a:t>Data relationships</a:t>
            </a:r>
          </a:p>
          <a:p>
            <a:pPr lvl="1">
              <a:lnSpc>
                <a:spcPct val="80000"/>
              </a:lnSpc>
            </a:pPr>
            <a:r>
              <a:rPr lang="en-US" sz="2400" dirty="0" smtClean="0">
                <a:ea typeface="ＭＳ Ｐゴシック" pitchFamily="34" charset="-128"/>
              </a:rPr>
              <a:t>Data constraints.</a:t>
            </a:r>
          </a:p>
          <a:p>
            <a:r>
              <a:rPr lang="en-US" sz="2400" dirty="0" smtClean="0"/>
              <a:t>Or</a:t>
            </a:r>
          </a:p>
          <a:p>
            <a:r>
              <a:rPr lang="en-US" sz="2400" dirty="0" smtClean="0"/>
              <a:t>A </a:t>
            </a:r>
            <a:r>
              <a:rPr lang="en-US" sz="2400" b="1" dirty="0" smtClean="0"/>
              <a:t>Data Model</a:t>
            </a:r>
            <a:r>
              <a:rPr lang="en-US" sz="2400" dirty="0" smtClean="0"/>
              <a:t> is the concept of tools that are developed to summarize the description of the database.</a:t>
            </a:r>
          </a:p>
          <a:p>
            <a:r>
              <a:rPr lang="en-US" sz="2400" dirty="0" smtClean="0"/>
              <a:t>Or</a:t>
            </a:r>
          </a:p>
          <a:p>
            <a:r>
              <a:rPr lang="en-US" sz="2400" dirty="0" smtClean="0"/>
              <a:t>A data model shows the logical structure of a database, including the relationships and constraints that determine how data can be stored and accessed</a:t>
            </a:r>
            <a:endParaRPr lang="en-US" sz="2400" dirty="0"/>
          </a:p>
        </p:txBody>
      </p:sp>
    </p:spTree>
    <p:extLst>
      <p:ext uri="{BB962C8B-B14F-4D97-AF65-F5344CB8AC3E}">
        <p14:creationId xmlns:p14="http://schemas.microsoft.com/office/powerpoint/2010/main" val="424990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 Models</a:t>
            </a:r>
            <a:endParaRPr lang="en-US" dirty="0"/>
          </a:p>
        </p:txBody>
      </p:sp>
      <p:sp>
        <p:nvSpPr>
          <p:cNvPr id="3" name="Content Placeholder 2"/>
          <p:cNvSpPr>
            <a:spLocks noGrp="1"/>
          </p:cNvSpPr>
          <p:nvPr>
            <p:ph idx="1"/>
          </p:nvPr>
        </p:nvSpPr>
        <p:spPr/>
        <p:txBody>
          <a:bodyPr>
            <a:normAutofit/>
          </a:bodyPr>
          <a:lstStyle/>
          <a:p>
            <a:r>
              <a:rPr lang="en-US" dirty="0" smtClean="0"/>
              <a:t>Entity-relationship model</a:t>
            </a:r>
          </a:p>
          <a:p>
            <a:r>
              <a:rPr lang="en-US" dirty="0" smtClean="0"/>
              <a:t>Relational model</a:t>
            </a:r>
          </a:p>
          <a:p>
            <a:r>
              <a:rPr lang="en-US" dirty="0" smtClean="0"/>
              <a:t>Hierarchical model</a:t>
            </a:r>
          </a:p>
          <a:p>
            <a:r>
              <a:rPr lang="en-US" dirty="0" smtClean="0"/>
              <a:t>Network model</a:t>
            </a:r>
          </a:p>
          <a:p>
            <a:r>
              <a:rPr lang="en-US" dirty="0" smtClean="0"/>
              <a:t>Object-oriented database model</a:t>
            </a:r>
          </a:p>
        </p:txBody>
      </p:sp>
    </p:spTree>
    <p:extLst>
      <p:ext uri="{BB962C8B-B14F-4D97-AF65-F5344CB8AC3E}">
        <p14:creationId xmlns:p14="http://schemas.microsoft.com/office/powerpoint/2010/main" val="3923976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Relational Model</a:t>
            </a:r>
            <a:br>
              <a:rPr lang="en-US" dirty="0" smtClean="0"/>
            </a:br>
            <a:endParaRPr lang="en-US" dirty="0"/>
          </a:p>
        </p:txBody>
      </p:sp>
      <p:sp>
        <p:nvSpPr>
          <p:cNvPr id="3" name="Content Placeholder 2"/>
          <p:cNvSpPr>
            <a:spLocks noGrp="1"/>
          </p:cNvSpPr>
          <p:nvPr>
            <p:ph idx="1"/>
          </p:nvPr>
        </p:nvSpPr>
        <p:spPr>
          <a:xfrm>
            <a:off x="457200" y="836712"/>
            <a:ext cx="8229600" cy="5289451"/>
          </a:xfrm>
        </p:spPr>
        <p:txBody>
          <a:bodyPr/>
          <a:lstStyle/>
          <a:p>
            <a:pPr>
              <a:buNone/>
            </a:pPr>
            <a:r>
              <a:rPr lang="en-US" sz="2400" dirty="0" smtClean="0"/>
              <a:t>The most common model, the relational model sorts data into</a:t>
            </a:r>
          </a:p>
          <a:p>
            <a:pPr>
              <a:buNone/>
            </a:pPr>
            <a:r>
              <a:rPr lang="en-US" sz="2400" dirty="0" smtClean="0"/>
              <a:t>tables also known as relations, each of which consists of columns and rows . Each column lists an attribute of the entity in question. Each row in the relation is called as a </a:t>
            </a:r>
            <a:r>
              <a:rPr lang="en-US" sz="2400" dirty="0" err="1" smtClean="0"/>
              <a:t>tupple</a:t>
            </a:r>
            <a:r>
              <a:rPr lang="en-US" sz="2400" dirty="0" smtClean="0"/>
              <a:t>.</a:t>
            </a:r>
          </a:p>
          <a:p>
            <a:pPr>
              <a:buNone/>
            </a:pPr>
            <a:endParaRPr lang="en-US" sz="2400" dirty="0" smtClean="0"/>
          </a:p>
          <a:p>
            <a:pPr>
              <a:buNone/>
            </a:pPr>
            <a:endParaRPr lang="en-US" dirty="0" smtClean="0"/>
          </a:p>
          <a:p>
            <a:endParaRPr lang="en-US" dirty="0"/>
          </a:p>
        </p:txBody>
      </p:sp>
      <p:pic>
        <p:nvPicPr>
          <p:cNvPr id="4" name="Picture 37" descr="1"/>
          <p:cNvPicPr>
            <a:picLocks noChangeAspect="1" noChangeArrowheads="1"/>
          </p:cNvPicPr>
          <p:nvPr/>
        </p:nvPicPr>
        <p:blipFill>
          <a:blip r:embed="rId2" cstate="print"/>
          <a:srcRect b="43330"/>
          <a:stretch>
            <a:fillRect/>
          </a:stretch>
        </p:blipFill>
        <p:spPr bwMode="auto">
          <a:xfrm>
            <a:off x="1115616" y="2636912"/>
            <a:ext cx="6696744" cy="3744912"/>
          </a:xfrm>
          <a:prstGeom prst="rect">
            <a:avLst/>
          </a:prstGeom>
          <a:noFill/>
          <a:ln w="9525">
            <a:noFill/>
            <a:miter lim="800000"/>
            <a:headEnd/>
            <a:tailEnd/>
          </a:ln>
        </p:spPr>
      </p:pic>
    </p:spTree>
    <p:extLst>
      <p:ext uri="{BB962C8B-B14F-4D97-AF65-F5344CB8AC3E}">
        <p14:creationId xmlns:p14="http://schemas.microsoft.com/office/powerpoint/2010/main" val="671986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Entity-Relationship Model</a:t>
            </a:r>
            <a:endParaRPr lang="en-US" dirty="0"/>
          </a:p>
        </p:txBody>
      </p:sp>
      <p:sp>
        <p:nvSpPr>
          <p:cNvPr id="3" name="Content Placeholder 2"/>
          <p:cNvSpPr>
            <a:spLocks noGrp="1"/>
          </p:cNvSpPr>
          <p:nvPr>
            <p:ph idx="1"/>
          </p:nvPr>
        </p:nvSpPr>
        <p:spPr/>
        <p:txBody>
          <a:bodyPr>
            <a:normAutofit/>
          </a:bodyPr>
          <a:lstStyle/>
          <a:p>
            <a:r>
              <a:rPr lang="en-US" sz="2400" b="1" dirty="0" smtClean="0"/>
              <a:t>Entity Relationship Model</a:t>
            </a:r>
            <a:r>
              <a:rPr lang="en-US" sz="2400" dirty="0" smtClean="0"/>
              <a:t> (ER Modeling) is a graphical approach to database design.</a:t>
            </a:r>
          </a:p>
          <a:p>
            <a:r>
              <a:rPr lang="en-US" sz="2400" dirty="0" smtClean="0"/>
              <a:t>An ER model is used to represent real-world objects.</a:t>
            </a:r>
          </a:p>
          <a:p>
            <a:r>
              <a:rPr lang="en-US" sz="2400" dirty="0" smtClean="0"/>
              <a:t>An </a:t>
            </a:r>
            <a:r>
              <a:rPr lang="en-US" sz="2400" b="1" dirty="0" smtClean="0"/>
              <a:t>Entity </a:t>
            </a:r>
            <a:r>
              <a:rPr lang="en-US" sz="2400" dirty="0" smtClean="0"/>
              <a:t>is a thing or object in real world that is distinguishable from other objects.</a:t>
            </a:r>
          </a:p>
          <a:p>
            <a:r>
              <a:rPr lang="en-US" sz="2400" dirty="0" smtClean="0"/>
              <a:t>An entity has a set of properties called attributes and  each of these can have values.</a:t>
            </a:r>
          </a:p>
          <a:p>
            <a:r>
              <a:rPr lang="en-US" sz="2400" dirty="0" smtClean="0"/>
              <a:t>Entity is represented using a rectangle and attributes using  ellipses and lines for connecting  attributes to entities etc.</a:t>
            </a:r>
          </a:p>
          <a:p>
            <a:r>
              <a:rPr lang="en-US" sz="2400" dirty="0" smtClean="0"/>
              <a:t>Relationship is represented using a diamond.</a:t>
            </a:r>
          </a:p>
          <a:p>
            <a:endParaRPr lang="en-US" sz="2400" dirty="0" smtClean="0"/>
          </a:p>
          <a:p>
            <a:endParaRPr lang="en-US" sz="2400" dirty="0" smtClean="0"/>
          </a:p>
          <a:p>
            <a:endParaRPr lang="en-US" sz="2400" dirty="0"/>
          </a:p>
        </p:txBody>
      </p:sp>
    </p:spTree>
    <p:extLst>
      <p:ext uri="{BB962C8B-B14F-4D97-AF65-F5344CB8AC3E}">
        <p14:creationId xmlns:p14="http://schemas.microsoft.com/office/powerpoint/2010/main" val="1848229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ER Diagram</a:t>
            </a:r>
            <a:endParaRPr lang="en-US" dirty="0"/>
          </a:p>
        </p:txBody>
      </p:sp>
      <p:pic>
        <p:nvPicPr>
          <p:cNvPr id="4" name="Picture 2" descr="C:\Users\ADMIN\Desktop\n.bmp"/>
          <p:cNvPicPr>
            <a:picLocks noGrp="1" noChangeAspect="1" noChangeArrowheads="1"/>
          </p:cNvPicPr>
          <p:nvPr>
            <p:ph idx="1"/>
          </p:nvPr>
        </p:nvPicPr>
        <p:blipFill>
          <a:blip r:embed="rId2" cstate="print"/>
          <a:srcRect/>
          <a:stretch>
            <a:fillRect/>
          </a:stretch>
        </p:blipFill>
        <p:spPr bwMode="auto">
          <a:xfrm>
            <a:off x="1110095" y="2276872"/>
            <a:ext cx="6923810" cy="2880320"/>
          </a:xfrm>
          <a:prstGeom prst="rect">
            <a:avLst/>
          </a:prstGeom>
          <a:noFill/>
        </p:spPr>
      </p:pic>
    </p:spTree>
    <p:extLst>
      <p:ext uri="{BB962C8B-B14F-4D97-AF65-F5344CB8AC3E}">
        <p14:creationId xmlns:p14="http://schemas.microsoft.com/office/powerpoint/2010/main" val="2994923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4900" b="1" dirty="0" smtClean="0"/>
              <a:t>Hierarchical model in DBMS</a:t>
            </a:r>
            <a:br>
              <a:rPr lang="en-US" sz="4900" b="1" dirty="0" smtClean="0"/>
            </a:br>
            <a:endParaRPr lang="en-US" sz="4900" b="1" dirty="0"/>
          </a:p>
        </p:txBody>
      </p:sp>
      <p:sp>
        <p:nvSpPr>
          <p:cNvPr id="3" name="Content Placeholder 2"/>
          <p:cNvSpPr>
            <a:spLocks noGrp="1"/>
          </p:cNvSpPr>
          <p:nvPr>
            <p:ph idx="1"/>
          </p:nvPr>
        </p:nvSpPr>
        <p:spPr/>
        <p:txBody>
          <a:bodyPr>
            <a:normAutofit/>
          </a:bodyPr>
          <a:lstStyle/>
          <a:p>
            <a:r>
              <a:rPr lang="en-US" sz="2400" dirty="0" smtClean="0"/>
              <a:t>In </a:t>
            </a:r>
            <a:r>
              <a:rPr lang="en-US" sz="2400" b="1" dirty="0" smtClean="0"/>
              <a:t>hierarchical model</a:t>
            </a:r>
            <a:r>
              <a:rPr lang="en-US" sz="2400" dirty="0" smtClean="0"/>
              <a:t>, data is organized into a tree like structure with each record is having one parent record and many children. It is one of the oldest type of data model.</a:t>
            </a:r>
          </a:p>
          <a:p>
            <a:pPr fontAlgn="base"/>
            <a:r>
              <a:rPr lang="en-US" sz="2400" dirty="0" smtClean="0"/>
              <a:t>It contains nodes which are connected by branches.</a:t>
            </a:r>
          </a:p>
          <a:p>
            <a:pPr fontAlgn="base"/>
            <a:r>
              <a:rPr lang="en-US" sz="2400" dirty="0" smtClean="0"/>
              <a:t>Topmost node is called root node.</a:t>
            </a:r>
          </a:p>
          <a:p>
            <a:pPr fontAlgn="base"/>
            <a:r>
              <a:rPr lang="en-US" sz="2400" dirty="0" smtClean="0"/>
              <a:t>Each node has exactly one parent.</a:t>
            </a:r>
          </a:p>
          <a:p>
            <a:pPr fontAlgn="base"/>
            <a:r>
              <a:rPr lang="en-US" sz="2400" dirty="0" smtClean="0"/>
              <a:t>One parent may have many child.</a:t>
            </a:r>
          </a:p>
          <a:p>
            <a:r>
              <a:rPr lang="en-US" sz="2400" dirty="0" smtClean="0"/>
              <a:t>It allows one to many relationships.</a:t>
            </a:r>
          </a:p>
          <a:p>
            <a:pPr>
              <a:buNone/>
            </a:pPr>
            <a:r>
              <a:rPr lang="en-US" sz="2400" dirty="0" smtClean="0"/>
              <a:t/>
            </a:r>
            <a:br>
              <a:rPr lang="en-US" sz="2400" dirty="0" smtClean="0"/>
            </a:br>
            <a:endParaRPr lang="en-US" sz="2400" dirty="0"/>
          </a:p>
        </p:txBody>
      </p:sp>
    </p:spTree>
    <p:extLst>
      <p:ext uri="{BB962C8B-B14F-4D97-AF65-F5344CB8AC3E}">
        <p14:creationId xmlns:p14="http://schemas.microsoft.com/office/powerpoint/2010/main" val="298203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74042"/>
          </a:xfrm>
        </p:spPr>
        <p:txBody>
          <a:bodyPr>
            <a:normAutofit fontScale="90000"/>
          </a:bodyPr>
          <a:lstStyle/>
          <a:p>
            <a:endParaRPr lang="en-US" dirty="0"/>
          </a:p>
        </p:txBody>
      </p:sp>
      <p:pic>
        <p:nvPicPr>
          <p:cNvPr id="4" name="Content Placeholder 3" descr="Hierarchical Model of database"/>
          <p:cNvPicPr>
            <a:picLocks noGrp="1"/>
          </p:cNvPicPr>
          <p:nvPr>
            <p:ph idx="1"/>
          </p:nvPr>
        </p:nvPicPr>
        <p:blipFill>
          <a:blip r:embed="rId2" cstate="print"/>
          <a:srcRect/>
          <a:stretch>
            <a:fillRect/>
          </a:stretch>
        </p:blipFill>
        <p:spPr bwMode="auto">
          <a:xfrm>
            <a:off x="251520" y="1700808"/>
            <a:ext cx="7776864" cy="4176464"/>
          </a:xfrm>
          <a:prstGeom prst="rect">
            <a:avLst/>
          </a:prstGeom>
          <a:noFill/>
          <a:ln w="9525">
            <a:noFill/>
            <a:miter lim="800000"/>
            <a:headEnd/>
            <a:tailEnd/>
          </a:ln>
        </p:spPr>
      </p:pic>
    </p:spTree>
    <p:extLst>
      <p:ext uri="{BB962C8B-B14F-4D97-AF65-F5344CB8AC3E}">
        <p14:creationId xmlns:p14="http://schemas.microsoft.com/office/powerpoint/2010/main" val="2719968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
            </a:r>
            <a:br>
              <a:rPr lang="en-US" dirty="0" smtClean="0"/>
            </a:br>
            <a:r>
              <a:rPr lang="en-US" dirty="0" smtClean="0"/>
              <a:t>Network Model</a:t>
            </a:r>
            <a:br>
              <a:rPr lang="en-US" dirty="0" smtClean="0"/>
            </a:br>
            <a:endParaRPr lang="en-US" dirty="0"/>
          </a:p>
        </p:txBody>
      </p:sp>
      <p:sp>
        <p:nvSpPr>
          <p:cNvPr id="3" name="Content Placeholder 2"/>
          <p:cNvSpPr>
            <a:spLocks noGrp="1"/>
          </p:cNvSpPr>
          <p:nvPr>
            <p:ph idx="1"/>
          </p:nvPr>
        </p:nvSpPr>
        <p:spPr/>
        <p:txBody>
          <a:bodyPr>
            <a:normAutofit/>
          </a:bodyPr>
          <a:lstStyle/>
          <a:p>
            <a:r>
              <a:rPr lang="en-US" sz="2400" dirty="0" smtClean="0"/>
              <a:t>This is an extension of the Hierarchical model. In this model data is </a:t>
            </a:r>
            <a:r>
              <a:rPr lang="en-US" sz="2400" dirty="0" err="1" smtClean="0"/>
              <a:t>organised</a:t>
            </a:r>
            <a:r>
              <a:rPr lang="en-US" sz="2400" dirty="0" smtClean="0"/>
              <a:t> more like a graph, and are allowed to have more than one parent node.</a:t>
            </a:r>
          </a:p>
          <a:p>
            <a:r>
              <a:rPr lang="en-US" sz="2400" dirty="0" smtClean="0"/>
              <a:t>In this database model data is more related as more relationships are established as the data is more related, hence accessing the data is also easier and fast.</a:t>
            </a:r>
          </a:p>
          <a:p>
            <a:r>
              <a:rPr lang="en-US" sz="2400" dirty="0" smtClean="0"/>
              <a:t>It allows many to many relationships.</a:t>
            </a:r>
          </a:p>
          <a:p>
            <a:r>
              <a:rPr lang="en-US" sz="2400" dirty="0" smtClean="0"/>
              <a:t>It was most popular in the 1970s</a:t>
            </a:r>
          </a:p>
          <a:p>
            <a:endParaRPr lang="en-US" sz="2400" dirty="0"/>
          </a:p>
        </p:txBody>
      </p:sp>
    </p:spTree>
    <p:extLst>
      <p:ext uri="{BB962C8B-B14F-4D97-AF65-F5344CB8AC3E}">
        <p14:creationId xmlns:p14="http://schemas.microsoft.com/office/powerpoint/2010/main" val="771854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Network Model of database"/>
          <p:cNvPicPr>
            <a:picLocks noGrp="1"/>
          </p:cNvPicPr>
          <p:nvPr>
            <p:ph idx="1"/>
          </p:nvPr>
        </p:nvPicPr>
        <p:blipFill>
          <a:blip r:embed="rId2" cstate="print"/>
          <a:srcRect/>
          <a:stretch>
            <a:fillRect/>
          </a:stretch>
        </p:blipFill>
        <p:spPr bwMode="auto">
          <a:xfrm>
            <a:off x="2123728" y="1988840"/>
            <a:ext cx="4824536" cy="3312616"/>
          </a:xfrm>
          <a:prstGeom prst="rect">
            <a:avLst/>
          </a:prstGeom>
          <a:noFill/>
          <a:ln w="9525">
            <a:noFill/>
            <a:miter lim="800000"/>
            <a:headEnd/>
            <a:tailEnd/>
          </a:ln>
        </p:spPr>
      </p:pic>
    </p:spTree>
    <p:extLst>
      <p:ext uri="{BB962C8B-B14F-4D97-AF65-F5344CB8AC3E}">
        <p14:creationId xmlns:p14="http://schemas.microsoft.com/office/powerpoint/2010/main" val="717692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4900" b="1" dirty="0" smtClean="0"/>
              <a:t>Object-oriented database model</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sz="2400" dirty="0" smtClean="0"/>
              <a:t>OODM represents the real world problems easily .</a:t>
            </a:r>
          </a:p>
          <a:p>
            <a:r>
              <a:rPr lang="en-US" sz="2400" dirty="0" smtClean="0"/>
              <a:t>In OODM both data and their relationships are contained in a single structure called as an object.</a:t>
            </a:r>
          </a:p>
          <a:p>
            <a:r>
              <a:rPr lang="en-US" sz="2400" dirty="0" smtClean="0"/>
              <a:t>In OODM real world problems are represented as objects with different attributes and all the objects have multiple relationships between them.</a:t>
            </a:r>
          </a:p>
          <a:p>
            <a:pPr marL="0" indent="0">
              <a:buNone/>
            </a:pPr>
            <a:r>
              <a:rPr lang="en-US" sz="2400" dirty="0" smtClean="0"/>
              <a:t>Components of Object Oriented Data Model</a:t>
            </a:r>
          </a:p>
          <a:p>
            <a:pPr marL="0" indent="0">
              <a:buNone/>
            </a:pPr>
            <a:r>
              <a:rPr lang="en-US" sz="2400" dirty="0" smtClean="0"/>
              <a:t>Objects</a:t>
            </a:r>
          </a:p>
          <a:p>
            <a:pPr marL="0" indent="0">
              <a:buNone/>
            </a:pPr>
            <a:r>
              <a:rPr lang="en-US" sz="2400" dirty="0" smtClean="0"/>
              <a:t>Attributes</a:t>
            </a:r>
          </a:p>
          <a:p>
            <a:pPr marL="0" indent="0">
              <a:buNone/>
            </a:pPr>
            <a:r>
              <a:rPr lang="en-US" sz="2400" dirty="0" smtClean="0"/>
              <a:t>Methods </a:t>
            </a:r>
          </a:p>
          <a:p>
            <a:pPr marL="0" indent="0">
              <a:buNone/>
            </a:pPr>
            <a:r>
              <a:rPr lang="en-US" sz="2400" dirty="0" smtClean="0"/>
              <a:t>Class</a:t>
            </a:r>
          </a:p>
          <a:p>
            <a:pPr marL="0" indent="0">
              <a:buNone/>
            </a:pPr>
            <a:endParaRPr lang="en-US" sz="2400" dirty="0"/>
          </a:p>
        </p:txBody>
      </p:sp>
    </p:spTree>
    <p:extLst>
      <p:ext uri="{BB962C8B-B14F-4D97-AF65-F5344CB8AC3E}">
        <p14:creationId xmlns:p14="http://schemas.microsoft.com/office/powerpoint/2010/main" val="3680890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060848"/>
            <a:ext cx="6058793" cy="3552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1645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Abstraction</a:t>
            </a:r>
            <a:endParaRPr lang="en-IN" dirty="0"/>
          </a:p>
        </p:txBody>
      </p:sp>
      <p:sp>
        <p:nvSpPr>
          <p:cNvPr id="3" name="Content Placeholder 2"/>
          <p:cNvSpPr>
            <a:spLocks noGrp="1"/>
          </p:cNvSpPr>
          <p:nvPr>
            <p:ph idx="1"/>
          </p:nvPr>
        </p:nvSpPr>
        <p:spPr/>
        <p:txBody>
          <a:bodyPr>
            <a:normAutofit fontScale="92500" lnSpcReduction="20000"/>
          </a:bodyPr>
          <a:lstStyle/>
          <a:p>
            <a:r>
              <a:rPr lang="en-IN" sz="2400" dirty="0"/>
              <a:t>Database systems are made-up of complex data structures. To ease the user interaction with database, the developers hide internal irrelevant details from users. This process of hiding irrelevant details from user is called </a:t>
            </a:r>
            <a:r>
              <a:rPr lang="en-IN" sz="2400" dirty="0" smtClean="0"/>
              <a:t>data </a:t>
            </a:r>
            <a:r>
              <a:rPr lang="en-IN" sz="2400" dirty="0"/>
              <a:t>abstraction</a:t>
            </a:r>
            <a:r>
              <a:rPr lang="en-IN" sz="2400" dirty="0" smtClean="0"/>
              <a:t>.</a:t>
            </a:r>
          </a:p>
          <a:p>
            <a:r>
              <a:rPr lang="en-IN" sz="2400" b="1" dirty="0"/>
              <a:t>We have three levels of abstraction</a:t>
            </a:r>
            <a:r>
              <a:rPr lang="en-IN" sz="2400" dirty="0" smtClean="0"/>
              <a:t>:</a:t>
            </a:r>
          </a:p>
          <a:p>
            <a:pPr marL="0" indent="0">
              <a:buNone/>
            </a:pPr>
            <a:r>
              <a:rPr lang="en-IN" sz="2400" dirty="0"/>
              <a:t/>
            </a:r>
            <a:br>
              <a:rPr lang="en-IN" sz="2400" dirty="0"/>
            </a:br>
            <a:r>
              <a:rPr lang="en-IN" sz="2400" b="1" dirty="0"/>
              <a:t>Physical level</a:t>
            </a:r>
            <a:r>
              <a:rPr lang="en-IN" sz="2400" dirty="0"/>
              <a:t>: This is the lowest level of data abstraction. It describes how data is actually stored in database. You can get the </a:t>
            </a:r>
            <a:r>
              <a:rPr lang="en-IN" sz="2400" dirty="0" smtClean="0"/>
              <a:t>complex </a:t>
            </a:r>
            <a:r>
              <a:rPr lang="en-IN" sz="2400" dirty="0"/>
              <a:t>data structure details at this level</a:t>
            </a:r>
            <a:r>
              <a:rPr lang="en-IN" sz="2400" dirty="0" smtClean="0"/>
              <a:t>.</a:t>
            </a:r>
          </a:p>
          <a:p>
            <a:pPr marL="0" indent="0">
              <a:buNone/>
            </a:pPr>
            <a:r>
              <a:rPr lang="en-IN" sz="2400" b="1" dirty="0"/>
              <a:t>Logical level</a:t>
            </a:r>
            <a:r>
              <a:rPr lang="en-IN" sz="2400" dirty="0"/>
              <a:t>: This is the middle level of 3-level data abstraction architecture. It describes what data is stored in database.</a:t>
            </a:r>
          </a:p>
          <a:p>
            <a:pPr marL="0" indent="0">
              <a:buNone/>
            </a:pPr>
            <a:r>
              <a:rPr lang="en-IN" sz="2400" b="1" dirty="0"/>
              <a:t>View level</a:t>
            </a:r>
            <a:r>
              <a:rPr lang="en-IN" sz="2400" dirty="0"/>
              <a:t>: Highest level of data abstraction. This level describes the user interaction with database system.</a:t>
            </a:r>
            <a:br>
              <a:rPr lang="en-IN" sz="2400" dirty="0"/>
            </a:br>
            <a:endParaRPr lang="en-IN" sz="2400" dirty="0"/>
          </a:p>
        </p:txBody>
      </p:sp>
    </p:spTree>
    <p:extLst>
      <p:ext uri="{BB962C8B-B14F-4D97-AF65-F5344CB8AC3E}">
        <p14:creationId xmlns:p14="http://schemas.microsoft.com/office/powerpoint/2010/main" val="1942716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View of data</a:t>
            </a: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5531" y="1778169"/>
            <a:ext cx="7132938" cy="41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2813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normAutofit lnSpcReduction="10000"/>
          </a:bodyPr>
          <a:lstStyle/>
          <a:p>
            <a:r>
              <a:rPr lang="en-IN" sz="2400" dirty="0"/>
              <a:t>Let’s say we are storing customer information in a customer table. At </a:t>
            </a:r>
            <a:r>
              <a:rPr lang="en-IN" sz="2400" b="1" dirty="0"/>
              <a:t>physical level</a:t>
            </a:r>
            <a:r>
              <a:rPr lang="en-IN" sz="2400" dirty="0"/>
              <a:t> these records can be described as blocks of storage (bytes, gigabytes, terabytes etc.) in memory. These details are often hidden from the programmers</a:t>
            </a:r>
            <a:r>
              <a:rPr lang="en-IN" sz="2400" dirty="0" smtClean="0"/>
              <a:t>.</a:t>
            </a:r>
          </a:p>
          <a:p>
            <a:r>
              <a:rPr lang="en-IN" sz="2400" dirty="0"/>
              <a:t>At the </a:t>
            </a:r>
            <a:r>
              <a:rPr lang="en-IN" sz="2400" b="1" dirty="0"/>
              <a:t>logical level</a:t>
            </a:r>
            <a:r>
              <a:rPr lang="en-IN" sz="2400" dirty="0"/>
              <a:t> these records can be described as fields and attributes along with their data types, their relationship among each other can be logically implemented. The programmers generally work at this level because they are aware of such things about database systems.</a:t>
            </a:r>
          </a:p>
          <a:p>
            <a:r>
              <a:rPr lang="en-IN" sz="2400" dirty="0"/>
              <a:t>At </a:t>
            </a:r>
            <a:r>
              <a:rPr lang="en-IN" sz="2400" b="1" dirty="0"/>
              <a:t>view level</a:t>
            </a:r>
            <a:r>
              <a:rPr lang="en-IN" sz="2400" dirty="0"/>
              <a:t>, user just interact with system with the help of GUI and enter the details at the screen, they are not aware of how the data is stored and what data is stored; such details are hidden from them.</a:t>
            </a:r>
          </a:p>
          <a:p>
            <a:endParaRPr lang="en-IN" sz="2400" dirty="0"/>
          </a:p>
        </p:txBody>
      </p:sp>
    </p:spTree>
    <p:extLst>
      <p:ext uri="{BB962C8B-B14F-4D97-AF65-F5344CB8AC3E}">
        <p14:creationId xmlns:p14="http://schemas.microsoft.com/office/powerpoint/2010/main" val="1262496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4900" b="1" dirty="0" smtClean="0"/>
              <a:t>Data Independence</a:t>
            </a:r>
            <a:br>
              <a:rPr lang="en-US" sz="4900" b="1" dirty="0" smtClean="0"/>
            </a:br>
            <a:endParaRPr lang="en-IN" sz="4900" dirty="0"/>
          </a:p>
        </p:txBody>
      </p:sp>
      <p:sp>
        <p:nvSpPr>
          <p:cNvPr id="3" name="Content Placeholder 2"/>
          <p:cNvSpPr>
            <a:spLocks noGrp="1"/>
          </p:cNvSpPr>
          <p:nvPr>
            <p:ph idx="1"/>
          </p:nvPr>
        </p:nvSpPr>
        <p:spPr/>
        <p:txBody>
          <a:bodyPr>
            <a:normAutofit/>
          </a:bodyPr>
          <a:lstStyle/>
          <a:p>
            <a:r>
              <a:rPr lang="en-US" sz="2400" dirty="0" smtClean="0"/>
              <a:t>Data Independence is defined as a property of DBMS that helps you to change the Database schema at one level of a database system without requiring to change the schema at the next higher level.</a:t>
            </a:r>
          </a:p>
          <a:p>
            <a:r>
              <a:rPr lang="en-US" sz="2400" b="1" dirty="0" smtClean="0"/>
              <a:t>Types of Data Independence</a:t>
            </a:r>
          </a:p>
          <a:p>
            <a:pPr marL="457200" indent="-457200">
              <a:buAutoNum type="arabicPeriod"/>
            </a:pPr>
            <a:r>
              <a:rPr lang="en-US" sz="2400" dirty="0" smtClean="0"/>
              <a:t>Logical data independence</a:t>
            </a:r>
          </a:p>
          <a:p>
            <a:pPr marL="457200" indent="-457200">
              <a:buAutoNum type="arabicPeriod"/>
            </a:pPr>
            <a:r>
              <a:rPr lang="en-US" sz="2400" dirty="0" smtClean="0"/>
              <a:t> Physical data independence</a:t>
            </a:r>
          </a:p>
          <a:p>
            <a:pPr>
              <a:buNone/>
            </a:pPr>
            <a:r>
              <a:rPr lang="en-US" sz="2400" dirty="0" smtClean="0"/>
              <a:t>Logical data independence</a:t>
            </a:r>
          </a:p>
          <a:p>
            <a:pPr>
              <a:buNone/>
            </a:pPr>
            <a:r>
              <a:rPr lang="en-US" sz="2400" dirty="0" smtClean="0"/>
              <a:t>	Logical data independence refers characteristic of being able to change the conceptual schema without having to change the external schema.</a:t>
            </a:r>
          </a:p>
          <a:p>
            <a:pPr>
              <a:buNone/>
            </a:pPr>
            <a:endParaRPr lang="en-US" sz="2400" dirty="0" smtClean="0"/>
          </a:p>
          <a:p>
            <a:endParaRPr lang="en-IN" sz="2400" dirty="0"/>
          </a:p>
        </p:txBody>
      </p:sp>
    </p:spTree>
    <p:extLst>
      <p:ext uri="{BB962C8B-B14F-4D97-AF65-F5344CB8AC3E}">
        <p14:creationId xmlns:p14="http://schemas.microsoft.com/office/powerpoint/2010/main" val="1828461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US" dirty="0"/>
          </a:p>
        </p:txBody>
      </p:sp>
      <p:sp>
        <p:nvSpPr>
          <p:cNvPr id="3" name="Content Placeholder 2"/>
          <p:cNvSpPr>
            <a:spLocks noGrp="1"/>
          </p:cNvSpPr>
          <p:nvPr>
            <p:ph idx="1"/>
          </p:nvPr>
        </p:nvSpPr>
        <p:spPr>
          <a:xfrm>
            <a:off x="457200" y="908720"/>
            <a:ext cx="8229600" cy="5217443"/>
          </a:xfrm>
        </p:spPr>
        <p:txBody>
          <a:bodyPr/>
          <a:lstStyle/>
          <a:p>
            <a:r>
              <a:rPr lang="en-US" sz="2400" dirty="0" smtClean="0"/>
              <a:t>If we do any changes in the conceptual view of the data, then the user view of the data would not be affected.</a:t>
            </a:r>
          </a:p>
          <a:p>
            <a:pPr>
              <a:buNone/>
            </a:pPr>
            <a:r>
              <a:rPr lang="en-US" sz="2400" dirty="0" smtClean="0"/>
              <a:t>Physical Data Independence</a:t>
            </a:r>
          </a:p>
          <a:p>
            <a:pPr>
              <a:buNone/>
            </a:pPr>
            <a:r>
              <a:rPr lang="en-US" sz="2400" dirty="0" smtClean="0"/>
              <a:t>	Physical data independence can be defined as the capacity to change the internal schema without having to change the conceptual schema.</a:t>
            </a:r>
          </a:p>
          <a:p>
            <a:pPr>
              <a:buNone/>
            </a:pPr>
            <a:r>
              <a:rPr lang="en-US" sz="2400" dirty="0" smtClean="0"/>
              <a:t>	If we do any changes in the storage size of the database system server, then the Conceptual structure of the database will not be affected.</a:t>
            </a:r>
          </a:p>
          <a:p>
            <a:pPr>
              <a:buNone/>
            </a:pPr>
            <a:endParaRPr lang="en-US" sz="2400" dirty="0" smtClean="0"/>
          </a:p>
          <a:p>
            <a:pPr>
              <a:buNone/>
            </a:pPr>
            <a:endParaRPr lang="en-US" sz="2400" dirty="0" smtClean="0"/>
          </a:p>
          <a:p>
            <a:endParaRPr lang="en-US" dirty="0"/>
          </a:p>
        </p:txBody>
      </p:sp>
    </p:spTree>
    <p:extLst>
      <p:ext uri="{BB962C8B-B14F-4D97-AF65-F5344CB8AC3E}">
        <p14:creationId xmlns:p14="http://schemas.microsoft.com/office/powerpoint/2010/main" val="1034007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of DBMS</a:t>
            </a:r>
            <a:endParaRPr lang="en-US" dirty="0"/>
          </a:p>
        </p:txBody>
      </p:sp>
      <p:sp>
        <p:nvSpPr>
          <p:cNvPr id="3" name="Content Placeholder 2"/>
          <p:cNvSpPr>
            <a:spLocks noGrp="1"/>
          </p:cNvSpPr>
          <p:nvPr>
            <p:ph idx="1"/>
          </p:nvPr>
        </p:nvSpPr>
        <p:spPr/>
        <p:txBody>
          <a:bodyPr>
            <a:normAutofit/>
          </a:bodyPr>
          <a:lstStyle/>
          <a:p>
            <a:r>
              <a:rPr lang="en-IN" sz="2400" dirty="0"/>
              <a:t>A database system is partitioned into modules that deal with  responsibilities of the overall system</a:t>
            </a:r>
            <a:r>
              <a:rPr lang="en-IN" sz="2400" dirty="0" smtClean="0"/>
              <a:t>.</a:t>
            </a:r>
          </a:p>
          <a:p>
            <a:r>
              <a:rPr lang="en-IN" sz="2400" dirty="0"/>
              <a:t>components of a database system can be broadly divided into the </a:t>
            </a:r>
            <a:r>
              <a:rPr lang="en-IN" sz="2400" b="1" dirty="0"/>
              <a:t>storage manager</a:t>
            </a:r>
            <a:r>
              <a:rPr lang="en-IN" sz="2400" dirty="0"/>
              <a:t> and the </a:t>
            </a:r>
            <a:r>
              <a:rPr lang="en-IN" sz="2400" b="1" dirty="0"/>
              <a:t>query processor</a:t>
            </a:r>
            <a:r>
              <a:rPr lang="en-IN" sz="2400" dirty="0"/>
              <a:t> components</a:t>
            </a:r>
            <a:r>
              <a:rPr lang="en-IN" sz="2400" dirty="0" smtClean="0"/>
              <a:t>.</a:t>
            </a:r>
          </a:p>
          <a:p>
            <a:r>
              <a:rPr lang="en-IN" sz="2400" dirty="0"/>
              <a:t>The storage manager is important because databases typically require a large amount of storage space. </a:t>
            </a:r>
            <a:endParaRPr lang="en-IN" sz="2400" dirty="0" smtClean="0"/>
          </a:p>
          <a:p>
            <a:r>
              <a:rPr lang="en-IN" sz="2400" dirty="0" smtClean="0"/>
              <a:t>The </a:t>
            </a:r>
            <a:r>
              <a:rPr lang="en-IN" sz="2400" dirty="0"/>
              <a:t>query processor is important because it helps the database system simplify and facilitate access to data</a:t>
            </a:r>
            <a:r>
              <a:rPr lang="en-IN" sz="2400" dirty="0" smtClean="0"/>
              <a:t>.</a:t>
            </a:r>
          </a:p>
          <a:p>
            <a:endParaRPr lang="en-US" sz="2400" dirty="0"/>
          </a:p>
        </p:txBody>
      </p:sp>
    </p:spTree>
    <p:extLst>
      <p:ext uri="{BB962C8B-B14F-4D97-AF65-F5344CB8AC3E}">
        <p14:creationId xmlns:p14="http://schemas.microsoft.com/office/powerpoint/2010/main" val="3450958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descr="C:\Users\ADMIN\Desktop\Structure of DBMS.JPG"/>
          <p:cNvPicPr>
            <a:picLocks noChangeAspect="1" noChangeArrowheads="1"/>
          </p:cNvPicPr>
          <p:nvPr/>
        </p:nvPicPr>
        <p:blipFill>
          <a:blip r:embed="rId2" cstate="print"/>
          <a:srcRect/>
          <a:stretch>
            <a:fillRect/>
          </a:stretch>
        </p:blipFill>
        <p:spPr bwMode="auto">
          <a:xfrm>
            <a:off x="381000" y="228600"/>
            <a:ext cx="8382000" cy="6172201"/>
          </a:xfrm>
          <a:prstGeom prst="rect">
            <a:avLst/>
          </a:prstGeom>
          <a:noFill/>
        </p:spPr>
      </p:pic>
    </p:spTree>
    <p:extLst>
      <p:ext uri="{BB962C8B-B14F-4D97-AF65-F5344CB8AC3E}">
        <p14:creationId xmlns:p14="http://schemas.microsoft.com/office/powerpoint/2010/main" val="3760394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74042"/>
          </a:xfrm>
        </p:spPr>
        <p:txBody>
          <a:bodyPr>
            <a:normAutofit fontScale="90000"/>
          </a:bodyPr>
          <a:lstStyle/>
          <a:p>
            <a:endParaRPr lang="en-US" dirty="0"/>
          </a:p>
        </p:txBody>
      </p:sp>
      <p:sp>
        <p:nvSpPr>
          <p:cNvPr id="3" name="Content Placeholder 2"/>
          <p:cNvSpPr>
            <a:spLocks noGrp="1"/>
          </p:cNvSpPr>
          <p:nvPr>
            <p:ph idx="1"/>
          </p:nvPr>
        </p:nvSpPr>
        <p:spPr>
          <a:xfrm>
            <a:off x="457200" y="548680"/>
            <a:ext cx="8229600" cy="5505475"/>
          </a:xfrm>
        </p:spPr>
        <p:txBody>
          <a:bodyPr>
            <a:noAutofit/>
          </a:bodyPr>
          <a:lstStyle/>
          <a:p>
            <a:r>
              <a:rPr lang="en-IN" sz="2400" b="1" dirty="0"/>
              <a:t>Query Processor</a:t>
            </a:r>
            <a:endParaRPr lang="en-IN" sz="2400" dirty="0"/>
          </a:p>
          <a:p>
            <a:r>
              <a:rPr lang="en-IN" sz="2400" dirty="0"/>
              <a:t>The query processor components include</a:t>
            </a:r>
          </a:p>
          <a:p>
            <a:r>
              <a:rPr lang="en-IN" sz="2400" b="1" dirty="0" smtClean="0"/>
              <a:t>DDL </a:t>
            </a:r>
            <a:r>
              <a:rPr lang="en-IN" sz="2400" b="1" dirty="0"/>
              <a:t>interpreter,</a:t>
            </a:r>
            <a:r>
              <a:rPr lang="en-IN" sz="2400" dirty="0"/>
              <a:t> which interprets DDL statements and records the definitions in the data dictionary.</a:t>
            </a:r>
          </a:p>
          <a:p>
            <a:r>
              <a:rPr lang="en-IN" sz="2400" b="1" dirty="0" smtClean="0"/>
              <a:t>DML </a:t>
            </a:r>
            <a:r>
              <a:rPr lang="en-IN" sz="2400" b="1" dirty="0"/>
              <a:t>compiler,</a:t>
            </a:r>
            <a:r>
              <a:rPr lang="en-IN" sz="2400" dirty="0"/>
              <a:t> which translates DML statements in a query language into an evaluation plan consisting of low-level instructions that the query evaluation engine understands.</a:t>
            </a:r>
          </a:p>
          <a:p>
            <a:r>
              <a:rPr lang="en-IN" sz="2400" dirty="0"/>
              <a:t>A query can usually be translated into any of a number of alternative evaluation plans that all give the same result. The DML compiler also performs </a:t>
            </a:r>
            <a:r>
              <a:rPr lang="en-IN" sz="2400" b="1" dirty="0"/>
              <a:t>query optimization</a:t>
            </a:r>
            <a:r>
              <a:rPr lang="en-IN" sz="2400" dirty="0"/>
              <a:t>, that is, it picks the lowest cost evaluation plan from among the alternatives.</a:t>
            </a:r>
          </a:p>
          <a:p>
            <a:r>
              <a:rPr lang="en-IN" sz="2400" b="1" dirty="0" smtClean="0"/>
              <a:t>Query </a:t>
            </a:r>
            <a:r>
              <a:rPr lang="en-IN" sz="2400" b="1" dirty="0"/>
              <a:t>evaluation engine,</a:t>
            </a:r>
            <a:r>
              <a:rPr lang="en-IN" sz="2400" dirty="0"/>
              <a:t> which executes low-level instructions generated by the DML compiler.</a:t>
            </a:r>
          </a:p>
          <a:p>
            <a:endParaRPr lang="en-US" sz="2400" dirty="0"/>
          </a:p>
        </p:txBody>
      </p:sp>
    </p:spTree>
    <p:extLst>
      <p:ext uri="{BB962C8B-B14F-4D97-AF65-F5344CB8AC3E}">
        <p14:creationId xmlns:p14="http://schemas.microsoft.com/office/powerpoint/2010/main" val="2580193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Storage Manager</a:t>
            </a:r>
            <a:endParaRPr lang="en-IN" dirty="0"/>
          </a:p>
        </p:txBody>
      </p:sp>
      <p:sp>
        <p:nvSpPr>
          <p:cNvPr id="3" name="Content Placeholder 2"/>
          <p:cNvSpPr>
            <a:spLocks noGrp="1"/>
          </p:cNvSpPr>
          <p:nvPr>
            <p:ph idx="1"/>
          </p:nvPr>
        </p:nvSpPr>
        <p:spPr/>
        <p:txBody>
          <a:bodyPr>
            <a:normAutofit lnSpcReduction="10000"/>
          </a:bodyPr>
          <a:lstStyle/>
          <a:p>
            <a:r>
              <a:rPr lang="en-IN" sz="2400" dirty="0"/>
              <a:t>A </a:t>
            </a:r>
            <a:r>
              <a:rPr lang="en-IN" sz="2400" i="1" dirty="0"/>
              <a:t>storage manager </a:t>
            </a:r>
            <a:r>
              <a:rPr lang="en-IN" sz="2400" dirty="0"/>
              <a:t>is a program module that provides the interface between the </a:t>
            </a:r>
            <a:r>
              <a:rPr lang="en-IN" sz="2400" dirty="0" smtClean="0"/>
              <a:t>low level </a:t>
            </a:r>
            <a:r>
              <a:rPr lang="en-IN" sz="2400" dirty="0"/>
              <a:t>data stored in the database and the application programs and queries submitted to the </a:t>
            </a:r>
            <a:r>
              <a:rPr lang="en-IN" sz="2400" dirty="0" smtClean="0"/>
              <a:t>system</a:t>
            </a:r>
          </a:p>
          <a:p>
            <a:r>
              <a:rPr lang="en-IN" sz="2400" dirty="0"/>
              <a:t>The storage manager components include:</a:t>
            </a:r>
          </a:p>
          <a:p>
            <a:r>
              <a:rPr lang="en-IN" sz="2400" b="1" dirty="0" smtClean="0"/>
              <a:t>Authorization </a:t>
            </a:r>
            <a:r>
              <a:rPr lang="en-IN" sz="2400" b="1" dirty="0"/>
              <a:t>and integrity manager</a:t>
            </a:r>
            <a:r>
              <a:rPr lang="en-IN" sz="2400" dirty="0"/>
              <a:t>, which tests for the satisfaction of integrity constraints and checks the authority of users to access data.</a:t>
            </a:r>
          </a:p>
          <a:p>
            <a:r>
              <a:rPr lang="en-IN" sz="2400" b="1" dirty="0" smtClean="0"/>
              <a:t>Transaction </a:t>
            </a:r>
            <a:r>
              <a:rPr lang="en-IN" sz="2400" b="1" dirty="0"/>
              <a:t>manager</a:t>
            </a:r>
            <a:r>
              <a:rPr lang="en-IN" sz="2400" dirty="0"/>
              <a:t>, which ensures that the database remains in a consistent (correct) state despite system failures, and that concurrent transaction executions proceed without conflicting.</a:t>
            </a:r>
          </a:p>
          <a:p>
            <a:endParaRPr lang="en-IN" sz="2400" dirty="0"/>
          </a:p>
        </p:txBody>
      </p:sp>
    </p:spTree>
    <p:extLst>
      <p:ext uri="{BB962C8B-B14F-4D97-AF65-F5344CB8AC3E}">
        <p14:creationId xmlns:p14="http://schemas.microsoft.com/office/powerpoint/2010/main" val="1079402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0026"/>
          </a:xfrm>
        </p:spPr>
        <p:txBody>
          <a:bodyPr>
            <a:normAutofit fontScale="90000"/>
          </a:bodyPr>
          <a:lstStyle/>
          <a:p>
            <a:endParaRPr lang="en-IN" dirty="0"/>
          </a:p>
        </p:txBody>
      </p:sp>
      <p:sp>
        <p:nvSpPr>
          <p:cNvPr id="3" name="Content Placeholder 2"/>
          <p:cNvSpPr>
            <a:spLocks noGrp="1"/>
          </p:cNvSpPr>
          <p:nvPr>
            <p:ph idx="1"/>
          </p:nvPr>
        </p:nvSpPr>
        <p:spPr>
          <a:xfrm>
            <a:off x="457200" y="692696"/>
            <a:ext cx="8229600" cy="5433467"/>
          </a:xfrm>
        </p:spPr>
        <p:txBody>
          <a:bodyPr>
            <a:normAutofit/>
          </a:bodyPr>
          <a:lstStyle/>
          <a:p>
            <a:r>
              <a:rPr lang="en-IN" sz="2400" b="1" dirty="0"/>
              <a:t>File manager</a:t>
            </a:r>
            <a:r>
              <a:rPr lang="en-IN" sz="2400" dirty="0"/>
              <a:t>, which manages the allocation of space on disk storage and the data structures used to represent information stored on disk.</a:t>
            </a:r>
          </a:p>
          <a:p>
            <a:r>
              <a:rPr lang="en-IN" sz="2400" b="1" dirty="0" smtClean="0"/>
              <a:t>Buffer </a:t>
            </a:r>
            <a:r>
              <a:rPr lang="en-IN" sz="2400" b="1" dirty="0"/>
              <a:t>manager</a:t>
            </a:r>
            <a:r>
              <a:rPr lang="en-IN" sz="2400" dirty="0"/>
              <a:t>, which is responsible for fetching data from disk storage into main memory, and deciding what data to cache in main memory. The buffer manager is a critical part of the database system, since it enables the database to handle data sizes that are much larger than the size of main memory.</a:t>
            </a:r>
          </a:p>
          <a:p>
            <a:endParaRPr lang="en-IN" sz="2400" dirty="0"/>
          </a:p>
        </p:txBody>
      </p:sp>
    </p:spTree>
    <p:extLst>
      <p:ext uri="{BB962C8B-B14F-4D97-AF65-F5344CB8AC3E}">
        <p14:creationId xmlns:p14="http://schemas.microsoft.com/office/powerpoint/2010/main" val="2909872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users in DBMS</a:t>
            </a:r>
            <a:endParaRPr lang="en-IN" dirty="0"/>
          </a:p>
        </p:txBody>
      </p:sp>
      <p:sp>
        <p:nvSpPr>
          <p:cNvPr id="3" name="Content Placeholder 2"/>
          <p:cNvSpPr>
            <a:spLocks noGrp="1"/>
          </p:cNvSpPr>
          <p:nvPr>
            <p:ph idx="1"/>
          </p:nvPr>
        </p:nvSpPr>
        <p:spPr/>
        <p:txBody>
          <a:bodyPr>
            <a:normAutofit lnSpcReduction="10000"/>
          </a:bodyPr>
          <a:lstStyle/>
          <a:p>
            <a:r>
              <a:rPr lang="en-IN" sz="2400" b="1" dirty="0"/>
              <a:t>Native Users –</a:t>
            </a:r>
            <a:r>
              <a:rPr lang="en-IN" sz="2400" dirty="0"/>
              <a:t> these are the users who use the existing application to interact with the database. For example, online library system, ticket booking systems, ATMs </a:t>
            </a:r>
            <a:r>
              <a:rPr lang="en-IN" sz="2400" dirty="0" err="1"/>
              <a:t>etc</a:t>
            </a:r>
            <a:r>
              <a:rPr lang="en-IN" sz="2400" dirty="0"/>
              <a:t> which has existing application and users use them to interact with the database to </a:t>
            </a:r>
            <a:r>
              <a:rPr lang="en-IN" sz="2400" dirty="0" err="1"/>
              <a:t>fulfill</a:t>
            </a:r>
            <a:r>
              <a:rPr lang="en-IN" sz="2400" dirty="0"/>
              <a:t> their requests.</a:t>
            </a:r>
          </a:p>
          <a:p>
            <a:r>
              <a:rPr lang="en-IN" sz="2400" b="1" dirty="0"/>
              <a:t>Sophisticated Users –</a:t>
            </a:r>
            <a:r>
              <a:rPr lang="en-IN" sz="2400" dirty="0"/>
              <a:t> They are database developers, who write SQL queries to select/insert/delete/update data. They do not use any application or programs to request the database. They directly interact with the database by </a:t>
            </a:r>
            <a:r>
              <a:rPr lang="en-IN" sz="2400" dirty="0" smtClean="0"/>
              <a:t>means of query languages like SQL.</a:t>
            </a:r>
          </a:p>
          <a:p>
            <a:r>
              <a:rPr lang="en-IN" sz="2400" dirty="0" smtClean="0"/>
              <a:t>Application Programmers-A technical person who writes database application programs. </a:t>
            </a:r>
            <a:endParaRPr lang="en-IN" sz="2400" dirty="0"/>
          </a:p>
        </p:txBody>
      </p:sp>
    </p:spTree>
    <p:extLst>
      <p:ext uri="{BB962C8B-B14F-4D97-AF65-F5344CB8AC3E}">
        <p14:creationId xmlns:p14="http://schemas.microsoft.com/office/powerpoint/2010/main" val="2486101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IN" dirty="0"/>
          </a:p>
        </p:txBody>
      </p:sp>
      <p:sp>
        <p:nvSpPr>
          <p:cNvPr id="3" name="Content Placeholder 2"/>
          <p:cNvSpPr>
            <a:spLocks noGrp="1"/>
          </p:cNvSpPr>
          <p:nvPr>
            <p:ph idx="1"/>
          </p:nvPr>
        </p:nvSpPr>
        <p:spPr>
          <a:xfrm>
            <a:off x="457200" y="980728"/>
            <a:ext cx="8229600" cy="5145435"/>
          </a:xfrm>
        </p:spPr>
        <p:txBody>
          <a:bodyPr/>
          <a:lstStyle/>
          <a:p>
            <a:r>
              <a:rPr lang="en-IN" sz="2400" dirty="0"/>
              <a:t>They write programs by using computer programming languages and development tools.</a:t>
            </a:r>
          </a:p>
          <a:p>
            <a:r>
              <a:rPr lang="en-IN" sz="2400" dirty="0"/>
              <a:t>Application programs that interact with database are developed as per the user requirements and include functionalities </a:t>
            </a:r>
            <a:r>
              <a:rPr lang="en-IN" sz="2400" dirty="0" smtClean="0"/>
              <a:t>of CRUD operations</a:t>
            </a:r>
          </a:p>
          <a:p>
            <a:pPr marL="0" indent="0">
              <a:buNone/>
            </a:pPr>
            <a:r>
              <a:rPr lang="en-IN" sz="2400" dirty="0"/>
              <a:t/>
            </a:r>
            <a:br>
              <a:rPr lang="en-IN" sz="2400" dirty="0"/>
            </a:br>
            <a:r>
              <a:rPr lang="en-IN" sz="2400" dirty="0"/>
              <a:t/>
            </a:r>
            <a:br>
              <a:rPr lang="en-IN" sz="2400" dirty="0"/>
            </a:br>
            <a:endParaRPr lang="en-IN" sz="2400" dirty="0"/>
          </a:p>
        </p:txBody>
      </p:sp>
    </p:spTree>
    <p:extLst>
      <p:ext uri="{BB962C8B-B14F-4D97-AF65-F5344CB8AC3E}">
        <p14:creationId xmlns:p14="http://schemas.microsoft.com/office/powerpoint/2010/main" val="27697252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sz="4900" b="1" dirty="0" smtClean="0"/>
              <a:t>Database Administrator</a:t>
            </a:r>
            <a:r>
              <a:rPr lang="en-IN" b="1" dirty="0"/>
              <a:t/>
            </a:r>
            <a:br>
              <a:rPr lang="en-IN" b="1" dirty="0"/>
            </a:br>
            <a:endParaRPr lang="en-IN" dirty="0"/>
          </a:p>
        </p:txBody>
      </p:sp>
      <p:sp>
        <p:nvSpPr>
          <p:cNvPr id="3" name="Content Placeholder 2"/>
          <p:cNvSpPr>
            <a:spLocks noGrp="1"/>
          </p:cNvSpPr>
          <p:nvPr>
            <p:ph idx="1"/>
          </p:nvPr>
        </p:nvSpPr>
        <p:spPr/>
        <p:txBody>
          <a:bodyPr>
            <a:normAutofit/>
          </a:bodyPr>
          <a:lstStyle/>
          <a:p>
            <a:r>
              <a:rPr lang="en-IN" sz="2400" dirty="0" smtClean="0"/>
              <a:t>Also </a:t>
            </a:r>
            <a:r>
              <a:rPr lang="en-IN" sz="2400" dirty="0"/>
              <a:t>know as DBA. </a:t>
            </a:r>
          </a:p>
          <a:p>
            <a:r>
              <a:rPr lang="en-IN" sz="2400" b="1" dirty="0"/>
              <a:t>Roles of DBA</a:t>
            </a:r>
          </a:p>
          <a:p>
            <a:pPr marL="0" indent="0">
              <a:buNone/>
            </a:pPr>
            <a:r>
              <a:rPr lang="en-IN" sz="2400" dirty="0" smtClean="0"/>
              <a:t>1. DBA </a:t>
            </a:r>
            <a:r>
              <a:rPr lang="en-IN" sz="2400" dirty="0"/>
              <a:t>is responsible for every thing that is related to database</a:t>
            </a:r>
          </a:p>
          <a:p>
            <a:pPr marL="0" indent="0">
              <a:buNone/>
            </a:pPr>
            <a:r>
              <a:rPr lang="en-IN" sz="2400" dirty="0" smtClean="0"/>
              <a:t>2. Schema </a:t>
            </a:r>
            <a:r>
              <a:rPr lang="en-IN" sz="2400" dirty="0"/>
              <a:t>definition and modification</a:t>
            </a:r>
          </a:p>
          <a:p>
            <a:pPr marL="0" indent="0">
              <a:buNone/>
            </a:pPr>
            <a:r>
              <a:rPr lang="en-IN" sz="2400" dirty="0" smtClean="0"/>
              <a:t>3. Granting </a:t>
            </a:r>
            <a:r>
              <a:rPr lang="en-IN" sz="2400" dirty="0"/>
              <a:t>of authorization for data access</a:t>
            </a:r>
          </a:p>
          <a:p>
            <a:pPr marL="0" indent="0">
              <a:buNone/>
            </a:pPr>
            <a:r>
              <a:rPr lang="en-IN" sz="2400" dirty="0" smtClean="0"/>
              <a:t>4. DBA </a:t>
            </a:r>
            <a:r>
              <a:rPr lang="en-IN" sz="2400" dirty="0"/>
              <a:t>is responsible for taking the database backup periodically</a:t>
            </a:r>
          </a:p>
          <a:p>
            <a:pPr marL="0" indent="0">
              <a:buNone/>
            </a:pPr>
            <a:r>
              <a:rPr lang="en-IN" sz="2400" dirty="0" smtClean="0"/>
              <a:t>5. New </a:t>
            </a:r>
            <a:r>
              <a:rPr lang="en-IN" sz="2400" dirty="0"/>
              <a:t>software </a:t>
            </a:r>
            <a:r>
              <a:rPr lang="en-IN" sz="2400" dirty="0" smtClean="0"/>
              <a:t>installation</a:t>
            </a:r>
          </a:p>
          <a:p>
            <a:pPr marL="0" indent="0">
              <a:buNone/>
            </a:pPr>
            <a:r>
              <a:rPr lang="en-IN" sz="2400" dirty="0" smtClean="0"/>
              <a:t>6. Monitoring performance</a:t>
            </a:r>
          </a:p>
          <a:p>
            <a:pPr marL="0" indent="0">
              <a:buNone/>
            </a:pPr>
            <a:r>
              <a:rPr lang="en-IN" sz="2400" dirty="0" smtClean="0"/>
              <a:t>7. Specifying integrity constraints </a:t>
            </a:r>
            <a:endParaRPr lang="en-IN" sz="2400" dirty="0"/>
          </a:p>
          <a:p>
            <a:endParaRPr lang="en-IN" dirty="0"/>
          </a:p>
        </p:txBody>
      </p:sp>
    </p:spTree>
    <p:extLst>
      <p:ext uri="{BB962C8B-B14F-4D97-AF65-F5344CB8AC3E}">
        <p14:creationId xmlns:p14="http://schemas.microsoft.com/office/powerpoint/2010/main" val="2289169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Disk Storage</a:t>
            </a:r>
            <a:endParaRPr lang="en-IN"/>
          </a:p>
        </p:txBody>
      </p:sp>
      <p:sp>
        <p:nvSpPr>
          <p:cNvPr id="3" name="Content Placeholder 2"/>
          <p:cNvSpPr>
            <a:spLocks noGrp="1"/>
          </p:cNvSpPr>
          <p:nvPr>
            <p:ph idx="1"/>
          </p:nvPr>
        </p:nvSpPr>
        <p:spPr/>
        <p:txBody>
          <a:bodyPr/>
          <a:lstStyle/>
          <a:p>
            <a:r>
              <a:rPr lang="en-IN" b="1" dirty="0" smtClean="0"/>
              <a:t>Data dictionary:</a:t>
            </a:r>
            <a:r>
              <a:rPr lang="en-IN" dirty="0" smtClean="0"/>
              <a:t> Stores metadata about the structure of the database.</a:t>
            </a:r>
          </a:p>
          <a:p>
            <a:r>
              <a:rPr lang="en-IN" b="1" dirty="0" smtClean="0"/>
              <a:t>Indices:</a:t>
            </a:r>
            <a:r>
              <a:rPr lang="en-IN" dirty="0" smtClean="0"/>
              <a:t> Provide fast access to data items.</a:t>
            </a:r>
          </a:p>
          <a:p>
            <a:r>
              <a:rPr lang="en-IN" dirty="0" smtClean="0"/>
              <a:t>Data : It stores the databases</a:t>
            </a:r>
          </a:p>
          <a:p>
            <a:r>
              <a:rPr lang="en-IN" dirty="0" smtClean="0"/>
              <a:t>Statistical data: it stores statistical information about the data in the database and this information is used by query processor to select efficient ways to execute query.</a:t>
            </a:r>
          </a:p>
          <a:p>
            <a:endParaRPr lang="en-IN" dirty="0"/>
          </a:p>
        </p:txBody>
      </p:sp>
    </p:spTree>
    <p:extLst>
      <p:ext uri="{BB962C8B-B14F-4D97-AF65-F5344CB8AC3E}">
        <p14:creationId xmlns:p14="http://schemas.microsoft.com/office/powerpoint/2010/main" val="1290916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Query Processor</a:t>
            </a:r>
            <a:endParaRPr lang="en-IN" dirty="0"/>
          </a:p>
        </p:txBody>
      </p:sp>
      <p:sp>
        <p:nvSpPr>
          <p:cNvPr id="3" name="Content Placeholder 2"/>
          <p:cNvSpPr>
            <a:spLocks noGrp="1"/>
          </p:cNvSpPr>
          <p:nvPr>
            <p:ph idx="1"/>
          </p:nvPr>
        </p:nvSpPr>
        <p:spPr/>
        <p:txBody>
          <a:bodyPr/>
          <a:lstStyle/>
          <a:p>
            <a:endParaRPr lang="en-IN" dirty="0"/>
          </a:p>
        </p:txBody>
      </p:sp>
      <p:grpSp>
        <p:nvGrpSpPr>
          <p:cNvPr id="4" name="object 3"/>
          <p:cNvGrpSpPr/>
          <p:nvPr/>
        </p:nvGrpSpPr>
        <p:grpSpPr>
          <a:xfrm>
            <a:off x="971600" y="1772816"/>
            <a:ext cx="7416824" cy="3876603"/>
            <a:chOff x="2476500" y="1943100"/>
            <a:chExt cx="6122035" cy="3738879"/>
          </a:xfrm>
        </p:grpSpPr>
        <p:sp>
          <p:nvSpPr>
            <p:cNvPr id="5" name="object 4"/>
            <p:cNvSpPr/>
            <p:nvPr/>
          </p:nvSpPr>
          <p:spPr>
            <a:xfrm>
              <a:off x="2565404" y="2054556"/>
              <a:ext cx="5961034" cy="3543673"/>
            </a:xfrm>
            <a:prstGeom prst="rect">
              <a:avLst/>
            </a:prstGeom>
            <a:blipFill>
              <a:blip r:embed="rId2" cstate="print"/>
              <a:stretch>
                <a:fillRect/>
              </a:stretch>
            </a:blipFill>
          </p:spPr>
          <p:txBody>
            <a:bodyPr wrap="square" lIns="0" tIns="0" rIns="0" bIns="0" rtlCol="0"/>
            <a:lstStyle/>
            <a:p>
              <a:endParaRPr/>
            </a:p>
          </p:txBody>
        </p:sp>
        <p:sp>
          <p:nvSpPr>
            <p:cNvPr id="6" name="object 5"/>
            <p:cNvSpPr/>
            <p:nvPr/>
          </p:nvSpPr>
          <p:spPr>
            <a:xfrm>
              <a:off x="2476500" y="1943099"/>
              <a:ext cx="6122035" cy="3738879"/>
            </a:xfrm>
            <a:custGeom>
              <a:avLst/>
              <a:gdLst/>
              <a:ahLst/>
              <a:cxnLst/>
              <a:rect l="l" t="t" r="r" b="b"/>
              <a:pathLst>
                <a:path w="6122034" h="3738879">
                  <a:moveTo>
                    <a:pt x="6096508" y="25400"/>
                  </a:moveTo>
                  <a:lnTo>
                    <a:pt x="25400" y="25400"/>
                  </a:lnTo>
                  <a:lnTo>
                    <a:pt x="25400" y="38100"/>
                  </a:lnTo>
                  <a:lnTo>
                    <a:pt x="25400" y="3700780"/>
                  </a:lnTo>
                  <a:lnTo>
                    <a:pt x="25400" y="3713480"/>
                  </a:lnTo>
                  <a:lnTo>
                    <a:pt x="6096508" y="3713480"/>
                  </a:lnTo>
                  <a:lnTo>
                    <a:pt x="6096508" y="3700780"/>
                  </a:lnTo>
                  <a:lnTo>
                    <a:pt x="38100" y="3700780"/>
                  </a:lnTo>
                  <a:lnTo>
                    <a:pt x="38100" y="38100"/>
                  </a:lnTo>
                  <a:lnTo>
                    <a:pt x="6083808" y="38100"/>
                  </a:lnTo>
                  <a:lnTo>
                    <a:pt x="6083808" y="3700272"/>
                  </a:lnTo>
                  <a:lnTo>
                    <a:pt x="6096508" y="3700284"/>
                  </a:lnTo>
                  <a:lnTo>
                    <a:pt x="6096508" y="38100"/>
                  </a:lnTo>
                  <a:lnTo>
                    <a:pt x="6096508" y="25400"/>
                  </a:lnTo>
                  <a:close/>
                </a:path>
                <a:path w="6122034" h="3738879">
                  <a:moveTo>
                    <a:pt x="6121908" y="0"/>
                  </a:moveTo>
                  <a:lnTo>
                    <a:pt x="0" y="0"/>
                  </a:lnTo>
                  <a:lnTo>
                    <a:pt x="0" y="12700"/>
                  </a:lnTo>
                  <a:lnTo>
                    <a:pt x="0" y="3726180"/>
                  </a:lnTo>
                  <a:lnTo>
                    <a:pt x="0" y="3738880"/>
                  </a:lnTo>
                  <a:lnTo>
                    <a:pt x="6121908" y="3738880"/>
                  </a:lnTo>
                  <a:lnTo>
                    <a:pt x="6121908" y="3726180"/>
                  </a:lnTo>
                  <a:lnTo>
                    <a:pt x="12700" y="3726180"/>
                  </a:lnTo>
                  <a:lnTo>
                    <a:pt x="12700" y="12700"/>
                  </a:lnTo>
                  <a:lnTo>
                    <a:pt x="6109208" y="12700"/>
                  </a:lnTo>
                  <a:lnTo>
                    <a:pt x="6109208" y="3725672"/>
                  </a:lnTo>
                  <a:lnTo>
                    <a:pt x="6121908" y="3725684"/>
                  </a:lnTo>
                  <a:lnTo>
                    <a:pt x="6121908" y="12700"/>
                  </a:lnTo>
                  <a:lnTo>
                    <a:pt x="6121908" y="0"/>
                  </a:lnTo>
                  <a:close/>
                </a:path>
              </a:pathLst>
            </a:custGeom>
            <a:solidFill>
              <a:srgbClr val="1F487C"/>
            </a:solidFill>
          </p:spPr>
          <p:txBody>
            <a:bodyPr wrap="square" lIns="0" tIns="0" rIns="0" bIns="0" rtlCol="0"/>
            <a:lstStyle/>
            <a:p>
              <a:endParaRPr/>
            </a:p>
          </p:txBody>
        </p:sp>
      </p:grpSp>
    </p:spTree>
    <p:extLst>
      <p:ext uri="{BB962C8B-B14F-4D97-AF65-F5344CB8AC3E}">
        <p14:creationId xmlns:p14="http://schemas.microsoft.com/office/powerpoint/2010/main" val="3548993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smtClean="0"/>
              <a:t>High level query (SQL) into low level language</a:t>
            </a:r>
          </a:p>
          <a:p>
            <a:pPr marL="0" indent="0">
              <a:buNone/>
            </a:pPr>
            <a:r>
              <a:rPr lang="en-IN" sz="2400" dirty="0" smtClean="0"/>
              <a:t>The basic steps in Query processing</a:t>
            </a:r>
          </a:p>
          <a:p>
            <a:r>
              <a:rPr lang="en-IN" sz="2400" dirty="0" smtClean="0"/>
              <a:t>Does parsing and translation</a:t>
            </a:r>
          </a:p>
          <a:p>
            <a:r>
              <a:rPr lang="en-IN" sz="2400" dirty="0" smtClean="0"/>
              <a:t>Optimization</a:t>
            </a:r>
          </a:p>
          <a:p>
            <a:r>
              <a:rPr lang="en-IN" sz="2400" dirty="0" smtClean="0"/>
              <a:t>Evaluation</a:t>
            </a:r>
          </a:p>
        </p:txBody>
      </p:sp>
    </p:spTree>
    <p:extLst>
      <p:ext uri="{BB962C8B-B14F-4D97-AF65-F5344CB8AC3E}">
        <p14:creationId xmlns:p14="http://schemas.microsoft.com/office/powerpoint/2010/main" val="1443287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sz="2400" dirty="0"/>
              <a:t>Process:</a:t>
            </a:r>
          </a:p>
          <a:p>
            <a:r>
              <a:rPr lang="en-IN" sz="2400" dirty="0"/>
              <a:t>Query is in high level language </a:t>
            </a:r>
          </a:p>
          <a:p>
            <a:r>
              <a:rPr lang="en-IN" sz="2400" dirty="0"/>
              <a:t>Parsing and translation</a:t>
            </a:r>
          </a:p>
          <a:p>
            <a:r>
              <a:rPr lang="en-IN" sz="2400" dirty="0"/>
              <a:t>Translate the query into its internal form. This is then translated into relational algebra. </a:t>
            </a:r>
            <a:endParaRPr lang="en-IN" sz="2400" dirty="0" smtClean="0"/>
          </a:p>
          <a:p>
            <a:r>
              <a:rPr lang="en-IN" sz="2400" dirty="0" smtClean="0"/>
              <a:t>– </a:t>
            </a:r>
            <a:r>
              <a:rPr lang="en-IN" sz="2400" dirty="0"/>
              <a:t>Parser checks syntax, verifies relations </a:t>
            </a:r>
            <a:endParaRPr lang="en-IN" sz="2400" dirty="0" smtClean="0"/>
          </a:p>
          <a:p>
            <a:r>
              <a:rPr lang="en-IN" sz="2400" dirty="0" smtClean="0"/>
              <a:t>Translator</a:t>
            </a:r>
          </a:p>
          <a:p>
            <a:r>
              <a:rPr lang="en-IN" sz="2400" dirty="0"/>
              <a:t> </a:t>
            </a:r>
            <a:r>
              <a:rPr lang="en-IN" sz="2400" dirty="0" smtClean="0"/>
              <a:t>transform </a:t>
            </a:r>
            <a:r>
              <a:rPr lang="en-IN" sz="2400" dirty="0"/>
              <a:t>query into an internal form (similar to relational algebra</a:t>
            </a:r>
            <a:r>
              <a:rPr lang="en-IN" sz="2400" dirty="0" smtClean="0"/>
              <a:t>)</a:t>
            </a:r>
          </a:p>
          <a:p>
            <a:r>
              <a:rPr lang="en-IN" sz="2400" dirty="0" smtClean="0"/>
              <a:t>We may have more then one equivalent relation algebraic expression.</a:t>
            </a:r>
            <a:endParaRPr lang="en-IN" sz="2400" dirty="0"/>
          </a:p>
          <a:p>
            <a:endParaRPr lang="en-IN" dirty="0"/>
          </a:p>
        </p:txBody>
      </p:sp>
    </p:spTree>
    <p:extLst>
      <p:ext uri="{BB962C8B-B14F-4D97-AF65-F5344CB8AC3E}">
        <p14:creationId xmlns:p14="http://schemas.microsoft.com/office/powerpoint/2010/main" val="1557684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sz="2400" b="1"/>
              <a:t>select </a:t>
            </a:r>
            <a:r>
              <a:rPr lang="en-IN" sz="2400" b="1" smtClean="0"/>
              <a:t>salary </a:t>
            </a:r>
            <a:r>
              <a:rPr lang="en-IN" sz="2400" b="1" dirty="0"/>
              <a:t>from Employee where salary&gt;10000;</a:t>
            </a:r>
            <a:endParaRPr lang="en-IN" sz="2400" dirty="0"/>
          </a:p>
          <a:p>
            <a:r>
              <a:rPr lang="en-IN" sz="2400" dirty="0"/>
              <a:t>Thus, to make the system understand the user query, it needs to be translated in the form of relational algebra. We can bring this query in the relational algebra form as:</a:t>
            </a:r>
          </a:p>
          <a:p>
            <a:r>
              <a:rPr lang="en-IN" sz="2400" b="1" dirty="0" err="1"/>
              <a:t>σ</a:t>
            </a:r>
            <a:r>
              <a:rPr lang="en-IN" sz="2400" b="1" baseline="-25000" dirty="0" err="1"/>
              <a:t>salary</a:t>
            </a:r>
            <a:r>
              <a:rPr lang="en-IN" sz="2400" b="1" baseline="-25000" dirty="0"/>
              <a:t>&gt;10000</a:t>
            </a:r>
            <a:r>
              <a:rPr lang="en-IN" sz="2400" b="1" dirty="0"/>
              <a:t> (π</a:t>
            </a:r>
            <a:r>
              <a:rPr lang="en-IN" sz="2400" b="1" baseline="-25000" dirty="0"/>
              <a:t>salary</a:t>
            </a:r>
            <a:r>
              <a:rPr lang="en-IN" sz="2400" b="1" dirty="0"/>
              <a:t> (Employee))</a:t>
            </a:r>
            <a:endParaRPr lang="en-IN" sz="2400" dirty="0"/>
          </a:p>
          <a:p>
            <a:r>
              <a:rPr lang="en-IN" sz="2400" b="1" dirty="0"/>
              <a:t>π</a:t>
            </a:r>
            <a:r>
              <a:rPr lang="en-IN" sz="2400" b="1" baseline="-25000" dirty="0"/>
              <a:t>salary</a:t>
            </a:r>
            <a:r>
              <a:rPr lang="en-IN" sz="2400" b="1" dirty="0"/>
              <a:t> (</a:t>
            </a:r>
            <a:r>
              <a:rPr lang="en-IN" sz="2400" b="1" dirty="0" err="1"/>
              <a:t>σ</a:t>
            </a:r>
            <a:r>
              <a:rPr lang="en-IN" sz="2400" b="1" baseline="-25000" dirty="0" err="1"/>
              <a:t>salary</a:t>
            </a:r>
            <a:r>
              <a:rPr lang="en-IN" sz="2400" b="1" baseline="-25000" dirty="0"/>
              <a:t>&gt;10000</a:t>
            </a:r>
            <a:r>
              <a:rPr lang="en-IN" sz="2400" b="1" dirty="0"/>
              <a:t> (Employee</a:t>
            </a:r>
            <a:r>
              <a:rPr lang="en-IN" sz="2400" b="1" dirty="0" smtClean="0"/>
              <a:t>))</a:t>
            </a:r>
          </a:p>
          <a:p>
            <a:endParaRPr lang="en-IN" sz="2400" b="1" dirty="0"/>
          </a:p>
          <a:p>
            <a:r>
              <a:rPr lang="en-IN" sz="2400" dirty="0" smtClean="0"/>
              <a:t>After this the expression will be optimized using optimizer</a:t>
            </a:r>
            <a:r>
              <a:rPr lang="en-IN" sz="2400" b="1" dirty="0" smtClean="0"/>
              <a:t> </a:t>
            </a:r>
          </a:p>
          <a:p>
            <a:pPr marL="0" indent="0">
              <a:buNone/>
            </a:pPr>
            <a:r>
              <a:rPr lang="en-IN" sz="2400" dirty="0" err="1" smtClean="0"/>
              <a:t>ie</a:t>
            </a:r>
            <a:r>
              <a:rPr lang="en-IN" sz="2400" dirty="0" smtClean="0"/>
              <a:t> it selects the best query</a:t>
            </a:r>
          </a:p>
          <a:p>
            <a:pPr marL="0" indent="0">
              <a:buNone/>
            </a:pPr>
            <a:endParaRPr lang="en-IN" sz="2400" dirty="0"/>
          </a:p>
          <a:p>
            <a:pPr marL="0" indent="0">
              <a:buNone/>
            </a:pPr>
            <a:endParaRPr lang="en-IN" sz="2400" dirty="0"/>
          </a:p>
          <a:p>
            <a:endParaRPr lang="en-IN" dirty="0"/>
          </a:p>
        </p:txBody>
      </p:sp>
    </p:spTree>
    <p:extLst>
      <p:ext uri="{BB962C8B-B14F-4D97-AF65-F5344CB8AC3E}">
        <p14:creationId xmlns:p14="http://schemas.microsoft.com/office/powerpoint/2010/main" val="2601296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smtClean="0"/>
              <a:t>Statistics about data is used to help optimizer for the best evaluation of query.</a:t>
            </a:r>
          </a:p>
          <a:p>
            <a:r>
              <a:rPr lang="en-IN" sz="2400" dirty="0" smtClean="0"/>
              <a:t>After evaluating the best query this would be given to execution plan</a:t>
            </a:r>
          </a:p>
          <a:p>
            <a:r>
              <a:rPr lang="en-IN" sz="2400" dirty="0" smtClean="0"/>
              <a:t>The execution plan will be send in form of a tree.</a:t>
            </a:r>
          </a:p>
          <a:p>
            <a:endParaRPr lang="en-IN" sz="2400" dirty="0"/>
          </a:p>
          <a:p>
            <a:endParaRPr lang="en-IN" sz="2400" dirty="0" smtClean="0"/>
          </a:p>
          <a:p>
            <a:pPr marL="3200400" lvl="7" indent="0">
              <a:buNone/>
            </a:pPr>
            <a:endParaRPr lang="en-IN" sz="2400"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3861048"/>
            <a:ext cx="571500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3240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a:t>Evaluation engine takes the best plan and returns the result as an output using the data</a:t>
            </a:r>
          </a:p>
          <a:p>
            <a:endParaRPr lang="en-IN" sz="2400" dirty="0"/>
          </a:p>
        </p:txBody>
      </p:sp>
    </p:spTree>
    <p:extLst>
      <p:ext uri="{BB962C8B-B14F-4D97-AF65-F5344CB8AC3E}">
        <p14:creationId xmlns:p14="http://schemas.microsoft.com/office/powerpoint/2010/main" val="31777953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Database Design and ER Model</a:t>
            </a:r>
            <a:endParaRPr lang="en-IN" dirty="0"/>
          </a:p>
        </p:txBody>
      </p:sp>
      <p:sp>
        <p:nvSpPr>
          <p:cNvPr id="3" name="Content Placeholder 2"/>
          <p:cNvSpPr>
            <a:spLocks noGrp="1"/>
          </p:cNvSpPr>
          <p:nvPr>
            <p:ph idx="1"/>
          </p:nvPr>
        </p:nvSpPr>
        <p:spPr/>
        <p:txBody>
          <a:bodyPr>
            <a:normAutofit/>
          </a:bodyPr>
          <a:lstStyle/>
          <a:p>
            <a:r>
              <a:rPr lang="en-IN" sz="2400" dirty="0"/>
              <a:t>A good database design starts with a list of the data that you want to include in your database and what you want to be able to do with the database later on</a:t>
            </a:r>
            <a:r>
              <a:rPr lang="en-IN" sz="2400" dirty="0" smtClean="0"/>
              <a:t>.</a:t>
            </a:r>
          </a:p>
          <a:p>
            <a:r>
              <a:rPr lang="en-IN" sz="2400" b="1" dirty="0"/>
              <a:t>ER Diagram</a:t>
            </a:r>
          </a:p>
          <a:p>
            <a:r>
              <a:rPr lang="en-IN" sz="2400" b="1" dirty="0"/>
              <a:t>ER Diagram</a:t>
            </a:r>
            <a:r>
              <a:rPr lang="en-IN" sz="2400" dirty="0"/>
              <a:t> stands for Entity Relationship Diagram, also known as </a:t>
            </a:r>
            <a:r>
              <a:rPr lang="en-IN" sz="2400" dirty="0" smtClean="0"/>
              <a:t>ERD</a:t>
            </a:r>
          </a:p>
          <a:p>
            <a:r>
              <a:rPr lang="en-IN" sz="2400" dirty="0"/>
              <a:t>ER diagrams help to explain the logical structure of databases. </a:t>
            </a:r>
            <a:endParaRPr lang="en-IN" sz="2400" dirty="0" smtClean="0"/>
          </a:p>
          <a:p>
            <a:r>
              <a:rPr lang="en-IN" sz="2400" dirty="0"/>
              <a:t>ER diagrams are created based on three basic concepts: entities, attributes and relationships.</a:t>
            </a:r>
            <a:endParaRPr lang="en-IN" sz="2400" dirty="0" smtClean="0"/>
          </a:p>
          <a:p>
            <a:endParaRPr lang="en-IN" sz="2400" dirty="0"/>
          </a:p>
        </p:txBody>
      </p:sp>
    </p:spTree>
    <p:extLst>
      <p:ext uri="{BB962C8B-B14F-4D97-AF65-F5344CB8AC3E}">
        <p14:creationId xmlns:p14="http://schemas.microsoft.com/office/powerpoint/2010/main" val="1592213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sz="4900" b="1" dirty="0" smtClean="0"/>
              <a:t>Why </a:t>
            </a:r>
            <a:r>
              <a:rPr lang="en-IN" sz="4900" b="1" dirty="0"/>
              <a:t>use ER Diagrams?</a:t>
            </a:r>
            <a:br>
              <a:rPr lang="en-IN" sz="4900" b="1" dirty="0"/>
            </a:br>
            <a:endParaRPr lang="en-IN" sz="4900" dirty="0"/>
          </a:p>
        </p:txBody>
      </p:sp>
      <p:sp>
        <p:nvSpPr>
          <p:cNvPr id="3" name="Content Placeholder 2"/>
          <p:cNvSpPr>
            <a:spLocks noGrp="1"/>
          </p:cNvSpPr>
          <p:nvPr>
            <p:ph idx="1"/>
          </p:nvPr>
        </p:nvSpPr>
        <p:spPr>
          <a:xfrm>
            <a:off x="457200" y="1340768"/>
            <a:ext cx="8229600" cy="4785395"/>
          </a:xfrm>
        </p:spPr>
        <p:txBody>
          <a:bodyPr>
            <a:normAutofit fontScale="92500" lnSpcReduction="20000"/>
          </a:bodyPr>
          <a:lstStyle/>
          <a:p>
            <a:r>
              <a:rPr lang="en-IN" sz="2600" dirty="0"/>
              <a:t>Helps to describe entities, attributes, relationships</a:t>
            </a:r>
          </a:p>
          <a:p>
            <a:r>
              <a:rPr lang="en-IN" sz="2600" dirty="0"/>
              <a:t>ER diagrams are </a:t>
            </a:r>
            <a:r>
              <a:rPr lang="en-IN" sz="2600" dirty="0" smtClean="0"/>
              <a:t>translatable </a:t>
            </a:r>
            <a:r>
              <a:rPr lang="en-IN" sz="2600" dirty="0"/>
              <a:t>into relational tables which allows you to build databases </a:t>
            </a:r>
            <a:r>
              <a:rPr lang="en-IN" sz="2600" dirty="0" smtClean="0"/>
              <a:t>quickly</a:t>
            </a:r>
          </a:p>
          <a:p>
            <a:r>
              <a:rPr lang="en-IN" sz="2600" b="1" dirty="0"/>
              <a:t>Following are the main components and its symbols in ER Diagrams</a:t>
            </a:r>
            <a:r>
              <a:rPr lang="en-IN" sz="2600" b="1" dirty="0" smtClean="0"/>
              <a:t>:</a:t>
            </a:r>
          </a:p>
          <a:p>
            <a:r>
              <a:rPr lang="en-IN" sz="2600" b="1" dirty="0"/>
              <a:t>Rectangles: </a:t>
            </a:r>
            <a:r>
              <a:rPr lang="en-IN" sz="2600" dirty="0"/>
              <a:t>This Entity Relationship Diagram symbol represents entity types</a:t>
            </a:r>
          </a:p>
          <a:p>
            <a:r>
              <a:rPr lang="en-IN" sz="2600" b="1" dirty="0"/>
              <a:t>Ellipses : </a:t>
            </a:r>
            <a:r>
              <a:rPr lang="en-IN" sz="2600" dirty="0"/>
              <a:t>Symbol represent attributes</a:t>
            </a:r>
          </a:p>
          <a:p>
            <a:r>
              <a:rPr lang="en-IN" sz="2600" b="1" dirty="0"/>
              <a:t>Diamonds: </a:t>
            </a:r>
            <a:r>
              <a:rPr lang="en-IN" sz="2600" dirty="0"/>
              <a:t>This symbol represents relationship </a:t>
            </a:r>
            <a:endParaRPr lang="en-IN" sz="2600" dirty="0" smtClean="0"/>
          </a:p>
          <a:p>
            <a:r>
              <a:rPr lang="en-IN" sz="2600" b="1" dirty="0" smtClean="0"/>
              <a:t>Lines</a:t>
            </a:r>
            <a:r>
              <a:rPr lang="en-IN" sz="2600" b="1" dirty="0"/>
              <a:t>: </a:t>
            </a:r>
            <a:r>
              <a:rPr lang="en-IN" sz="2600" dirty="0"/>
              <a:t>It links attributes to entity types and entity types with other relationship types</a:t>
            </a:r>
          </a:p>
          <a:p>
            <a:r>
              <a:rPr lang="en-IN" sz="2600" b="1" dirty="0"/>
              <a:t>Primary key: </a:t>
            </a:r>
            <a:r>
              <a:rPr lang="en-IN" sz="2600" dirty="0"/>
              <a:t>attributes are underlined</a:t>
            </a:r>
          </a:p>
          <a:p>
            <a:r>
              <a:rPr lang="en-IN" sz="2600" b="1" dirty="0"/>
              <a:t>Double Ellipses: </a:t>
            </a:r>
            <a:r>
              <a:rPr lang="en-IN" sz="2600" dirty="0"/>
              <a:t>Represent multi-valued attributes</a:t>
            </a:r>
          </a:p>
          <a:p>
            <a:endParaRPr lang="en-IN" sz="2400" dirty="0"/>
          </a:p>
          <a:p>
            <a:endParaRPr lang="en-IN" dirty="0"/>
          </a:p>
        </p:txBody>
      </p:sp>
    </p:spTree>
    <p:extLst>
      <p:ext uri="{BB962C8B-B14F-4D97-AF65-F5344CB8AC3E}">
        <p14:creationId xmlns:p14="http://schemas.microsoft.com/office/powerpoint/2010/main" val="3248754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836712"/>
            <a:ext cx="8229600" cy="5289451"/>
          </a:xfrm>
        </p:spPr>
        <p:txBody>
          <a:bodyPr>
            <a:noAutofit/>
          </a:bodyPr>
          <a:lstStyle/>
          <a:p>
            <a:pPr marL="0" indent="0">
              <a:buNone/>
            </a:pPr>
            <a:r>
              <a:rPr lang="en-IN" sz="2400" dirty="0"/>
              <a:t>Entity:</a:t>
            </a:r>
          </a:p>
          <a:p>
            <a:r>
              <a:rPr lang="en-IN" sz="2400" dirty="0"/>
              <a:t>An entity may be any object, class, person or place. In the ER diagram, an entity can be represented as rectangles.</a:t>
            </a:r>
          </a:p>
          <a:p>
            <a:r>
              <a:rPr lang="en-IN" sz="2400" dirty="0"/>
              <a:t>Consider an organization as an example- manager, product, employee, department etc. can be taken as an entity.</a:t>
            </a:r>
          </a:p>
          <a:p>
            <a:pPr marL="0" indent="0">
              <a:buNone/>
            </a:pPr>
            <a:endParaRPr lang="en-IN" sz="2400" dirty="0" smtClean="0"/>
          </a:p>
          <a:p>
            <a:pPr marL="0" indent="0">
              <a:buNone/>
            </a:pPr>
            <a:endParaRPr lang="en-IN" sz="2400" dirty="0"/>
          </a:p>
          <a:p>
            <a:pPr marL="0" indent="0">
              <a:buNone/>
            </a:pPr>
            <a:r>
              <a:rPr lang="en-IN" sz="2400" dirty="0" smtClean="0"/>
              <a:t>Attribute</a:t>
            </a:r>
            <a:endParaRPr lang="en-IN" sz="2400" dirty="0"/>
          </a:p>
          <a:p>
            <a:r>
              <a:rPr lang="en-IN" sz="2400" dirty="0"/>
              <a:t>The attribute is used to describe the property of an entity. Eclipse is used to represent an attribute.</a:t>
            </a:r>
          </a:p>
          <a:p>
            <a:r>
              <a:rPr lang="en-IN" sz="2400" b="1" dirty="0"/>
              <a:t>For example,</a:t>
            </a:r>
            <a:r>
              <a:rPr lang="en-IN" sz="2400" dirty="0"/>
              <a:t> id, age, contact number, name, etc. can be attributes of a student.</a:t>
            </a:r>
          </a:p>
          <a:p>
            <a:pPr marL="0" indent="0">
              <a:buNone/>
            </a:pPr>
            <a:r>
              <a:rPr lang="en-IN" sz="2400" dirty="0"/>
              <a:t/>
            </a:r>
            <a:br>
              <a:rPr lang="en-IN" sz="2400" dirty="0"/>
            </a:br>
            <a:r>
              <a:rPr lang="en-IN" sz="2400" dirty="0"/>
              <a:t/>
            </a:r>
            <a:br>
              <a:rPr lang="en-IN" sz="2400" dirty="0"/>
            </a:br>
            <a:endParaRPr lang="en-IN"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5090" y="3159658"/>
            <a:ext cx="539115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31324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2564904"/>
            <a:ext cx="3581400" cy="273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47956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7C8CDA-6C1C-451B-940A-67F3F79F7D41}"/>
              </a:ext>
            </a:extLst>
          </p:cNvPr>
          <p:cNvSpPr>
            <a:spLocks noGrp="1"/>
          </p:cNvSpPr>
          <p:nvPr>
            <p:ph type="title"/>
          </p:nvPr>
        </p:nvSpPr>
        <p:spPr>
          <a:xfrm>
            <a:off x="1485900" y="274638"/>
            <a:ext cx="6172200" cy="202034"/>
          </a:xfrm>
        </p:spPr>
        <p:txBody>
          <a:bodyPr>
            <a:normAutofit fontScale="90000"/>
          </a:bodyPr>
          <a:lstStyle/>
          <a:p>
            <a:r>
              <a:rPr lang="en-US" sz="800" dirty="0"/>
              <a:t>.</a:t>
            </a:r>
          </a:p>
        </p:txBody>
      </p:sp>
      <p:sp>
        <p:nvSpPr>
          <p:cNvPr id="3" name="Content Placeholder 2">
            <a:extLst>
              <a:ext uri="{FF2B5EF4-FFF2-40B4-BE49-F238E27FC236}">
                <a16:creationId xmlns="" xmlns:a16="http://schemas.microsoft.com/office/drawing/2014/main" id="{25E24769-DFC1-4160-A3BE-6203397706BA}"/>
              </a:ext>
            </a:extLst>
          </p:cNvPr>
          <p:cNvSpPr>
            <a:spLocks noGrp="1"/>
          </p:cNvSpPr>
          <p:nvPr>
            <p:ph idx="1"/>
          </p:nvPr>
        </p:nvSpPr>
        <p:spPr>
          <a:xfrm>
            <a:off x="1485900" y="1562986"/>
            <a:ext cx="6172200" cy="4563178"/>
          </a:xfrm>
        </p:spPr>
        <p:txBody>
          <a:bodyPr>
            <a:normAutofit fontScale="92500" lnSpcReduction="10000"/>
          </a:bodyPr>
          <a:lstStyle/>
          <a:p>
            <a:pPr algn="l"/>
            <a:r>
              <a:rPr lang="en-US" sz="2400" b="1" dirty="0">
                <a:solidFill>
                  <a:srgbClr val="333333"/>
                </a:solidFill>
              </a:rPr>
              <a:t>Types of Entity type</a:t>
            </a:r>
          </a:p>
          <a:p>
            <a:pPr algn="l">
              <a:buFont typeface="Arial" panose="020B0604020202020204" pitchFamily="34" charset="0"/>
              <a:buChar char="•"/>
            </a:pPr>
            <a:r>
              <a:rPr lang="en-US" sz="2400" dirty="0">
                <a:solidFill>
                  <a:srgbClr val="333333"/>
                </a:solidFill>
              </a:rPr>
              <a:t>Strong Entity Type</a:t>
            </a:r>
          </a:p>
          <a:p>
            <a:pPr algn="l">
              <a:buFont typeface="Arial" panose="020B0604020202020204" pitchFamily="34" charset="0"/>
              <a:buChar char="•"/>
            </a:pPr>
            <a:r>
              <a:rPr lang="en-US" sz="2400" dirty="0">
                <a:solidFill>
                  <a:srgbClr val="333333"/>
                </a:solidFill>
              </a:rPr>
              <a:t>Weak Entity Type</a:t>
            </a:r>
          </a:p>
          <a:p>
            <a:pPr algn="l"/>
            <a:r>
              <a:rPr lang="en-US" sz="2400" b="1" i="1" dirty="0">
                <a:solidFill>
                  <a:srgbClr val="333333"/>
                </a:solidFill>
              </a:rPr>
              <a:t>Strong Entity Type:</a:t>
            </a:r>
            <a:r>
              <a:rPr lang="en-US" sz="2400" dirty="0">
                <a:solidFill>
                  <a:srgbClr val="333333"/>
                </a:solidFill>
              </a:rPr>
              <a:t> Strong entity are those entity types which has a key attribute. The primary key helps in identifying each entity uniquely. It is represented by a rectangle. In the below example, </a:t>
            </a:r>
            <a:r>
              <a:rPr lang="en-US" sz="2400" dirty="0" err="1">
                <a:solidFill>
                  <a:srgbClr val="333333"/>
                </a:solidFill>
              </a:rPr>
              <a:t>Roll_no</a:t>
            </a:r>
            <a:r>
              <a:rPr lang="en-US" sz="2400" dirty="0">
                <a:solidFill>
                  <a:srgbClr val="333333"/>
                </a:solidFill>
              </a:rPr>
              <a:t> identifies each element of the table uniquely and hence, we can say that STUDENT is a strong entity type.</a:t>
            </a:r>
          </a:p>
          <a:p>
            <a:pPr algn="l"/>
            <a:endParaRPr lang="en-US" sz="2400" dirty="0">
              <a:solidFill>
                <a:srgbClr val="333333"/>
              </a:solidFill>
            </a:endParaRPr>
          </a:p>
          <a:p>
            <a:r>
              <a:rPr lang="en-US" sz="1400" dirty="0"/>
              <a:t/>
            </a:r>
            <a:br>
              <a:rPr lang="en-US" sz="1400" dirty="0"/>
            </a:br>
            <a:endParaRPr lang="en-US" sz="2400" dirty="0">
              <a:solidFill>
                <a:srgbClr val="333333"/>
              </a:solidFill>
            </a:endParaRPr>
          </a:p>
          <a:p>
            <a:endParaRPr lang="en-US" dirty="0"/>
          </a:p>
        </p:txBody>
      </p:sp>
    </p:spTree>
    <p:extLst>
      <p:ext uri="{BB962C8B-B14F-4D97-AF65-F5344CB8AC3E}">
        <p14:creationId xmlns:p14="http://schemas.microsoft.com/office/powerpoint/2010/main" val="6073846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94662B-9682-46DA-B3E0-FABB2E2FCED6}"/>
              </a:ext>
            </a:extLst>
          </p:cNvPr>
          <p:cNvSpPr>
            <a:spLocks noGrp="1"/>
          </p:cNvSpPr>
          <p:nvPr>
            <p:ph type="title"/>
          </p:nvPr>
        </p:nvSpPr>
        <p:spPr/>
        <p:txBody>
          <a:bodyPr>
            <a:normAutofit/>
          </a:bodyPr>
          <a:lstStyle/>
          <a:p>
            <a:r>
              <a:rPr lang="en-US" sz="800" dirty="0"/>
              <a:t>.</a:t>
            </a:r>
          </a:p>
        </p:txBody>
      </p:sp>
      <p:pic>
        <p:nvPicPr>
          <p:cNvPr id="2050" name="Picture 2">
            <a:extLst>
              <a:ext uri="{FF2B5EF4-FFF2-40B4-BE49-F238E27FC236}">
                <a16:creationId xmlns="" xmlns:a16="http://schemas.microsoft.com/office/drawing/2014/main" id="{2E72CCAC-C12A-464A-ABEB-7A83C801A5B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9554" y="2348706"/>
            <a:ext cx="4864894"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86181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7E4BFA-0A21-4DA0-9527-DEB7741415A0}"/>
              </a:ext>
            </a:extLst>
          </p:cNvPr>
          <p:cNvSpPr>
            <a:spLocks noGrp="1"/>
          </p:cNvSpPr>
          <p:nvPr>
            <p:ph type="title"/>
          </p:nvPr>
        </p:nvSpPr>
        <p:spPr>
          <a:xfrm>
            <a:off x="1485900" y="274638"/>
            <a:ext cx="6172200" cy="634082"/>
          </a:xfrm>
        </p:spPr>
        <p:txBody>
          <a:bodyPr>
            <a:normAutofit/>
          </a:bodyPr>
          <a:lstStyle/>
          <a:p>
            <a:r>
              <a:rPr lang="en-US" sz="800" dirty="0"/>
              <a:t>.</a:t>
            </a:r>
          </a:p>
        </p:txBody>
      </p:sp>
      <p:sp>
        <p:nvSpPr>
          <p:cNvPr id="3" name="Content Placeholder 2">
            <a:extLst>
              <a:ext uri="{FF2B5EF4-FFF2-40B4-BE49-F238E27FC236}">
                <a16:creationId xmlns="" xmlns:a16="http://schemas.microsoft.com/office/drawing/2014/main" id="{9A09FE6A-B227-4089-85D1-0A2F9DEEC48D}"/>
              </a:ext>
            </a:extLst>
          </p:cNvPr>
          <p:cNvSpPr>
            <a:spLocks noGrp="1"/>
          </p:cNvSpPr>
          <p:nvPr>
            <p:ph idx="1"/>
          </p:nvPr>
        </p:nvSpPr>
        <p:spPr>
          <a:xfrm>
            <a:off x="1485900" y="1124746"/>
            <a:ext cx="6172200" cy="5001419"/>
          </a:xfrm>
        </p:spPr>
        <p:txBody>
          <a:bodyPr>
            <a:normAutofit/>
          </a:bodyPr>
          <a:lstStyle/>
          <a:p>
            <a:r>
              <a:rPr lang="en-US" sz="2400" b="1" i="1" dirty="0">
                <a:solidFill>
                  <a:srgbClr val="333333"/>
                </a:solidFill>
              </a:rPr>
              <a:t>Weak Entity Type</a:t>
            </a:r>
            <a:r>
              <a:rPr lang="en-US" sz="2400" dirty="0">
                <a:solidFill>
                  <a:srgbClr val="333333"/>
                </a:solidFill>
              </a:rPr>
              <a:t>: Weak entity type doesn't have a key attribute. Weak entity type can't be identified on its own. It depends upon some other strong entity for its distinct identity. </a:t>
            </a:r>
          </a:p>
          <a:p>
            <a:endParaRPr lang="en-US" sz="2400" dirty="0"/>
          </a:p>
        </p:txBody>
      </p:sp>
      <p:pic>
        <p:nvPicPr>
          <p:cNvPr id="4" name="Picture 3">
            <a:extLst>
              <a:ext uri="{FF2B5EF4-FFF2-40B4-BE49-F238E27FC236}">
                <a16:creationId xmlns="" xmlns:a16="http://schemas.microsoft.com/office/drawing/2014/main" id="{E65378F7-58B7-4C71-95ED-9DDD8719A2F7}"/>
              </a:ext>
            </a:extLst>
          </p:cNvPr>
          <p:cNvPicPr>
            <a:picLocks noChangeAspect="1"/>
          </p:cNvPicPr>
          <p:nvPr/>
        </p:nvPicPr>
        <p:blipFill>
          <a:blip r:embed="rId2"/>
          <a:stretch>
            <a:fillRect/>
          </a:stretch>
        </p:blipFill>
        <p:spPr>
          <a:xfrm>
            <a:off x="1288320" y="3087276"/>
            <a:ext cx="6693694" cy="3495675"/>
          </a:xfrm>
          <a:prstGeom prst="rect">
            <a:avLst/>
          </a:prstGeom>
        </p:spPr>
      </p:pic>
    </p:spTree>
    <p:extLst>
      <p:ext uri="{BB962C8B-B14F-4D97-AF65-F5344CB8AC3E}">
        <p14:creationId xmlns:p14="http://schemas.microsoft.com/office/powerpoint/2010/main" val="41167328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1E765F-587B-4611-993E-22702135E396}"/>
              </a:ext>
            </a:extLst>
          </p:cNvPr>
          <p:cNvSpPr>
            <a:spLocks noGrp="1"/>
          </p:cNvSpPr>
          <p:nvPr>
            <p:ph type="title"/>
          </p:nvPr>
        </p:nvSpPr>
        <p:spPr>
          <a:xfrm>
            <a:off x="1485900" y="274638"/>
            <a:ext cx="6172200" cy="778098"/>
          </a:xfrm>
        </p:spPr>
        <p:txBody>
          <a:bodyPr>
            <a:normAutofit fontScale="90000"/>
          </a:bodyPr>
          <a:lstStyle/>
          <a:p>
            <a:r>
              <a:rPr lang="en-US" sz="4900" dirty="0">
                <a:solidFill>
                  <a:srgbClr val="333333"/>
                </a:solidFill>
              </a:rPr>
              <a:t>Entity Set</a:t>
            </a:r>
            <a:r>
              <a:rPr lang="en-US" b="1" i="0" dirty="0">
                <a:solidFill>
                  <a:srgbClr val="333333"/>
                </a:solidFill>
                <a:effectLst/>
                <a:latin typeface="Roboto"/>
              </a:rPr>
              <a:t/>
            </a:r>
            <a:br>
              <a:rPr lang="en-US" b="1" i="0" dirty="0">
                <a:solidFill>
                  <a:srgbClr val="333333"/>
                </a:solidFill>
                <a:effectLst/>
                <a:latin typeface="Roboto"/>
              </a:rPr>
            </a:br>
            <a:endParaRPr lang="en-US" dirty="0"/>
          </a:p>
        </p:txBody>
      </p:sp>
      <p:sp>
        <p:nvSpPr>
          <p:cNvPr id="3" name="Content Placeholder 2">
            <a:extLst>
              <a:ext uri="{FF2B5EF4-FFF2-40B4-BE49-F238E27FC236}">
                <a16:creationId xmlns="" xmlns:a16="http://schemas.microsoft.com/office/drawing/2014/main" id="{487F160E-9FD0-4761-9F4E-F7D9C0E9B488}"/>
              </a:ext>
            </a:extLst>
          </p:cNvPr>
          <p:cNvSpPr>
            <a:spLocks noGrp="1"/>
          </p:cNvSpPr>
          <p:nvPr>
            <p:ph idx="1"/>
          </p:nvPr>
        </p:nvSpPr>
        <p:spPr>
          <a:xfrm>
            <a:off x="1485900" y="836714"/>
            <a:ext cx="6172200" cy="5246043"/>
          </a:xfrm>
        </p:spPr>
        <p:txBody>
          <a:bodyPr/>
          <a:lstStyle/>
          <a:p>
            <a:pPr algn="l"/>
            <a:r>
              <a:rPr lang="en-US" sz="2400" dirty="0">
                <a:solidFill>
                  <a:srgbClr val="333333"/>
                </a:solidFill>
              </a:rPr>
              <a:t>Entity Set is a collection of entities of the same entity type. In the above example of STUDENT entity type, a collection of entities from the Student entity type would form an entity set.</a:t>
            </a:r>
          </a:p>
          <a:p>
            <a:pPr marL="0" indent="0">
              <a:buNone/>
            </a:pPr>
            <a:endParaRPr lang="en-US" sz="2400" dirty="0">
              <a:solidFill>
                <a:srgbClr val="333333"/>
              </a:solidFill>
            </a:endParaRPr>
          </a:p>
          <a:p>
            <a:endParaRPr lang="en-US" dirty="0"/>
          </a:p>
        </p:txBody>
      </p:sp>
      <p:pic>
        <p:nvPicPr>
          <p:cNvPr id="4" name="Picture 3">
            <a:extLst>
              <a:ext uri="{FF2B5EF4-FFF2-40B4-BE49-F238E27FC236}">
                <a16:creationId xmlns="" xmlns:a16="http://schemas.microsoft.com/office/drawing/2014/main" id="{40F5164C-B9D2-4922-A1B0-FF6F6FC93D8F}"/>
              </a:ext>
            </a:extLst>
          </p:cNvPr>
          <p:cNvPicPr>
            <a:picLocks noChangeAspect="1"/>
          </p:cNvPicPr>
          <p:nvPr/>
        </p:nvPicPr>
        <p:blipFill>
          <a:blip r:embed="rId2"/>
          <a:stretch>
            <a:fillRect/>
          </a:stretch>
        </p:blipFill>
        <p:spPr>
          <a:xfrm>
            <a:off x="2087725" y="2058989"/>
            <a:ext cx="5350669" cy="4524375"/>
          </a:xfrm>
          <a:prstGeom prst="rect">
            <a:avLst/>
          </a:prstGeom>
        </p:spPr>
      </p:pic>
    </p:spTree>
    <p:extLst>
      <p:ext uri="{BB962C8B-B14F-4D97-AF65-F5344CB8AC3E}">
        <p14:creationId xmlns:p14="http://schemas.microsoft.com/office/powerpoint/2010/main" val="14801990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CECC6B-7CA7-4115-81CD-B1EDD5B66C0B}"/>
              </a:ext>
            </a:extLst>
          </p:cNvPr>
          <p:cNvSpPr>
            <a:spLocks noGrp="1"/>
          </p:cNvSpPr>
          <p:nvPr>
            <p:ph type="title"/>
          </p:nvPr>
        </p:nvSpPr>
        <p:spPr/>
        <p:txBody>
          <a:bodyPr/>
          <a:lstStyle/>
          <a:p>
            <a:r>
              <a:rPr lang="en-US" dirty="0"/>
              <a:t>Types of attributes in ERD</a:t>
            </a:r>
          </a:p>
        </p:txBody>
      </p:sp>
      <p:pic>
        <p:nvPicPr>
          <p:cNvPr id="4" name="Content Placeholder 3">
            <a:extLst>
              <a:ext uri="{FF2B5EF4-FFF2-40B4-BE49-F238E27FC236}">
                <a16:creationId xmlns="" xmlns:a16="http://schemas.microsoft.com/office/drawing/2014/main" id="{E958A531-D757-43D8-B7D6-6DE5CA78F4A3}"/>
              </a:ext>
            </a:extLst>
          </p:cNvPr>
          <p:cNvPicPr>
            <a:picLocks noGrp="1" noChangeAspect="1"/>
          </p:cNvPicPr>
          <p:nvPr>
            <p:ph idx="1"/>
          </p:nvPr>
        </p:nvPicPr>
        <p:blipFill>
          <a:blip r:embed="rId2"/>
          <a:stretch>
            <a:fillRect/>
          </a:stretch>
        </p:blipFill>
        <p:spPr>
          <a:xfrm>
            <a:off x="2243138" y="2515394"/>
            <a:ext cx="4657725" cy="2971800"/>
          </a:xfrm>
          <a:prstGeom prst="rect">
            <a:avLst/>
          </a:prstGeom>
        </p:spPr>
      </p:pic>
    </p:spTree>
    <p:extLst>
      <p:ext uri="{BB962C8B-B14F-4D97-AF65-F5344CB8AC3E}">
        <p14:creationId xmlns:p14="http://schemas.microsoft.com/office/powerpoint/2010/main" val="26681265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F4ED22-C8D3-45F5-9BBD-EB98D0A72E7A}"/>
              </a:ext>
            </a:extLst>
          </p:cNvPr>
          <p:cNvSpPr>
            <a:spLocks noGrp="1"/>
          </p:cNvSpPr>
          <p:nvPr>
            <p:ph type="title"/>
          </p:nvPr>
        </p:nvSpPr>
        <p:spPr/>
        <p:txBody>
          <a:bodyPr>
            <a:normAutofit/>
          </a:bodyPr>
          <a:lstStyle/>
          <a:p>
            <a:r>
              <a:rPr lang="en-US" sz="800" dirty="0"/>
              <a:t>.</a:t>
            </a:r>
          </a:p>
        </p:txBody>
      </p:sp>
      <p:sp>
        <p:nvSpPr>
          <p:cNvPr id="3" name="Content Placeholder 2">
            <a:extLst>
              <a:ext uri="{FF2B5EF4-FFF2-40B4-BE49-F238E27FC236}">
                <a16:creationId xmlns="" xmlns:a16="http://schemas.microsoft.com/office/drawing/2014/main" id="{780FBE7C-72A7-42CE-9251-6BFB141400E0}"/>
              </a:ext>
            </a:extLst>
          </p:cNvPr>
          <p:cNvSpPr>
            <a:spLocks noGrp="1"/>
          </p:cNvSpPr>
          <p:nvPr>
            <p:ph idx="1"/>
          </p:nvPr>
        </p:nvSpPr>
        <p:spPr/>
        <p:txBody>
          <a:bodyPr>
            <a:normAutofit lnSpcReduction="10000"/>
          </a:bodyPr>
          <a:lstStyle/>
          <a:p>
            <a:r>
              <a:rPr lang="en-US" sz="2400" dirty="0"/>
              <a:t>Simple attribute</a:t>
            </a:r>
          </a:p>
          <a:p>
            <a:pPr marL="0" indent="0">
              <a:buNone/>
            </a:pPr>
            <a:r>
              <a:rPr lang="en-US" sz="2400" dirty="0"/>
              <a:t>Is one which cannot be divided further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Composite attribute</a:t>
            </a:r>
          </a:p>
          <a:p>
            <a:pPr marL="0" indent="0">
              <a:buNone/>
            </a:pPr>
            <a:r>
              <a:rPr lang="en-US" dirty="0"/>
              <a:t>Composite attributes are those attributes which are composed of other simple attributes</a:t>
            </a:r>
          </a:p>
        </p:txBody>
      </p:sp>
      <p:pic>
        <p:nvPicPr>
          <p:cNvPr id="5" name="Picture 4">
            <a:extLst>
              <a:ext uri="{FF2B5EF4-FFF2-40B4-BE49-F238E27FC236}">
                <a16:creationId xmlns="" xmlns:a16="http://schemas.microsoft.com/office/drawing/2014/main" id="{33E17D2B-4C89-4107-86AD-DFB0DCC3000C}"/>
              </a:ext>
            </a:extLst>
          </p:cNvPr>
          <p:cNvPicPr>
            <a:picLocks noChangeAspect="1"/>
          </p:cNvPicPr>
          <p:nvPr/>
        </p:nvPicPr>
        <p:blipFill>
          <a:blip r:embed="rId2"/>
          <a:stretch>
            <a:fillRect/>
          </a:stretch>
        </p:blipFill>
        <p:spPr>
          <a:xfrm>
            <a:off x="2745175" y="2832572"/>
            <a:ext cx="3157538" cy="1543050"/>
          </a:xfrm>
          <a:prstGeom prst="rect">
            <a:avLst/>
          </a:prstGeom>
        </p:spPr>
      </p:pic>
    </p:spTree>
    <p:extLst>
      <p:ext uri="{BB962C8B-B14F-4D97-AF65-F5344CB8AC3E}">
        <p14:creationId xmlns:p14="http://schemas.microsoft.com/office/powerpoint/2010/main" val="30692047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1D2DAC-FBC1-496C-AFEC-1F89D77BDBE4}"/>
              </a:ext>
            </a:extLst>
          </p:cNvPr>
          <p:cNvSpPr>
            <a:spLocks noGrp="1"/>
          </p:cNvSpPr>
          <p:nvPr>
            <p:ph type="title"/>
          </p:nvPr>
        </p:nvSpPr>
        <p:spPr/>
        <p:txBody>
          <a:bodyPr>
            <a:normAutofit/>
          </a:bodyPr>
          <a:lstStyle/>
          <a:p>
            <a:r>
              <a:rPr lang="en-US" sz="800" dirty="0"/>
              <a:t>.</a:t>
            </a:r>
          </a:p>
        </p:txBody>
      </p:sp>
      <p:sp>
        <p:nvSpPr>
          <p:cNvPr id="3" name="Content Placeholder 2">
            <a:extLst>
              <a:ext uri="{FF2B5EF4-FFF2-40B4-BE49-F238E27FC236}">
                <a16:creationId xmlns="" xmlns:a16="http://schemas.microsoft.com/office/drawing/2014/main" id="{46F3B670-AEF3-41D2-817C-84244B56918D}"/>
              </a:ext>
            </a:extLst>
          </p:cNvPr>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r>
              <a:rPr lang="en-US" dirty="0"/>
              <a:t>Single valued attributes</a:t>
            </a:r>
          </a:p>
          <a:p>
            <a:pPr marL="0" indent="0">
              <a:buNone/>
            </a:pPr>
            <a:r>
              <a:rPr lang="en-US" dirty="0"/>
              <a:t>Are those attributes that can take only one value for a given for a given entity.</a:t>
            </a:r>
          </a:p>
          <a:p>
            <a:pPr marL="0" indent="0">
              <a:buNone/>
            </a:pPr>
            <a:endParaRPr lang="en-US" dirty="0"/>
          </a:p>
        </p:txBody>
      </p:sp>
      <p:pic>
        <p:nvPicPr>
          <p:cNvPr id="5" name="Picture 4">
            <a:extLst>
              <a:ext uri="{FF2B5EF4-FFF2-40B4-BE49-F238E27FC236}">
                <a16:creationId xmlns="" xmlns:a16="http://schemas.microsoft.com/office/drawing/2014/main" id="{3CE4EF8F-B6C0-4FFE-9F85-E5FE976E456C}"/>
              </a:ext>
            </a:extLst>
          </p:cNvPr>
          <p:cNvPicPr>
            <a:picLocks noChangeAspect="1"/>
          </p:cNvPicPr>
          <p:nvPr/>
        </p:nvPicPr>
        <p:blipFill>
          <a:blip r:embed="rId2"/>
          <a:stretch>
            <a:fillRect/>
          </a:stretch>
        </p:blipFill>
        <p:spPr>
          <a:xfrm>
            <a:off x="2386013" y="1995386"/>
            <a:ext cx="4371975" cy="2400300"/>
          </a:xfrm>
          <a:prstGeom prst="rect">
            <a:avLst/>
          </a:prstGeom>
        </p:spPr>
      </p:pic>
    </p:spTree>
    <p:extLst>
      <p:ext uri="{BB962C8B-B14F-4D97-AF65-F5344CB8AC3E}">
        <p14:creationId xmlns:p14="http://schemas.microsoft.com/office/powerpoint/2010/main" val="1195465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CCBA97-8AE5-4773-A034-3B4F93C2D146}"/>
              </a:ext>
            </a:extLst>
          </p:cNvPr>
          <p:cNvSpPr>
            <a:spLocks noGrp="1"/>
          </p:cNvSpPr>
          <p:nvPr>
            <p:ph type="title"/>
          </p:nvPr>
        </p:nvSpPr>
        <p:spPr/>
        <p:txBody>
          <a:bodyPr>
            <a:normAutofit/>
          </a:bodyPr>
          <a:lstStyle/>
          <a:p>
            <a:r>
              <a:rPr lang="en-US" sz="800" dirty="0"/>
              <a:t>.</a:t>
            </a:r>
          </a:p>
        </p:txBody>
      </p:sp>
      <p:sp>
        <p:nvSpPr>
          <p:cNvPr id="3" name="Content Placeholder 2">
            <a:extLst>
              <a:ext uri="{FF2B5EF4-FFF2-40B4-BE49-F238E27FC236}">
                <a16:creationId xmlns="" xmlns:a16="http://schemas.microsoft.com/office/drawing/2014/main" id="{85F3DF77-CE3E-4D0E-8769-C11BD3B9EC51}"/>
              </a:ext>
            </a:extLst>
          </p:cNvPr>
          <p:cNvSpPr>
            <a:spLocks noGrp="1"/>
          </p:cNvSpPr>
          <p:nvPr>
            <p:ph idx="1"/>
          </p:nvPr>
        </p:nvSpPr>
        <p:spPr/>
        <p:txBody>
          <a:bodyPr/>
          <a:lstStyle/>
          <a:p>
            <a:endParaRPr lang="en-US" dirty="0"/>
          </a:p>
          <a:p>
            <a:endParaRPr lang="en-US" dirty="0"/>
          </a:p>
          <a:p>
            <a:r>
              <a:rPr lang="en-US" dirty="0" smtClean="0"/>
              <a:t>Multi </a:t>
            </a:r>
            <a:r>
              <a:rPr lang="en-US" dirty="0"/>
              <a:t>valued attribute</a:t>
            </a:r>
          </a:p>
          <a:p>
            <a:pPr marL="0" indent="0">
              <a:buNone/>
            </a:pPr>
            <a:r>
              <a:rPr lang="en-US" dirty="0"/>
              <a:t>Multi valued attributes are those attributes which can take more then one value for a given entity.</a:t>
            </a:r>
          </a:p>
          <a:p>
            <a:endParaRPr lang="en-US" dirty="0"/>
          </a:p>
          <a:p>
            <a:pPr marL="0" indent="0">
              <a:buNone/>
            </a:pPr>
            <a:endParaRPr lang="en-US" dirty="0"/>
          </a:p>
        </p:txBody>
      </p:sp>
      <p:pic>
        <p:nvPicPr>
          <p:cNvPr id="4" name="Picture 3">
            <a:extLst>
              <a:ext uri="{FF2B5EF4-FFF2-40B4-BE49-F238E27FC236}">
                <a16:creationId xmlns="" xmlns:a16="http://schemas.microsoft.com/office/drawing/2014/main" id="{6A1DF957-EAF3-46DC-ACBB-B89F9730A059}"/>
              </a:ext>
            </a:extLst>
          </p:cNvPr>
          <p:cNvPicPr>
            <a:picLocks noChangeAspect="1"/>
          </p:cNvPicPr>
          <p:nvPr/>
        </p:nvPicPr>
        <p:blipFill>
          <a:blip r:embed="rId2"/>
          <a:stretch>
            <a:fillRect/>
          </a:stretch>
        </p:blipFill>
        <p:spPr>
          <a:xfrm>
            <a:off x="2917541" y="692696"/>
            <a:ext cx="3014663" cy="1638300"/>
          </a:xfrm>
          <a:prstGeom prst="rect">
            <a:avLst/>
          </a:prstGeom>
        </p:spPr>
      </p:pic>
      <p:pic>
        <p:nvPicPr>
          <p:cNvPr id="5" name="Picture 4">
            <a:extLst>
              <a:ext uri="{FF2B5EF4-FFF2-40B4-BE49-F238E27FC236}">
                <a16:creationId xmlns="" xmlns:a16="http://schemas.microsoft.com/office/drawing/2014/main" id="{90F628C0-1605-43A7-A417-5D91F41A3B41}"/>
              </a:ext>
            </a:extLst>
          </p:cNvPr>
          <p:cNvPicPr>
            <a:picLocks noChangeAspect="1"/>
          </p:cNvPicPr>
          <p:nvPr/>
        </p:nvPicPr>
        <p:blipFill>
          <a:blip r:embed="rId3"/>
          <a:stretch>
            <a:fillRect/>
          </a:stretch>
        </p:blipFill>
        <p:spPr>
          <a:xfrm>
            <a:off x="3664440" y="4491039"/>
            <a:ext cx="3157538" cy="1685925"/>
          </a:xfrm>
          <a:prstGeom prst="rect">
            <a:avLst/>
          </a:prstGeom>
        </p:spPr>
      </p:pic>
    </p:spTree>
    <p:extLst>
      <p:ext uri="{BB962C8B-B14F-4D97-AF65-F5344CB8AC3E}">
        <p14:creationId xmlns:p14="http://schemas.microsoft.com/office/powerpoint/2010/main" val="39185429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DCE051-053A-4CAE-AC1B-7DA22BC6A006}"/>
              </a:ext>
            </a:extLst>
          </p:cNvPr>
          <p:cNvSpPr>
            <a:spLocks noGrp="1"/>
          </p:cNvSpPr>
          <p:nvPr>
            <p:ph type="title"/>
          </p:nvPr>
        </p:nvSpPr>
        <p:spPr/>
        <p:txBody>
          <a:bodyPr>
            <a:normAutofit/>
          </a:bodyPr>
          <a:lstStyle/>
          <a:p>
            <a:r>
              <a:rPr lang="en-US" sz="800" dirty="0"/>
              <a:t>.</a:t>
            </a:r>
          </a:p>
        </p:txBody>
      </p:sp>
      <p:sp>
        <p:nvSpPr>
          <p:cNvPr id="3" name="Content Placeholder 2">
            <a:extLst>
              <a:ext uri="{FF2B5EF4-FFF2-40B4-BE49-F238E27FC236}">
                <a16:creationId xmlns="" xmlns:a16="http://schemas.microsoft.com/office/drawing/2014/main" id="{8FBE99B0-1DC6-4058-A1F6-EA961FAC7109}"/>
              </a:ext>
            </a:extLst>
          </p:cNvPr>
          <p:cNvSpPr>
            <a:spLocks noGrp="1"/>
          </p:cNvSpPr>
          <p:nvPr>
            <p:ph idx="1"/>
          </p:nvPr>
        </p:nvSpPr>
        <p:spPr>
          <a:xfrm>
            <a:off x="457200" y="188640"/>
            <a:ext cx="8229600" cy="5937523"/>
          </a:xfrm>
        </p:spPr>
        <p:txBody>
          <a:bodyPr/>
          <a:lstStyle/>
          <a:p>
            <a:r>
              <a:rPr lang="en-US" dirty="0"/>
              <a:t>Derived attribute</a:t>
            </a:r>
          </a:p>
          <a:p>
            <a:r>
              <a:rPr lang="en-US" dirty="0"/>
              <a:t>Are those attributes that can be derived from other attributes</a:t>
            </a:r>
          </a:p>
          <a:p>
            <a:endParaRPr lang="en-US" dirty="0"/>
          </a:p>
          <a:p>
            <a:endParaRPr lang="en-US" dirty="0"/>
          </a:p>
          <a:p>
            <a:r>
              <a:rPr lang="en-US" dirty="0"/>
              <a:t>Key attribute</a:t>
            </a:r>
          </a:p>
          <a:p>
            <a:pPr marL="0" indent="0">
              <a:buNone/>
            </a:pPr>
            <a:r>
              <a:rPr lang="en-US" dirty="0"/>
              <a:t>Are those which can uniquely identify an entity in entity set</a:t>
            </a:r>
          </a:p>
          <a:p>
            <a:endParaRPr lang="en-US" dirty="0"/>
          </a:p>
        </p:txBody>
      </p:sp>
      <p:pic>
        <p:nvPicPr>
          <p:cNvPr id="4" name="Picture 3">
            <a:extLst>
              <a:ext uri="{FF2B5EF4-FFF2-40B4-BE49-F238E27FC236}">
                <a16:creationId xmlns="" xmlns:a16="http://schemas.microsoft.com/office/drawing/2014/main" id="{1EDDD318-81E7-4E5A-B34B-8D435180510D}"/>
              </a:ext>
            </a:extLst>
          </p:cNvPr>
          <p:cNvPicPr>
            <a:picLocks noChangeAspect="1"/>
          </p:cNvPicPr>
          <p:nvPr/>
        </p:nvPicPr>
        <p:blipFill>
          <a:blip r:embed="rId2"/>
          <a:stretch>
            <a:fillRect/>
          </a:stretch>
        </p:blipFill>
        <p:spPr>
          <a:xfrm>
            <a:off x="3491880" y="1268760"/>
            <a:ext cx="2728913" cy="1733550"/>
          </a:xfrm>
          <a:prstGeom prst="rect">
            <a:avLst/>
          </a:prstGeom>
        </p:spPr>
      </p:pic>
      <p:pic>
        <p:nvPicPr>
          <p:cNvPr id="5" name="Picture 4">
            <a:extLst>
              <a:ext uri="{FF2B5EF4-FFF2-40B4-BE49-F238E27FC236}">
                <a16:creationId xmlns="" xmlns:a16="http://schemas.microsoft.com/office/drawing/2014/main" id="{C2925B46-AA80-42F7-AE97-DE0D06849366}"/>
              </a:ext>
            </a:extLst>
          </p:cNvPr>
          <p:cNvPicPr>
            <a:picLocks noChangeAspect="1"/>
          </p:cNvPicPr>
          <p:nvPr/>
        </p:nvPicPr>
        <p:blipFill>
          <a:blip r:embed="rId3"/>
          <a:stretch>
            <a:fillRect/>
          </a:stretch>
        </p:blipFill>
        <p:spPr>
          <a:xfrm>
            <a:off x="3064669" y="4864100"/>
            <a:ext cx="2871788" cy="1447800"/>
          </a:xfrm>
          <a:prstGeom prst="rect">
            <a:avLst/>
          </a:prstGeom>
        </p:spPr>
      </p:pic>
    </p:spTree>
    <p:extLst>
      <p:ext uri="{BB962C8B-B14F-4D97-AF65-F5344CB8AC3E}">
        <p14:creationId xmlns:p14="http://schemas.microsoft.com/office/powerpoint/2010/main" val="36129574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F0979A-9ECC-4383-836E-894AB5E9387E}"/>
              </a:ext>
            </a:extLst>
          </p:cNvPr>
          <p:cNvSpPr>
            <a:spLocks noGrp="1"/>
          </p:cNvSpPr>
          <p:nvPr>
            <p:ph type="title"/>
          </p:nvPr>
        </p:nvSpPr>
        <p:spPr>
          <a:xfrm>
            <a:off x="628650" y="365126"/>
            <a:ext cx="7886700" cy="528010"/>
          </a:xfrm>
        </p:spPr>
        <p:txBody>
          <a:bodyPr>
            <a:normAutofit/>
          </a:bodyPr>
          <a:lstStyle/>
          <a:p>
            <a:r>
              <a:rPr lang="en-US" sz="800" dirty="0"/>
              <a:t>.</a:t>
            </a:r>
          </a:p>
        </p:txBody>
      </p:sp>
      <p:sp>
        <p:nvSpPr>
          <p:cNvPr id="3" name="Content Placeholder 2">
            <a:extLst>
              <a:ext uri="{FF2B5EF4-FFF2-40B4-BE49-F238E27FC236}">
                <a16:creationId xmlns="" xmlns:a16="http://schemas.microsoft.com/office/drawing/2014/main" id="{37C7B0FF-73AE-4C3F-B10F-17FE321F821C}"/>
              </a:ext>
            </a:extLst>
          </p:cNvPr>
          <p:cNvSpPr>
            <a:spLocks noGrp="1"/>
          </p:cNvSpPr>
          <p:nvPr>
            <p:ph idx="1"/>
          </p:nvPr>
        </p:nvSpPr>
        <p:spPr>
          <a:xfrm>
            <a:off x="628650" y="1063257"/>
            <a:ext cx="7886700" cy="5113707"/>
          </a:xfrm>
        </p:spPr>
        <p:txBody>
          <a:bodyPr>
            <a:normAutofit/>
          </a:bodyPr>
          <a:lstStyle/>
          <a:p>
            <a:pPr algn="l"/>
            <a:r>
              <a:rPr lang="en-US" sz="2400" b="1" i="0" dirty="0">
                <a:solidFill>
                  <a:srgbClr val="444542"/>
                </a:solidFill>
                <a:effectLst/>
              </a:rPr>
              <a:t>Relationship</a:t>
            </a:r>
          </a:p>
          <a:p>
            <a:pPr algn="l"/>
            <a:r>
              <a:rPr lang="en-US" sz="2400" b="0" i="0" dirty="0">
                <a:solidFill>
                  <a:srgbClr val="222426"/>
                </a:solidFill>
                <a:effectLst/>
              </a:rPr>
              <a:t>A relationship is represented by diamond shape in ER diagram, it shows the relationship among entities.</a:t>
            </a:r>
          </a:p>
          <a:p>
            <a:pPr marL="0" indent="0" algn="l">
              <a:buNone/>
            </a:pPr>
            <a:r>
              <a:rPr lang="en-US" sz="2400" dirty="0">
                <a:solidFill>
                  <a:srgbClr val="222426"/>
                </a:solidFill>
              </a:rPr>
              <a:t>OR</a:t>
            </a:r>
            <a:endParaRPr lang="en-US" sz="2400" b="0" i="0" dirty="0">
              <a:solidFill>
                <a:srgbClr val="222426"/>
              </a:solidFill>
              <a:effectLst/>
            </a:endParaRPr>
          </a:p>
          <a:p>
            <a:r>
              <a:rPr lang="en-US" sz="2400" b="0" i="0" dirty="0">
                <a:solidFill>
                  <a:srgbClr val="000000"/>
                </a:solidFill>
                <a:effectLst/>
              </a:rPr>
              <a:t>The association among entities is called a relationship. For example, an employee </a:t>
            </a:r>
            <a:r>
              <a:rPr lang="en-US" sz="2400" b="1" i="0" dirty="0" err="1">
                <a:solidFill>
                  <a:srgbClr val="000000"/>
                </a:solidFill>
                <a:effectLst/>
              </a:rPr>
              <a:t>works_</a:t>
            </a:r>
            <a:r>
              <a:rPr lang="en-US" sz="2400" b="1" dirty="0" err="1">
                <a:solidFill>
                  <a:srgbClr val="000000"/>
                </a:solidFill>
              </a:rPr>
              <a:t>in</a:t>
            </a:r>
            <a:r>
              <a:rPr lang="en-US" sz="2400" b="0" i="0" dirty="0">
                <a:solidFill>
                  <a:srgbClr val="000000"/>
                </a:solidFill>
                <a:effectLst/>
              </a:rPr>
              <a:t> department,</a:t>
            </a:r>
          </a:p>
          <a:p>
            <a:pPr algn="l"/>
            <a:r>
              <a:rPr lang="en-US" sz="2400" b="0" i="0" dirty="0">
                <a:effectLst/>
              </a:rPr>
              <a:t>Relationship Set</a:t>
            </a:r>
          </a:p>
          <a:p>
            <a:pPr algn="just"/>
            <a:r>
              <a:rPr lang="en-US" sz="2400" b="0" i="0" dirty="0">
                <a:solidFill>
                  <a:srgbClr val="000000"/>
                </a:solidFill>
                <a:effectLst/>
              </a:rPr>
              <a:t>A set of relationships of similar type is called a relationship set. Like entities, a relationship too can have attributes. These attributes are called </a:t>
            </a:r>
            <a:r>
              <a:rPr lang="en-US" sz="2400" b="1" i="0" dirty="0">
                <a:solidFill>
                  <a:srgbClr val="000000"/>
                </a:solidFill>
                <a:effectLst/>
              </a:rPr>
              <a:t>descriptive attributes</a:t>
            </a:r>
            <a:r>
              <a:rPr lang="en-US" sz="2400" b="0" i="0" dirty="0">
                <a:solidFill>
                  <a:srgbClr val="000000"/>
                </a:solidFill>
                <a:effectLst/>
              </a:rPr>
              <a:t>.</a:t>
            </a:r>
          </a:p>
          <a:p>
            <a:pPr algn="l"/>
            <a:r>
              <a:rPr lang="en-US" sz="2400" dirty="0"/>
              <a:t/>
            </a:r>
            <a:br>
              <a:rPr lang="en-US" sz="2400" dirty="0"/>
            </a:br>
            <a:endParaRPr lang="en-US" sz="2400" dirty="0"/>
          </a:p>
        </p:txBody>
      </p:sp>
    </p:spTree>
    <p:extLst>
      <p:ext uri="{BB962C8B-B14F-4D97-AF65-F5344CB8AC3E}">
        <p14:creationId xmlns:p14="http://schemas.microsoft.com/office/powerpoint/2010/main" val="38359128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070878-98A6-442F-AD5B-D14EF0793F4A}"/>
              </a:ext>
            </a:extLst>
          </p:cNvPr>
          <p:cNvSpPr>
            <a:spLocks noGrp="1"/>
          </p:cNvSpPr>
          <p:nvPr>
            <p:ph type="title"/>
          </p:nvPr>
        </p:nvSpPr>
        <p:spPr/>
        <p:txBody>
          <a:bodyPr>
            <a:normAutofit/>
          </a:bodyPr>
          <a:lstStyle/>
          <a:p>
            <a:r>
              <a:rPr lang="en-US" sz="800" dirty="0"/>
              <a:t>.</a:t>
            </a:r>
          </a:p>
        </p:txBody>
      </p:sp>
      <p:sp>
        <p:nvSpPr>
          <p:cNvPr id="3" name="Content Placeholder 2">
            <a:extLst>
              <a:ext uri="{FF2B5EF4-FFF2-40B4-BE49-F238E27FC236}">
                <a16:creationId xmlns="" xmlns:a16="http://schemas.microsoft.com/office/drawing/2014/main" id="{B744C9BB-86C4-4D9C-9118-24E29D74F9C5}"/>
              </a:ext>
            </a:extLst>
          </p:cNvPr>
          <p:cNvSpPr>
            <a:spLocks noGrp="1"/>
          </p:cNvSpPr>
          <p:nvPr>
            <p:ph idx="1"/>
          </p:nvPr>
        </p:nvSpPr>
        <p:spPr/>
        <p:txBody>
          <a:bodyPr/>
          <a:lstStyle/>
          <a:p>
            <a:pPr algn="l"/>
            <a:r>
              <a:rPr lang="en-US" sz="2400" b="0" i="0" dirty="0">
                <a:effectLst/>
              </a:rPr>
              <a:t>Degree of Relationship</a:t>
            </a:r>
          </a:p>
          <a:p>
            <a:pPr algn="just"/>
            <a:r>
              <a:rPr lang="en-US" sz="2400" b="0" i="0" dirty="0">
                <a:solidFill>
                  <a:srgbClr val="000000"/>
                </a:solidFill>
                <a:effectLst/>
              </a:rPr>
              <a:t>The number of participating entities in a relationship defines the degree of the relationship.</a:t>
            </a:r>
          </a:p>
          <a:p>
            <a:pPr algn="l">
              <a:buFont typeface="Arial" panose="020B0604020202020204" pitchFamily="34" charset="0"/>
              <a:buChar char="•"/>
            </a:pPr>
            <a:r>
              <a:rPr lang="en-US" sz="2400" b="0" i="0" dirty="0">
                <a:effectLst/>
              </a:rPr>
              <a:t>Binary = degree 2</a:t>
            </a:r>
          </a:p>
          <a:p>
            <a:pPr algn="l">
              <a:buFont typeface="Arial" panose="020B0604020202020204" pitchFamily="34" charset="0"/>
              <a:buChar char="•"/>
            </a:pPr>
            <a:r>
              <a:rPr lang="en-US" sz="2400" b="0" i="0" dirty="0">
                <a:effectLst/>
              </a:rPr>
              <a:t>Ternary = degree 3</a:t>
            </a:r>
          </a:p>
          <a:p>
            <a:pPr algn="l">
              <a:buFont typeface="Arial" panose="020B0604020202020204" pitchFamily="34" charset="0"/>
              <a:buChar char="•"/>
            </a:pPr>
            <a:r>
              <a:rPr lang="en-US" sz="2400" b="0" i="0" dirty="0">
                <a:effectLst/>
              </a:rPr>
              <a:t>n-</a:t>
            </a:r>
            <a:r>
              <a:rPr lang="en-US" sz="2400" b="0" i="0" dirty="0" err="1">
                <a:effectLst/>
              </a:rPr>
              <a:t>ary</a:t>
            </a:r>
            <a:r>
              <a:rPr lang="en-US" sz="2400" b="0" i="0" dirty="0">
                <a:effectLst/>
              </a:rPr>
              <a:t> = degree</a:t>
            </a:r>
          </a:p>
          <a:p>
            <a:endParaRPr lang="en-US" dirty="0"/>
          </a:p>
        </p:txBody>
      </p:sp>
    </p:spTree>
    <p:extLst>
      <p:ext uri="{BB962C8B-B14F-4D97-AF65-F5344CB8AC3E}">
        <p14:creationId xmlns:p14="http://schemas.microsoft.com/office/powerpoint/2010/main" val="41009440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Generalization, Specialization and Aggregation in ER Model</a:t>
            </a:r>
            <a:endParaRPr lang="en-IN" dirty="0"/>
          </a:p>
        </p:txBody>
      </p:sp>
      <p:sp>
        <p:nvSpPr>
          <p:cNvPr id="3" name="Content Placeholder 2"/>
          <p:cNvSpPr>
            <a:spLocks noGrp="1"/>
          </p:cNvSpPr>
          <p:nvPr>
            <p:ph idx="1"/>
          </p:nvPr>
        </p:nvSpPr>
        <p:spPr/>
        <p:txBody>
          <a:bodyPr>
            <a:normAutofit/>
          </a:bodyPr>
          <a:lstStyle/>
          <a:p>
            <a:r>
              <a:rPr lang="en-IN" sz="2400" dirty="0"/>
              <a:t>Generalization, Specialization and Aggregation in ER model are used for data abstraction in which abstraction mechanism is used to hide details of a set of objects</a:t>
            </a:r>
            <a:r>
              <a:rPr lang="en-IN" dirty="0"/>
              <a:t>. </a:t>
            </a:r>
            <a:endParaRPr lang="en-IN" dirty="0" smtClean="0"/>
          </a:p>
          <a:p>
            <a:r>
              <a:rPr lang="en-IN" sz="2400" b="1" dirty="0"/>
              <a:t>Generalization –</a:t>
            </a:r>
            <a:r>
              <a:rPr lang="en-IN" sz="2400" dirty="0"/>
              <a:t> </a:t>
            </a:r>
            <a:br>
              <a:rPr lang="en-IN" sz="2400" dirty="0"/>
            </a:br>
            <a:r>
              <a:rPr lang="en-IN" sz="2400" dirty="0"/>
              <a:t>Generalization is the process of extracting common properties from a set of entities and create a generalized entity from it. It is a bottom-up approach in which two or more entities can be generalized to a higher level entity if they have some attributes in common</a:t>
            </a:r>
            <a:r>
              <a:rPr lang="en-IN" sz="2400" dirty="0" smtClean="0"/>
              <a:t>.</a:t>
            </a:r>
          </a:p>
          <a:p>
            <a:r>
              <a:rPr lang="en-IN" sz="2400" dirty="0"/>
              <a:t>For Example, STUDENT and FACULTY can be generalized to a higher level entity called PERSON as </a:t>
            </a:r>
            <a:r>
              <a:rPr lang="en-IN" sz="2400" dirty="0" smtClean="0"/>
              <a:t>shown. </a:t>
            </a:r>
            <a:endParaRPr lang="en-IN" sz="2400" dirty="0"/>
          </a:p>
        </p:txBody>
      </p:sp>
    </p:spTree>
    <p:extLst>
      <p:ext uri="{BB962C8B-B14F-4D97-AF65-F5344CB8AC3E}">
        <p14:creationId xmlns:p14="http://schemas.microsoft.com/office/powerpoint/2010/main" val="38123241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IN" dirty="0"/>
          </a:p>
        </p:txBody>
      </p:sp>
      <p:sp>
        <p:nvSpPr>
          <p:cNvPr id="3" name="Content Placeholder 2"/>
          <p:cNvSpPr>
            <a:spLocks noGrp="1"/>
          </p:cNvSpPr>
          <p:nvPr>
            <p:ph idx="1"/>
          </p:nvPr>
        </p:nvSpPr>
        <p:spPr>
          <a:xfrm>
            <a:off x="457200" y="692696"/>
            <a:ext cx="8229600" cy="5433467"/>
          </a:xfrm>
        </p:spPr>
        <p:txBody>
          <a:bodyPr>
            <a:normAutofit/>
          </a:bodyPr>
          <a:lstStyle/>
          <a:p>
            <a:r>
              <a:rPr lang="en-IN" sz="2400" dirty="0"/>
              <a:t>In this case, common attributes like P_NAME, P_ADD become part of higher entity (PERSON) and specialized attributes like S_FEE become part of specialized </a:t>
            </a:r>
            <a:r>
              <a:rPr lang="en-IN" sz="2400" dirty="0" smtClean="0"/>
              <a:t>entity </a:t>
            </a:r>
            <a:r>
              <a:rPr lang="en-IN" sz="2400" dirty="0"/>
              <a:t>(STUDENT). </a:t>
            </a:r>
            <a:endParaRPr lang="en-IN" sz="2400" dirty="0" smtClean="0"/>
          </a:p>
          <a:p>
            <a:endParaRPr lang="en-IN"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772816"/>
            <a:ext cx="5353050" cy="468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flipV="1">
            <a:off x="8604448" y="2348880"/>
            <a:ext cx="0" cy="37444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4132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b="1" dirty="0"/>
              <a:t>Specialization –</a:t>
            </a:r>
            <a:r>
              <a:rPr lang="en-IN" sz="2400" dirty="0"/>
              <a:t> </a:t>
            </a:r>
            <a:br>
              <a:rPr lang="en-IN" sz="2400" dirty="0"/>
            </a:br>
            <a:r>
              <a:rPr lang="en-IN" sz="2400" dirty="0"/>
              <a:t>In specialization, an entity is divided into sub-entities based on their characteristics. It is a top-down approach where higher level entity is specialized into two or more lower level entities</a:t>
            </a:r>
            <a:r>
              <a:rPr lang="en-IN" sz="2400" dirty="0" smtClean="0"/>
              <a:t>.</a:t>
            </a:r>
          </a:p>
          <a:p>
            <a:r>
              <a:rPr lang="en-IN" sz="2400" dirty="0"/>
              <a:t>For Example, EMPLOYEE entity in an Employee management system can be specialized into DEVELOPER, TESTER etc. as shown in Figure 2. In this case, common attributes like E_NAME, E_SAL etc. become part of higher entity (EMPLOYEE) and specialized attributes like TES_TYPE become part of specialized entity (TESTER). </a:t>
            </a:r>
            <a:endParaRPr lang="en-IN" sz="2400" dirty="0" smtClean="0"/>
          </a:p>
          <a:p>
            <a:endParaRPr lang="en-IN" sz="2400" dirty="0"/>
          </a:p>
          <a:p>
            <a:endParaRPr lang="en-IN" sz="2400" dirty="0"/>
          </a:p>
        </p:txBody>
      </p:sp>
    </p:spTree>
    <p:extLst>
      <p:ext uri="{BB962C8B-B14F-4D97-AF65-F5344CB8AC3E}">
        <p14:creationId xmlns:p14="http://schemas.microsoft.com/office/powerpoint/2010/main" val="11215382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2034"/>
          </a:xfrm>
        </p:spPr>
        <p:txBody>
          <a:bodyPr>
            <a:normAutofit fontScale="90000"/>
          </a:bodyPr>
          <a:lstStyle/>
          <a:p>
            <a:endParaRPr lang="en-IN" dirty="0"/>
          </a:p>
        </p:txBody>
      </p:sp>
      <p:sp>
        <p:nvSpPr>
          <p:cNvPr id="3" name="Content Placeholder 2"/>
          <p:cNvSpPr>
            <a:spLocks noGrp="1"/>
          </p:cNvSpPr>
          <p:nvPr>
            <p:ph idx="1"/>
          </p:nvPr>
        </p:nvSpPr>
        <p:spPr>
          <a:xfrm>
            <a:off x="457200" y="764704"/>
            <a:ext cx="8229600" cy="5361459"/>
          </a:xfrm>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692696"/>
            <a:ext cx="5353050" cy="536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a:off x="1259632" y="1340768"/>
            <a:ext cx="72008" cy="41764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21694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0026"/>
          </a:xfrm>
        </p:spPr>
        <p:txBody>
          <a:bodyPr>
            <a:normAutofit fontScale="90000"/>
          </a:bodyPr>
          <a:lstStyle/>
          <a:p>
            <a:endParaRPr lang="en-IN" dirty="0"/>
          </a:p>
        </p:txBody>
      </p:sp>
      <p:sp>
        <p:nvSpPr>
          <p:cNvPr id="3" name="Content Placeholder 2"/>
          <p:cNvSpPr>
            <a:spLocks noGrp="1"/>
          </p:cNvSpPr>
          <p:nvPr>
            <p:ph idx="1"/>
          </p:nvPr>
        </p:nvSpPr>
        <p:spPr>
          <a:xfrm>
            <a:off x="457200" y="404664"/>
            <a:ext cx="8229600" cy="5721499"/>
          </a:xfrm>
        </p:spPr>
        <p:txBody>
          <a:bodyPr/>
          <a:lstStyle/>
          <a:p>
            <a:r>
              <a:rPr lang="en-IN" sz="2400" dirty="0" smtClean="0"/>
              <a:t>Aggregation</a:t>
            </a:r>
          </a:p>
          <a:p>
            <a:r>
              <a:rPr lang="en-IN" sz="2400" b="1" dirty="0" smtClean="0"/>
              <a:t>Aggregation</a:t>
            </a:r>
            <a:r>
              <a:rPr lang="en-IN" sz="2400" dirty="0"/>
              <a:t> is a process in which a single entity alone is not able to make sense in a relationship so the relationship of two entities acts as one entity. </a:t>
            </a:r>
            <a:endParaRPr lang="en-IN" sz="2400" dirty="0" smtClean="0"/>
          </a:p>
          <a:p>
            <a:r>
              <a:rPr lang="en-IN" sz="2400" dirty="0" smtClean="0"/>
              <a:t>Or</a:t>
            </a:r>
          </a:p>
          <a:p>
            <a:r>
              <a:rPr lang="en-IN" sz="2400" dirty="0" err="1"/>
              <a:t>Aggregration</a:t>
            </a:r>
            <a:r>
              <a:rPr lang="en-IN" sz="2400" dirty="0"/>
              <a:t> is a process when relation between two entities is treated as a </a:t>
            </a:r>
            <a:r>
              <a:rPr lang="en-IN" sz="2400" b="1" dirty="0"/>
              <a:t>single entity</a:t>
            </a:r>
            <a:r>
              <a:rPr lang="en-IN" sz="2400" dirty="0" smtClean="0"/>
              <a:t>.</a:t>
            </a:r>
          </a:p>
          <a:p>
            <a:endParaRPr lang="en-IN" sz="2400" dirty="0" smtClean="0"/>
          </a:p>
          <a:p>
            <a:endParaRPr lang="en-IN" sz="2400"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0323" y="3284984"/>
            <a:ext cx="47625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079128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a:t>In the diagram above, the relationship between </a:t>
            </a:r>
            <a:r>
              <a:rPr lang="en-IN" sz="2400" b="1" dirty="0" err="1"/>
              <a:t>Center</a:t>
            </a:r>
            <a:r>
              <a:rPr lang="en-IN" sz="2400" dirty="0"/>
              <a:t> and </a:t>
            </a:r>
            <a:r>
              <a:rPr lang="en-IN" sz="2400" b="1" dirty="0"/>
              <a:t>Course</a:t>
            </a:r>
            <a:r>
              <a:rPr lang="en-IN" sz="2400" dirty="0"/>
              <a:t> together, is acting as an Entity, which is in relationship with another entity </a:t>
            </a:r>
            <a:r>
              <a:rPr lang="en-IN" sz="2400" b="1" dirty="0"/>
              <a:t>Visitor</a:t>
            </a:r>
            <a:r>
              <a:rPr lang="en-IN" sz="2400" dirty="0"/>
              <a:t>. Now in real world, if a Visitor or a Student visits a Coaching </a:t>
            </a:r>
            <a:r>
              <a:rPr lang="en-IN" sz="2400" dirty="0" err="1"/>
              <a:t>Center</a:t>
            </a:r>
            <a:r>
              <a:rPr lang="en-IN" sz="2400" dirty="0"/>
              <a:t>, he/she will never enquire about the </a:t>
            </a:r>
            <a:r>
              <a:rPr lang="en-IN" sz="2400" dirty="0" err="1"/>
              <a:t>center</a:t>
            </a:r>
            <a:r>
              <a:rPr lang="en-IN" sz="2400" dirty="0"/>
              <a:t> only or just about the course, rather he/she will ask enquire about both.</a:t>
            </a:r>
          </a:p>
          <a:p>
            <a:r>
              <a:rPr lang="en-IN" dirty="0"/>
              <a:t/>
            </a:r>
            <a:br>
              <a:rPr lang="en-IN" dirty="0"/>
            </a:br>
            <a:endParaRPr lang="en-IN" dirty="0"/>
          </a:p>
        </p:txBody>
      </p:sp>
    </p:spTree>
    <p:extLst>
      <p:ext uri="{BB962C8B-B14F-4D97-AF65-F5344CB8AC3E}">
        <p14:creationId xmlns:p14="http://schemas.microsoft.com/office/powerpoint/2010/main" val="39639567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Cardinality Ration</a:t>
            </a:r>
            <a:endParaRPr lang="en-IN" dirty="0"/>
          </a:p>
        </p:txBody>
      </p:sp>
      <p:sp>
        <p:nvSpPr>
          <p:cNvPr id="3" name="Content Placeholder 2"/>
          <p:cNvSpPr>
            <a:spLocks noGrp="1"/>
          </p:cNvSpPr>
          <p:nvPr>
            <p:ph idx="1"/>
          </p:nvPr>
        </p:nvSpPr>
        <p:spPr/>
        <p:txBody>
          <a:bodyPr>
            <a:normAutofit/>
          </a:bodyPr>
          <a:lstStyle/>
          <a:p>
            <a:r>
              <a:rPr lang="en-IN" sz="2400" dirty="0" smtClean="0"/>
              <a:t>Is the number of relationship instance that an entity can participate in.</a:t>
            </a:r>
          </a:p>
          <a:p>
            <a:r>
              <a:rPr lang="en-IN" sz="2400" dirty="0" smtClean="0"/>
              <a:t>Or</a:t>
            </a:r>
          </a:p>
          <a:p>
            <a:r>
              <a:rPr lang="en-IN" sz="2400" dirty="0" smtClean="0"/>
              <a:t>Expresses the number of entities to which other entity can be related via a relationship</a:t>
            </a:r>
          </a:p>
          <a:p>
            <a:r>
              <a:rPr lang="en-IN" sz="2400" dirty="0" smtClean="0"/>
              <a:t>Types </a:t>
            </a:r>
          </a:p>
          <a:p>
            <a:r>
              <a:rPr lang="en-IN" sz="2400" dirty="0"/>
              <a:t>One to </a:t>
            </a:r>
            <a:r>
              <a:rPr lang="en-IN" sz="2400" dirty="0" smtClean="0"/>
              <a:t>One (1-1)</a:t>
            </a:r>
          </a:p>
          <a:p>
            <a:r>
              <a:rPr lang="en-IN" sz="2400" dirty="0"/>
              <a:t>One to </a:t>
            </a:r>
            <a:r>
              <a:rPr lang="en-IN" sz="2400" dirty="0" smtClean="0"/>
              <a:t>Many (1-M)</a:t>
            </a:r>
          </a:p>
          <a:p>
            <a:r>
              <a:rPr lang="en-IN" sz="2400" dirty="0" smtClean="0"/>
              <a:t>Many  </a:t>
            </a:r>
            <a:r>
              <a:rPr lang="en-IN" sz="2400" dirty="0"/>
              <a:t>to </a:t>
            </a:r>
            <a:r>
              <a:rPr lang="en-IN" sz="2400" dirty="0" smtClean="0"/>
              <a:t>One (M-1)</a:t>
            </a:r>
          </a:p>
          <a:p>
            <a:r>
              <a:rPr lang="en-IN" sz="2400" dirty="0"/>
              <a:t>Many  to </a:t>
            </a:r>
            <a:r>
              <a:rPr lang="en-IN" sz="2400" dirty="0" smtClean="0"/>
              <a:t>many (M-N)</a:t>
            </a:r>
            <a:endParaRPr lang="en-IN" sz="2400" dirty="0"/>
          </a:p>
          <a:p>
            <a:endParaRPr lang="en-IN" sz="2400" dirty="0"/>
          </a:p>
        </p:txBody>
      </p:sp>
    </p:spTree>
    <p:extLst>
      <p:ext uri="{BB962C8B-B14F-4D97-AF65-F5344CB8AC3E}">
        <p14:creationId xmlns:p14="http://schemas.microsoft.com/office/powerpoint/2010/main" val="3754141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sz="2600" dirty="0"/>
              <a:t>One to </a:t>
            </a:r>
            <a:r>
              <a:rPr lang="en-IN" sz="2600" dirty="0" smtClean="0"/>
              <a:t>One : When every entity of the first entity set can be related to atmost  one entity of the second entity set and vice versa then it is one to one mapping.</a:t>
            </a:r>
          </a:p>
          <a:p>
            <a:endParaRPr lang="en-IN" sz="2400" dirty="0"/>
          </a:p>
          <a:p>
            <a:endParaRPr lang="en-IN" dirty="0" smtClean="0"/>
          </a:p>
          <a:p>
            <a:endParaRPr lang="en-IN" dirty="0"/>
          </a:p>
          <a:p>
            <a:endParaRPr lang="en-IN" sz="2400" dirty="0" smtClean="0"/>
          </a:p>
          <a:p>
            <a:endParaRPr lang="en-IN" sz="2400" dirty="0"/>
          </a:p>
          <a:p>
            <a:endParaRPr lang="en-IN" sz="2400" dirty="0" smtClean="0"/>
          </a:p>
          <a:p>
            <a:r>
              <a:rPr lang="en-IN" sz="2600" dirty="0" smtClean="0"/>
              <a:t>One to many : </a:t>
            </a:r>
            <a:r>
              <a:rPr lang="en-IN" sz="2600" dirty="0"/>
              <a:t>an entity in E1 is associated with any number of entities in E2, and an entity in E2 is associated with at most one entity in E1</a:t>
            </a:r>
            <a:r>
              <a:rPr lang="en-IN" sz="2600" dirty="0" smtClean="0"/>
              <a:t>.</a:t>
            </a:r>
            <a:endParaRPr lang="en-IN" sz="26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6372" y="3140968"/>
            <a:ext cx="301942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44799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smtClean="0"/>
          </a:p>
          <a:p>
            <a:endParaRPr lang="en-IN" dirty="0"/>
          </a:p>
          <a:p>
            <a:endParaRPr lang="en-IN" sz="2400" dirty="0" smtClean="0"/>
          </a:p>
          <a:p>
            <a:r>
              <a:rPr lang="en-IN" sz="2400" dirty="0" smtClean="0"/>
              <a:t>E1– citizen E2– Mobile </a:t>
            </a:r>
          </a:p>
          <a:p>
            <a:r>
              <a:rPr lang="en-IN" sz="2400" dirty="0" smtClean="0"/>
              <a:t>One citizen has more then one mobile no</a:t>
            </a:r>
          </a:p>
          <a:p>
            <a:r>
              <a:rPr lang="en-IN" sz="2400" dirty="0" smtClean="0"/>
              <a:t>Many to one :</a:t>
            </a:r>
            <a:r>
              <a:rPr lang="en-IN" sz="2400" dirty="0"/>
              <a:t> an entity in E1 is associated with </a:t>
            </a:r>
            <a:r>
              <a:rPr lang="en-IN" sz="2400" dirty="0" smtClean="0"/>
              <a:t>atmost one entity </a:t>
            </a:r>
            <a:r>
              <a:rPr lang="en-IN" sz="2400" dirty="0"/>
              <a:t>in E2, and an entity in E2 is associated with </a:t>
            </a:r>
            <a:r>
              <a:rPr lang="en-IN" sz="2400" dirty="0" smtClean="0"/>
              <a:t>any number of entities </a:t>
            </a:r>
            <a:r>
              <a:rPr lang="en-IN" sz="2400" dirty="0"/>
              <a:t>in </a:t>
            </a:r>
            <a:r>
              <a:rPr lang="en-IN" sz="2400" dirty="0" smtClean="0"/>
              <a:t>E1.</a:t>
            </a:r>
          </a:p>
          <a:p>
            <a:endParaRPr lang="en-IN" sz="24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1700808"/>
            <a:ext cx="3038475"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81265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smtClean="0"/>
          </a:p>
          <a:p>
            <a:endParaRPr lang="en-IN" dirty="0"/>
          </a:p>
          <a:p>
            <a:endParaRPr lang="en-IN" dirty="0" smtClean="0"/>
          </a:p>
          <a:p>
            <a:r>
              <a:rPr lang="en-IN" sz="2400" dirty="0" smtClean="0"/>
              <a:t>Many to many- </a:t>
            </a:r>
            <a:r>
              <a:rPr lang="en-IN" sz="2400" dirty="0"/>
              <a:t>an entity in E1 is associated with any number of entities in E2, and an entity in E2 is associated with any number of entities in E1</a:t>
            </a:r>
            <a:r>
              <a:rPr lang="en-IN" sz="2400" dirty="0" smtClean="0"/>
              <a:t>.</a:t>
            </a:r>
          </a:p>
          <a:p>
            <a:endParaRPr lang="en-IN" sz="2400" dirty="0" smtClean="0"/>
          </a:p>
          <a:p>
            <a:endParaRPr lang="en-IN" sz="2400"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5" y="1844824"/>
            <a:ext cx="3019425"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4653136"/>
            <a:ext cx="32289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9924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Participation Constraints</a:t>
            </a:r>
            <a:endParaRPr lang="en-IN" dirty="0"/>
          </a:p>
        </p:txBody>
      </p:sp>
      <p:sp>
        <p:nvSpPr>
          <p:cNvPr id="3" name="Content Placeholder 2"/>
          <p:cNvSpPr>
            <a:spLocks noGrp="1"/>
          </p:cNvSpPr>
          <p:nvPr>
            <p:ph idx="1"/>
          </p:nvPr>
        </p:nvSpPr>
        <p:spPr>
          <a:xfrm>
            <a:off x="467544" y="1340768"/>
            <a:ext cx="8229600" cy="5102027"/>
          </a:xfrm>
        </p:spPr>
        <p:txBody>
          <a:bodyPr/>
          <a:lstStyle/>
          <a:p>
            <a:r>
              <a:rPr lang="en-IN" sz="2400" dirty="0" smtClean="0"/>
              <a:t>There are two types</a:t>
            </a:r>
          </a:p>
          <a:p>
            <a:pPr marL="0" indent="0" fontAlgn="base">
              <a:buNone/>
            </a:pPr>
            <a:r>
              <a:rPr lang="en-IN" sz="2400" dirty="0"/>
              <a:t>Total participation</a:t>
            </a:r>
          </a:p>
          <a:p>
            <a:pPr marL="0" indent="0" fontAlgn="base">
              <a:buNone/>
            </a:pPr>
            <a:r>
              <a:rPr lang="en-IN" sz="2400" dirty="0"/>
              <a:t>Partial </a:t>
            </a:r>
            <a:r>
              <a:rPr lang="en-IN" sz="2400" dirty="0" smtClean="0"/>
              <a:t>participation</a:t>
            </a:r>
          </a:p>
          <a:p>
            <a:pPr marL="0" indent="0" fontAlgn="base">
              <a:buNone/>
            </a:pPr>
            <a:r>
              <a:rPr lang="en-IN" sz="2400" b="1" u="sng" dirty="0"/>
              <a:t>Total Participation-</a:t>
            </a:r>
            <a:endParaRPr lang="en-IN" sz="2400" b="1" dirty="0"/>
          </a:p>
          <a:p>
            <a:pPr marL="0" indent="0" fontAlgn="base">
              <a:buNone/>
            </a:pPr>
            <a:r>
              <a:rPr lang="en-IN" sz="2400" dirty="0"/>
              <a:t>It specifies that each entity in the entity set must compulsorily participate in at least one relationship instance in that relationship set.</a:t>
            </a:r>
          </a:p>
          <a:p>
            <a:pPr marL="0" indent="0" fontAlgn="base">
              <a:buNone/>
            </a:pPr>
            <a:r>
              <a:rPr lang="en-IN" sz="2400" dirty="0"/>
              <a:t>Total participation is represented using a double line between the entity set and relationship set.</a:t>
            </a:r>
          </a:p>
          <a:p>
            <a:pPr marL="0" indent="0" fontAlgn="base">
              <a:buNone/>
            </a:pPr>
            <a:endParaRPr lang="en-IN" sz="2400" dirty="0"/>
          </a:p>
          <a:p>
            <a:endParaRPr lang="en-IN" sz="24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5445224"/>
            <a:ext cx="325755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69561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endParaRPr lang="en-IN" dirty="0" smtClean="0"/>
          </a:p>
          <a:p>
            <a:endParaRPr lang="en-IN" dirty="0"/>
          </a:p>
          <a:p>
            <a:pPr fontAlgn="base"/>
            <a:r>
              <a:rPr lang="en-IN" sz="2400" dirty="0"/>
              <a:t>Double line between the entity set “Student” and relationship set “Enrolled in” signifies total participation.</a:t>
            </a:r>
          </a:p>
          <a:p>
            <a:pPr fontAlgn="base"/>
            <a:r>
              <a:rPr lang="en-IN" sz="2400" dirty="0"/>
              <a:t>It specifies that each student must be enrolled in at least one course</a:t>
            </a:r>
            <a:r>
              <a:rPr lang="en-IN" sz="2400" dirty="0" smtClean="0"/>
              <a:t>.</a:t>
            </a:r>
          </a:p>
          <a:p>
            <a:pPr fontAlgn="base"/>
            <a:r>
              <a:rPr lang="en-IN" sz="2400" b="1" u="sng" dirty="0"/>
              <a:t>Partial Participation-</a:t>
            </a:r>
            <a:endParaRPr lang="en-IN" sz="2400" b="1" dirty="0"/>
          </a:p>
          <a:p>
            <a:pPr fontAlgn="base"/>
            <a:r>
              <a:rPr lang="en-IN" sz="2400" dirty="0"/>
              <a:t>It specifies that each entity in the entity set may or may not participate in the relationship instance in that relationship set.</a:t>
            </a:r>
          </a:p>
          <a:p>
            <a:pPr fontAlgn="base"/>
            <a:r>
              <a:rPr lang="en-IN" sz="2400" dirty="0"/>
              <a:t>Partial participation is represented using a single line between the entity set and relationship set.</a:t>
            </a:r>
          </a:p>
          <a:p>
            <a:pPr fontAlgn="base"/>
            <a:endParaRPr lang="en-IN" sz="2400" dirty="0"/>
          </a:p>
          <a:p>
            <a:endParaRPr lang="en-IN" sz="2400"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6162" y="1772816"/>
            <a:ext cx="61150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90513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smtClean="0"/>
          </a:p>
          <a:p>
            <a:endParaRPr lang="en-IN" dirty="0"/>
          </a:p>
          <a:p>
            <a:endParaRPr lang="en-IN" dirty="0" smtClean="0"/>
          </a:p>
          <a:p>
            <a:endParaRPr lang="en-IN" dirty="0"/>
          </a:p>
          <a:p>
            <a:pPr fontAlgn="base"/>
            <a:r>
              <a:rPr lang="en-IN" sz="2400" dirty="0"/>
              <a:t>Single line between the entity set “Course” and relationship set “Enrolled in” signifies partial participation.</a:t>
            </a:r>
          </a:p>
          <a:p>
            <a:pPr fontAlgn="base"/>
            <a:r>
              <a:rPr lang="en-IN" sz="2400" dirty="0"/>
              <a:t>It specifies that there might exist some courses for which no </a:t>
            </a:r>
            <a:r>
              <a:rPr lang="en-IN" sz="2400" dirty="0" err="1"/>
              <a:t>enrollments</a:t>
            </a:r>
            <a:r>
              <a:rPr lang="en-IN" sz="2400" dirty="0"/>
              <a:t> are made.</a:t>
            </a:r>
          </a:p>
          <a:p>
            <a:endParaRPr lang="en-IN" sz="2400"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1772816"/>
            <a:ext cx="30670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1721" y="3140968"/>
            <a:ext cx="61150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91708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Sample </a:t>
            </a:r>
            <a:r>
              <a:rPr lang="en-IN" dirty="0" err="1" smtClean="0"/>
              <a:t>scenerios</a:t>
            </a:r>
            <a:endParaRPr lang="en-IN" dirty="0"/>
          </a:p>
        </p:txBody>
      </p:sp>
      <p:sp>
        <p:nvSpPr>
          <p:cNvPr id="3" name="Content Placeholder 2"/>
          <p:cNvSpPr>
            <a:spLocks noGrp="1"/>
          </p:cNvSpPr>
          <p:nvPr>
            <p:ph idx="1"/>
          </p:nvPr>
        </p:nvSpPr>
        <p:spPr/>
        <p:txBody>
          <a:bodyPr>
            <a:normAutofit fontScale="55000" lnSpcReduction="20000"/>
          </a:bodyPr>
          <a:lstStyle/>
          <a:p>
            <a:pPr marL="0" indent="0">
              <a:buNone/>
            </a:pPr>
            <a:r>
              <a:rPr lang="en-US" dirty="0" smtClean="0"/>
              <a:t>1. Design </a:t>
            </a:r>
            <a:r>
              <a:rPr lang="en-US" dirty="0"/>
              <a:t>a schema to record information about reality shows on TV.</a:t>
            </a:r>
          </a:p>
          <a:p>
            <a:r>
              <a:rPr lang="en-US" dirty="0"/>
              <a:t>Database needs to record the following information:</a:t>
            </a:r>
          </a:p>
          <a:p>
            <a:endParaRPr lang="en-US" dirty="0"/>
          </a:p>
          <a:p>
            <a:r>
              <a:rPr lang="en-US" dirty="0" smtClean="0"/>
              <a:t> </a:t>
            </a:r>
            <a:r>
              <a:rPr lang="en-US" dirty="0"/>
              <a:t>For each reality show, its name, genre, </a:t>
            </a:r>
            <a:r>
              <a:rPr lang="en-US" dirty="0" err="1"/>
              <a:t>basic_info</a:t>
            </a:r>
            <a:r>
              <a:rPr lang="en-US" dirty="0"/>
              <a:t> and participants name. Any</a:t>
            </a:r>
          </a:p>
          <a:p>
            <a:r>
              <a:rPr lang="en-US" dirty="0"/>
              <a:t>reality show has at least two or more participants.</a:t>
            </a:r>
          </a:p>
          <a:p>
            <a:r>
              <a:rPr lang="en-US" dirty="0" smtClean="0"/>
              <a:t> </a:t>
            </a:r>
            <a:r>
              <a:rPr lang="en-US" dirty="0"/>
              <a:t>For each producer, the company name, company country. A show is produced by</a:t>
            </a:r>
          </a:p>
          <a:p>
            <a:r>
              <a:rPr lang="en-US" dirty="0"/>
              <a:t>exactly one producer and one producer produces exactly one show.</a:t>
            </a:r>
          </a:p>
          <a:p>
            <a:r>
              <a:rPr lang="en-US" dirty="0" smtClean="0"/>
              <a:t> </a:t>
            </a:r>
            <a:r>
              <a:rPr lang="en-US" dirty="0"/>
              <a:t>For each television, its name, start year, head office.  A television may broadcasts</a:t>
            </a:r>
          </a:p>
          <a:p>
            <a:r>
              <a:rPr lang="en-US" dirty="0"/>
              <a:t>multiple shows. Each show is broadcasted by exactly one television.</a:t>
            </a:r>
          </a:p>
          <a:p>
            <a:r>
              <a:rPr lang="en-US" dirty="0" smtClean="0"/>
              <a:t> </a:t>
            </a:r>
            <a:r>
              <a:rPr lang="en-US" dirty="0"/>
              <a:t>For each user, his/her username, password, and age. A user may rate multiple</a:t>
            </a:r>
          </a:p>
          <a:p>
            <a:r>
              <a:rPr lang="en-US" dirty="0"/>
              <a:t>shows, and a show may be rated by multiple users. Each rating has a score of 0 to</a:t>
            </a:r>
          </a:p>
          <a:p>
            <a:pPr marL="0" indent="0">
              <a:buNone/>
            </a:pPr>
            <a:r>
              <a:rPr lang="en-US" dirty="0"/>
              <a:t> </a:t>
            </a:r>
            <a:r>
              <a:rPr lang="en-US" dirty="0" smtClean="0"/>
              <a:t>      10.</a:t>
            </a:r>
          </a:p>
        </p:txBody>
      </p:sp>
    </p:spTree>
    <p:extLst>
      <p:ext uri="{BB962C8B-B14F-4D97-AF65-F5344CB8AC3E}">
        <p14:creationId xmlns:p14="http://schemas.microsoft.com/office/powerpoint/2010/main" val="3655325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US" dirty="0"/>
              <a:t>A library wants to design a database to manage its operations. The library stores information about books, authors, members, and loans. Each book has a unique </a:t>
            </a:r>
            <a:r>
              <a:rPr lang="en-US" dirty="0" err="1"/>
              <a:t>BookID</a:t>
            </a:r>
            <a:r>
              <a:rPr lang="en-US" dirty="0"/>
              <a:t>, title, publisher, and year of publication. Authors are identified by </a:t>
            </a:r>
            <a:r>
              <a:rPr lang="en-US" dirty="0" err="1"/>
              <a:t>AuthorID</a:t>
            </a:r>
            <a:r>
              <a:rPr lang="en-US" dirty="0"/>
              <a:t> and have a name and country. A book can be written by multiple authors, and each author can write multiple books. Members have a unique </a:t>
            </a:r>
            <a:r>
              <a:rPr lang="en-US" dirty="0" err="1"/>
              <a:t>MemberID</a:t>
            </a:r>
            <a:r>
              <a:rPr lang="en-US" dirty="0"/>
              <a:t>, name, and the date they joined the library. Members can borrow books, and each borrowing event (loan) has a unique </a:t>
            </a:r>
            <a:r>
              <a:rPr lang="en-US" dirty="0" err="1"/>
              <a:t>LoanID</a:t>
            </a:r>
            <a:r>
              <a:rPr lang="en-US" dirty="0"/>
              <a:t>, along with the loan date and return date. A member can borrow multiple books, and a book can be borrowed by multiple members over time.</a:t>
            </a:r>
            <a:endParaRPr lang="en-IN" dirty="0"/>
          </a:p>
        </p:txBody>
      </p:sp>
    </p:spTree>
    <p:extLst>
      <p:ext uri="{BB962C8B-B14F-4D97-AF65-F5344CB8AC3E}">
        <p14:creationId xmlns:p14="http://schemas.microsoft.com/office/powerpoint/2010/main" val="6553247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2034"/>
          </a:xfrm>
        </p:spPr>
        <p:txBody>
          <a:bodyPr>
            <a:normAutofit fontScale="90000"/>
          </a:bodyPr>
          <a:lstStyle/>
          <a:p>
            <a:endParaRPr lang="en-IN" dirty="0"/>
          </a:p>
        </p:txBody>
      </p:sp>
      <p:sp>
        <p:nvSpPr>
          <p:cNvPr id="3" name="Content Placeholder 2"/>
          <p:cNvSpPr>
            <a:spLocks noGrp="1"/>
          </p:cNvSpPr>
          <p:nvPr>
            <p:ph idx="1"/>
          </p:nvPr>
        </p:nvSpPr>
        <p:spPr>
          <a:xfrm>
            <a:off x="457200" y="620688"/>
            <a:ext cx="8229600" cy="5505475"/>
          </a:xfrm>
        </p:spPr>
        <p:txBody>
          <a:bodyPr>
            <a:normAutofit fontScale="70000" lnSpcReduction="20000"/>
          </a:bodyPr>
          <a:lstStyle/>
          <a:p>
            <a:r>
              <a:rPr lang="en-US" dirty="0"/>
              <a:t>An e-commerce company wants to build a database to manage customers, products, orders, and payments. Each customer has a </a:t>
            </a:r>
            <a:r>
              <a:rPr lang="en-US" dirty="0" err="1"/>
              <a:t>CustomerID</a:t>
            </a:r>
            <a:r>
              <a:rPr lang="en-US" dirty="0"/>
              <a:t>, name, email, and address. Products have a </a:t>
            </a:r>
            <a:r>
              <a:rPr lang="en-US" dirty="0" err="1"/>
              <a:t>ProductID</a:t>
            </a:r>
            <a:r>
              <a:rPr lang="en-US" dirty="0"/>
              <a:t>, name, description, price, and stock quantity. Customers place orders, each with an </a:t>
            </a:r>
            <a:r>
              <a:rPr lang="en-US" dirty="0" err="1"/>
              <a:t>OrderID</a:t>
            </a:r>
            <a:r>
              <a:rPr lang="en-US" dirty="0"/>
              <a:t>, order date, and status. Each order can include multiple products with quantities. Payments are linked to orders, including </a:t>
            </a:r>
            <a:r>
              <a:rPr lang="en-US" dirty="0" err="1"/>
              <a:t>PaymentID</a:t>
            </a:r>
            <a:r>
              <a:rPr lang="en-US" dirty="0"/>
              <a:t>, payment amount, payment method, and payment date</a:t>
            </a:r>
            <a:r>
              <a:rPr lang="en-US" dirty="0" smtClean="0"/>
              <a:t>.</a:t>
            </a:r>
          </a:p>
          <a:p>
            <a:r>
              <a:rPr lang="en-US" dirty="0"/>
              <a:t>Draw an ER diagram showing entities, attributes, keys, and relationships, with cardinalities.</a:t>
            </a:r>
          </a:p>
          <a:p>
            <a:r>
              <a:rPr lang="en-US" dirty="0"/>
              <a:t>Convert the ER model to relational tables with keys and constraints.</a:t>
            </a:r>
          </a:p>
          <a:p>
            <a:r>
              <a:rPr lang="en-US" dirty="0"/>
              <a:t>Write SQL queries to:</a:t>
            </a:r>
            <a:br>
              <a:rPr lang="en-US" dirty="0"/>
            </a:br>
            <a:r>
              <a:rPr lang="en-US" dirty="0"/>
              <a:t>a) Find all products ordered by a specific customer.</a:t>
            </a:r>
            <a:br>
              <a:rPr lang="en-US" dirty="0"/>
            </a:br>
            <a:r>
              <a:rPr lang="en-US" dirty="0"/>
              <a:t>b) List orders that include a particular product.</a:t>
            </a:r>
            <a:br>
              <a:rPr lang="en-US" dirty="0"/>
            </a:br>
            <a:r>
              <a:rPr lang="en-US" dirty="0"/>
              <a:t>c) Retrieve payment details for an order.</a:t>
            </a:r>
            <a:br>
              <a:rPr lang="en-US" dirty="0"/>
            </a:br>
            <a:r>
              <a:rPr lang="en-US" dirty="0"/>
              <a:t>d) Find customers who have spent more than $1000.</a:t>
            </a:r>
            <a:br>
              <a:rPr lang="en-US" dirty="0"/>
            </a:br>
            <a:r>
              <a:rPr lang="en-US"/>
              <a:t>e) Get the total quantity sold for each product.</a:t>
            </a:r>
          </a:p>
          <a:p>
            <a:endParaRPr lang="en-IN" dirty="0"/>
          </a:p>
        </p:txBody>
      </p:sp>
    </p:spTree>
    <p:extLst>
      <p:ext uri="{BB962C8B-B14F-4D97-AF65-F5344CB8AC3E}">
        <p14:creationId xmlns:p14="http://schemas.microsoft.com/office/powerpoint/2010/main" val="2572759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587</TotalTime>
  <Words>2535</Words>
  <Application>Microsoft Office PowerPoint</Application>
  <PresentationFormat>On-screen Show (4:3)</PresentationFormat>
  <Paragraphs>384</Paragraphs>
  <Slides>71</Slides>
  <Notes>0</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Office Theme</vt:lpstr>
      <vt:lpstr>Introduction to DBMS</vt:lpstr>
      <vt:lpstr>Popular DBMS Software Here, is the list of some popular DBMS system: </vt:lpstr>
      <vt:lpstr>Application of DBMS </vt:lpstr>
      <vt:lpstr>PowerPoint Presentation</vt:lpstr>
      <vt:lpstr>Purpose of Database System</vt:lpstr>
      <vt:lpstr>Drawbacks of using file systems (cont.) </vt:lpstr>
      <vt:lpstr>Database Languages</vt:lpstr>
      <vt:lpstr>Database Languages Continued</vt:lpstr>
      <vt:lpstr>Database Languages Continued</vt:lpstr>
      <vt:lpstr>Data Models </vt:lpstr>
      <vt:lpstr>Types of Data Models</vt:lpstr>
      <vt:lpstr>Relational Model </vt:lpstr>
      <vt:lpstr>Entity-Relationship Model</vt:lpstr>
      <vt:lpstr>Example of ER Diagram</vt:lpstr>
      <vt:lpstr> Hierarchical model in DBMS </vt:lpstr>
      <vt:lpstr>PowerPoint Presentation</vt:lpstr>
      <vt:lpstr> Network Model </vt:lpstr>
      <vt:lpstr>PowerPoint Presentation</vt:lpstr>
      <vt:lpstr> Object-oriented database model </vt:lpstr>
      <vt:lpstr>PowerPoint Presentation</vt:lpstr>
      <vt:lpstr>Data Abstraction</vt:lpstr>
      <vt:lpstr>View of data</vt:lpstr>
      <vt:lpstr>Example</vt:lpstr>
      <vt:lpstr> Data Independence </vt:lpstr>
      <vt:lpstr>PowerPoint Presentation</vt:lpstr>
      <vt:lpstr>Structure of DBMS</vt:lpstr>
      <vt:lpstr>PowerPoint Presentation</vt:lpstr>
      <vt:lpstr>PowerPoint Presentation</vt:lpstr>
      <vt:lpstr>Storage Manager</vt:lpstr>
      <vt:lpstr>PowerPoint Presentation</vt:lpstr>
      <vt:lpstr>Types of users in DBMS</vt:lpstr>
      <vt:lpstr>PowerPoint Presentation</vt:lpstr>
      <vt:lpstr> Database Administrator </vt:lpstr>
      <vt:lpstr>Disk Storage</vt:lpstr>
      <vt:lpstr>Query Processor</vt:lpstr>
      <vt:lpstr>PowerPoint Presentation</vt:lpstr>
      <vt:lpstr>PowerPoint Presentation</vt:lpstr>
      <vt:lpstr>PowerPoint Presentation</vt:lpstr>
      <vt:lpstr>PowerPoint Presentation</vt:lpstr>
      <vt:lpstr>PowerPoint Presentation</vt:lpstr>
      <vt:lpstr>Database Design and ER Model</vt:lpstr>
      <vt:lpstr> Why use ER Diagrams? </vt:lpstr>
      <vt:lpstr>PowerPoint Presentation</vt:lpstr>
      <vt:lpstr>PowerPoint Presentation</vt:lpstr>
      <vt:lpstr>.</vt:lpstr>
      <vt:lpstr>.</vt:lpstr>
      <vt:lpstr>.</vt:lpstr>
      <vt:lpstr>Entity Set </vt:lpstr>
      <vt:lpstr>Types of attributes in ERD</vt:lpstr>
      <vt:lpstr>.</vt:lpstr>
      <vt:lpstr>.</vt:lpstr>
      <vt:lpstr>.</vt:lpstr>
      <vt:lpstr>.</vt:lpstr>
      <vt:lpstr>.</vt:lpstr>
      <vt:lpstr>.</vt:lpstr>
      <vt:lpstr>Generalization, Specialization and Aggregation in ER Model</vt:lpstr>
      <vt:lpstr>PowerPoint Presentation</vt:lpstr>
      <vt:lpstr>PowerPoint Presentation</vt:lpstr>
      <vt:lpstr>PowerPoint Presentation</vt:lpstr>
      <vt:lpstr>PowerPoint Presentation</vt:lpstr>
      <vt:lpstr>PowerPoint Presentation</vt:lpstr>
      <vt:lpstr>Cardinality Ration</vt:lpstr>
      <vt:lpstr>PowerPoint Presentation</vt:lpstr>
      <vt:lpstr>PowerPoint Presentation</vt:lpstr>
      <vt:lpstr>PowerPoint Presentation</vt:lpstr>
      <vt:lpstr>Participation Constraints</vt:lpstr>
      <vt:lpstr>PowerPoint Presentation</vt:lpstr>
      <vt:lpstr>PowerPoint Presentation</vt:lpstr>
      <vt:lpstr>Sample scenerios</vt:lpstr>
      <vt:lpstr>PowerPoint Presentation</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DBMS</dc:title>
  <dc:creator>narender g</dc:creator>
  <cp:lastModifiedBy>guggilla</cp:lastModifiedBy>
  <cp:revision>13</cp:revision>
  <dcterms:created xsi:type="dcterms:W3CDTF">2021-03-28T17:45:27Z</dcterms:created>
  <dcterms:modified xsi:type="dcterms:W3CDTF">2025-10-14T18:09:15Z</dcterms:modified>
</cp:coreProperties>
</file>